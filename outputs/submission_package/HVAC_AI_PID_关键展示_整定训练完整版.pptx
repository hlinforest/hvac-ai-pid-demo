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f7098305241f0" /><Relationship Type="http://schemas.openxmlformats.org/officeDocument/2006/relationships/extended-properties" Target="/docProps/app.xml" Id="Rc3de53dc5ef24ab9" /><Relationship Type="http://schemas.openxmlformats.org/officeDocument/2006/relationships/officeDocument" Target="/ppt/presentation.xml" Id="R5725b7425f784e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2fa5fdac774763"/>
  </p:sldMasterIdLst>
  <p:notesMasterIdLst>
    <p:notesMasterId xmlns:r="http://schemas.openxmlformats.org/officeDocument/2006/relationships" r:id="R71855317fb144a6b"/>
  </p:notesMasterIdLst>
  <p:sldIdLst>
    <p:sldId xmlns:r="http://schemas.openxmlformats.org/officeDocument/2006/relationships" id="256" r:id="Rc12ca442484e4ff5"/>
    <p:sldId xmlns:r="http://schemas.openxmlformats.org/officeDocument/2006/relationships" id="257" r:id="R792916cf670743e4"/>
    <p:sldId xmlns:r="http://schemas.openxmlformats.org/officeDocument/2006/relationships" id="258" r:id="R3a2a23d6f48b4b02"/>
    <p:sldId xmlns:r="http://schemas.openxmlformats.org/officeDocument/2006/relationships" id="259" r:id="Rbc675492408d4761"/>
    <p:sldId xmlns:r="http://schemas.openxmlformats.org/officeDocument/2006/relationships" id="260" r:id="R6f22ca48339e4b14"/>
    <p:sldId xmlns:r="http://schemas.openxmlformats.org/officeDocument/2006/relationships" id="261" r:id="R96e28433cc2e4038"/>
    <p:sldId xmlns:r="http://schemas.openxmlformats.org/officeDocument/2006/relationships" id="262" r:id="R7460da2ab29047e0"/>
    <p:sldId xmlns:r="http://schemas.openxmlformats.org/officeDocument/2006/relationships" id="263" r:id="R5d5c84c5acd44c7d"/>
    <p:sldId xmlns:r="http://schemas.openxmlformats.org/officeDocument/2006/relationships" id="264" r:id="R2ae8c709c15d4373"/>
    <p:sldId xmlns:r="http://schemas.openxmlformats.org/officeDocument/2006/relationships" id="265" r:id="Rafff875876364d73"/>
    <p:sldId xmlns:r="http://schemas.openxmlformats.org/officeDocument/2006/relationships" id="266" r:id="Rcc7e2e672ad7499a"/>
    <p:sldId xmlns:r="http://schemas.openxmlformats.org/officeDocument/2006/relationships" id="267" r:id="Rf378d64258924190"/>
    <p:sldId xmlns:r="http://schemas.openxmlformats.org/officeDocument/2006/relationships" id="268" r:id="R089db7e126f345eb"/>
    <p:sldId xmlns:r="http://schemas.openxmlformats.org/officeDocument/2006/relationships" id="269" r:id="R9b1496d169964995"/>
    <p:sldId xmlns:r="http://schemas.openxmlformats.org/officeDocument/2006/relationships" id="270" r:id="R42693ce9498b42de"/>
    <p:sldId xmlns:r="http://schemas.openxmlformats.org/officeDocument/2006/relationships" id="271" r:id="R3bf4c3661f654b08"/>
    <p:sldId xmlns:r="http://schemas.openxmlformats.org/officeDocument/2006/relationships" id="272" r:id="R2908a576165a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b2f8ab342463e" /><Relationship Type="http://schemas.openxmlformats.org/officeDocument/2006/relationships/slideMaster" Target="/ppt/slideMasters/slideMaster1.xml" Id="Re82fa5fdac774763" /><Relationship Type="http://schemas.openxmlformats.org/officeDocument/2006/relationships/notesMaster" Target="/ppt/notesMasters/notesMaster1.xml" Id="R71855317fb144a6b" /><Relationship Type="http://schemas.openxmlformats.org/officeDocument/2006/relationships/presProps" Target="/ppt/presProps.xml" Id="Ree43258caa1d41ca" /><Relationship Type="http://schemas.openxmlformats.org/officeDocument/2006/relationships/tableStyles" Target="/ppt/tableStyles.xml" Id="R40d38f5056e54eaa" /><Relationship Type="http://schemas.openxmlformats.org/officeDocument/2006/relationships/slide" Target="/ppt/slides/slide1.xml" Id="Rc12ca442484e4ff5" /><Relationship Type="http://schemas.openxmlformats.org/officeDocument/2006/relationships/slide" Target="/ppt/slides/slide2.xml" Id="R792916cf670743e4" /><Relationship Type="http://schemas.openxmlformats.org/officeDocument/2006/relationships/slide" Target="/ppt/slides/slide3.xml" Id="R3a2a23d6f48b4b02" /><Relationship Type="http://schemas.openxmlformats.org/officeDocument/2006/relationships/slide" Target="/ppt/slides/slide4.xml" Id="Rbc675492408d4761" /><Relationship Type="http://schemas.openxmlformats.org/officeDocument/2006/relationships/slide" Target="/ppt/slides/slide5.xml" Id="R6f22ca48339e4b14" /><Relationship Type="http://schemas.openxmlformats.org/officeDocument/2006/relationships/slide" Target="/ppt/slides/slide6.xml" Id="R96e28433cc2e4038" /><Relationship Type="http://schemas.openxmlformats.org/officeDocument/2006/relationships/slide" Target="/ppt/slides/slide7.xml" Id="R7460da2ab29047e0" /><Relationship Type="http://schemas.openxmlformats.org/officeDocument/2006/relationships/slide" Target="/ppt/slides/slide8.xml" Id="R5d5c84c5acd44c7d" /><Relationship Type="http://schemas.openxmlformats.org/officeDocument/2006/relationships/slide" Target="/ppt/slides/slide9.xml" Id="R2ae8c709c15d4373" /><Relationship Type="http://schemas.openxmlformats.org/officeDocument/2006/relationships/slide" Target="/ppt/slides/slide10.xml" Id="Rafff875876364d73" /><Relationship Type="http://schemas.openxmlformats.org/officeDocument/2006/relationships/slide" Target="/ppt/slides/slide11.xml" Id="Rcc7e2e672ad7499a" /><Relationship Type="http://schemas.openxmlformats.org/officeDocument/2006/relationships/slide" Target="/ppt/slides/slide12.xml" Id="Rf378d64258924190" /><Relationship Type="http://schemas.openxmlformats.org/officeDocument/2006/relationships/slide" Target="/ppt/slides/slide13.xml" Id="R089db7e126f345eb" /><Relationship Type="http://schemas.openxmlformats.org/officeDocument/2006/relationships/slide" Target="/ppt/slides/slide14.xml" Id="R9b1496d169964995" /><Relationship Type="http://schemas.openxmlformats.org/officeDocument/2006/relationships/slide" Target="/ppt/slides/slide15.xml" Id="R42693ce9498b42de" /><Relationship Type="http://schemas.openxmlformats.org/officeDocument/2006/relationships/slide" Target="/ppt/slides/slide16.xml" Id="R3bf4c3661f654b08" /><Relationship Type="http://schemas.openxmlformats.org/officeDocument/2006/relationships/slide" Target="/ppt/slides/slide17.xml" Id="R2908a576165a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4491bac5ec42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8d98aed82481e" /><Relationship Type="http://schemas.openxmlformats.org/officeDocument/2006/relationships/notesMaster" Target="/ppt/notesMasters/notesMaster1.xml" Id="R7f2656586449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5d03ee030b4ed8" /><Relationship Type="http://schemas.openxmlformats.org/officeDocument/2006/relationships/notesMaster" Target="/ppt/notesMasters/notesMaster1.xml" Id="R4e1c230cea4c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026caabc74ba0" /><Relationship Type="http://schemas.openxmlformats.org/officeDocument/2006/relationships/notesMaster" Target="/ppt/notesMasters/notesMaster1.xml" Id="R9de14b26bbaa43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46505d4754540" /><Relationship Type="http://schemas.openxmlformats.org/officeDocument/2006/relationships/notesMaster" Target="/ppt/notesMasters/notesMaster1.xml" Id="R5bdc403b6f7b43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ac5f579d3413b" /><Relationship Type="http://schemas.openxmlformats.org/officeDocument/2006/relationships/notesMaster" Target="/ppt/notesMasters/notesMaster1.xml" Id="Rd1394a301188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2434a99fce4b66" /><Relationship Type="http://schemas.openxmlformats.org/officeDocument/2006/relationships/notesMaster" Target="/ppt/notesMasters/notesMaster1.xml" Id="R3a3e5ddd780b4b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129adb44c423f" /><Relationship Type="http://schemas.openxmlformats.org/officeDocument/2006/relationships/notesMaster" Target="/ppt/notesMasters/notesMaster1.xml" Id="Raacbbcd0300844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c1f06122c4162" /><Relationship Type="http://schemas.openxmlformats.org/officeDocument/2006/relationships/notesMaster" Target="/ppt/notesMasters/notesMaster1.xml" Id="Re89593a91197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8489a390e4b0e" /><Relationship Type="http://schemas.openxmlformats.org/officeDocument/2006/relationships/notesMaster" Target="/ppt/notesMasters/notesMaster1.xml" Id="Rab3db23e773649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3b73ee7eab4232" /><Relationship Type="http://schemas.openxmlformats.org/officeDocument/2006/relationships/notesMaster" Target="/ppt/notesMasters/notesMaster1.xml" Id="Rc8916261741a46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d5da6523e34f51" /><Relationship Type="http://schemas.openxmlformats.org/officeDocument/2006/relationships/notesMaster" Target="/ppt/notesMasters/notesMaster1.xml" Id="R34608d9fe3c2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74c2db3c364880" /><Relationship Type="http://schemas.openxmlformats.org/officeDocument/2006/relationships/notesMaster" Target="/ppt/notesMasters/notesMaster1.xml" Id="R3b4d6f93ef7944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3809116ddf492b" /><Relationship Type="http://schemas.openxmlformats.org/officeDocument/2006/relationships/notesMaster" Target="/ppt/notesMasters/notesMaster1.xml" Id="Rd7b611c4e95945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d9683c79084332" /><Relationship Type="http://schemas.openxmlformats.org/officeDocument/2006/relationships/notesMaster" Target="/ppt/notesMasters/notesMaster1.xml" Id="R65959414cbf048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38bd61ec6a4986" /><Relationship Type="http://schemas.openxmlformats.org/officeDocument/2006/relationships/notesMaster" Target="/ppt/notesMasters/notesMaster1.xml" Id="Ra468a0ca824b4a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70d2e4455a4fa1" /><Relationship Type="http://schemas.openxmlformats.org/officeDocument/2006/relationships/notesMaster" Target="/ppt/notesMasters/notesMaster1.xml" Id="R0a7b7beed16343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cf157907c24f0e" /><Relationship Type="http://schemas.openxmlformats.org/officeDocument/2006/relationships/notesMaster" Target="/ppt/notesMasters/notesMaster1.xml" Id="R107e4415530c47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outputs/dynamic_comparison.png</a:t>
            </a:r>
          </a:p>
          <a:p xmlns:a="http://schemas.openxmlformats.org/drawingml/2006/main">
            <a:r>
              <a:t>- outputs/engineering_report.html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hvac_pid/plant.py</a:t>
            </a:r>
          </a:p>
          <a:p xmlns:a="http://schemas.openxmlformats.org/drawingml/2006/main">
            <a:r>
              <a:t>- hvac_pid/controllers.py</a:t>
            </a:r>
          </a:p>
          <a:p xmlns:a="http://schemas.openxmlformats.org/drawingml/2006/main">
            <a:r>
              <a:t>- hvac_pid/metrics.py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modelica/HVACAI/PrecisionCabinetCooling.mo</a:t>
            </a:r>
          </a:p>
          <a:p xmlns:a="http://schemas.openxmlformats.org/drawingml/2006/main">
            <a:r>
              <a:t>- outputs/openmodelica_cross_validation.png</a:t>
            </a:r>
          </a:p>
          <a:p xmlns:a="http://schemas.openxmlformats.org/drawingml/2006/main">
            <a:r>
              <a:t>- outputs/modelica_cross_validation.csv</a:t>
            </a:r>
          </a:p>
          <a:p xmlns:a="http://schemas.openxmlformats.org/drawingml/2006/main">
            <a:r>
              <a:t>- hvac_pid/plant.py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hvac_pid/pipeline.py</a:t>
            </a:r>
          </a:p>
          <a:p xmlns:a="http://schemas.openxmlformats.org/drawingml/2006/main">
            <a:r>
              <a:t>- hvac_pid/tuning.py</a:t>
            </a:r>
          </a:p>
          <a:p xmlns:a="http://schemas.openxmlformats.org/drawingml/2006/main">
            <a:r>
              <a:t>- hvac_pid/ai_controllers.py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outputs/classical_tuning_history.csv</a:t>
            </a:r>
          </a:p>
          <a:p xmlns:a="http://schemas.openxmlformats.org/drawingml/2006/main">
            <a:r>
              <a:t>- outputs/classical_tuning_process.png</a:t>
            </a:r>
          </a:p>
          <a:p xmlns:a="http://schemas.openxmlformats.org/drawingml/2006/main">
            <a:r>
              <a:t>- hvac_pid/controllers.py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outputs/classical_tuning_history.csv</a:t>
            </a:r>
          </a:p>
          <a:p xmlns:a="http://schemas.openxmlformats.org/drawingml/2006/main">
            <a:r>
              <a:t>- outputs/classical_tuning_process.png</a:t>
            </a:r>
          </a:p>
          <a:p xmlns:a="http://schemas.openxmlformats.org/drawingml/2006/main">
            <a:r>
              <a:t>- hvac_pid/controllers.py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outputs/bayesian_search_history.csv</a:t>
            </a:r>
          </a:p>
          <a:p xmlns:a="http://schemas.openxmlformats.org/drawingml/2006/main">
            <a:r>
              <a:t>- outputs/global_bayesian_tuning.csv</a:t>
            </a:r>
          </a:p>
          <a:p xmlns:a="http://schemas.openxmlformats.org/drawingml/2006/main">
            <a:r>
              <a:t>- outputs/bayesian_search_trace.png</a:t>
            </a:r>
          </a:p>
          <a:p xmlns:a="http://schemas.openxmlformats.org/drawingml/2006/main">
            <a:r>
              <a:t>- hvac_pid/tuning.py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outputs/fnn_training_history.csv</a:t>
            </a:r>
          </a:p>
          <a:p xmlns:a="http://schemas.openxmlformats.org/drawingml/2006/main">
            <a:r>
              <a:t>- outputs/fnn_rule_table.npy</a:t>
            </a:r>
          </a:p>
          <a:p xmlns:a="http://schemas.openxmlformats.org/drawingml/2006/main">
            <a:r>
              <a:t>- outputs/fnn_training_trace.png</a:t>
            </a:r>
          </a:p>
          <a:p xmlns:a="http://schemas.openxmlformats.org/drawingml/2006/main">
            <a:r>
              <a:t>- hvac_pid/ai_controllers.py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outputs/rl_training_history.csv</a:t>
            </a:r>
          </a:p>
          <a:p xmlns:a="http://schemas.openxmlformats.org/drawingml/2006/main">
            <a:r>
              <a:t>- outputs/rl_q_table.npy</a:t>
            </a:r>
          </a:p>
          <a:p xmlns:a="http://schemas.openxmlformats.org/drawingml/2006/main">
            <a:r>
              <a:t>- outputs/rl_training_trace.png</a:t>
            </a:r>
          </a:p>
          <a:p xmlns:a="http://schemas.openxmlformats.org/drawingml/2006/main">
            <a:r>
              <a:t>- hvac_pid/ai_controllers.py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outputs/bayesian_search_history.csv</a:t>
            </a:r>
          </a:p>
          <a:p xmlns:a="http://schemas.openxmlformats.org/drawingml/2006/main">
            <a:r>
              <a:t>- outputs/fnn_training_history.csv</a:t>
            </a:r>
          </a:p>
          <a:p xmlns:a="http://schemas.openxmlformats.org/drawingml/2006/main">
            <a:r>
              <a:t>- outputs/rl_training_history.csv</a:t>
            </a:r>
          </a:p>
          <a:p xmlns:a="http://schemas.openxmlformats.org/drawingml/2006/main">
            <a:r>
              <a:t>- outputs/training_convergence_overview.png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hvac_pid/config.py</a:t>
            </a:r>
          </a:p>
          <a:p xmlns:a="http://schemas.openxmlformats.org/drawingml/2006/main">
            <a:r>
              <a:t>- hvac_pid/metrics.py</a:t>
            </a:r>
          </a:p>
          <a:p xmlns:a="http://schemas.openxmlformats.org/drawingml/2006/main">
            <a:r>
              <a:t>- outputs/case_metrics.csv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outputs/case_initial_cooling.png</a:t>
            </a:r>
          </a:p>
          <a:p xmlns:a="http://schemas.openxmlformats.org/drawingml/2006/main">
            <a:r>
              <a:t>- outputs/case_metrics.csv</a:t>
            </a:r>
          </a:p>
          <a:p xmlns:a="http://schemas.openxmlformats.org/drawingml/2006/main">
            <a:r>
              <a:t>- outputs/case_timeseries.csv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outputs/case_setpoint_step.png</a:t>
            </a:r>
          </a:p>
          <a:p xmlns:a="http://schemas.openxmlformats.org/drawingml/2006/main">
            <a:r>
              <a:t>- outputs/case_metrics.csv</a:t>
            </a:r>
          </a:p>
          <a:p xmlns:a="http://schemas.openxmlformats.org/drawingml/2006/main">
            <a:r>
              <a:t>- outputs/case_timeseries.csv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outputs/case_sustained_heat.png</a:t>
            </a:r>
          </a:p>
          <a:p xmlns:a="http://schemas.openxmlformats.org/drawingml/2006/main">
            <a:r>
              <a:t>- outputs/case_metrics.csv</a:t>
            </a:r>
          </a:p>
          <a:p xmlns:a="http://schemas.openxmlformats.org/drawingml/2006/main">
            <a:r>
              <a:t>- outputs/case_timeseries.csv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outputs/holdout_summary.csv</a:t>
            </a:r>
          </a:p>
          <a:p xmlns:a="http://schemas.openxmlformats.org/drawingml/2006/main">
            <a:r>
              <a:t>- outputs/dynamic_comparison.png</a:t>
            </a:r>
          </a:p>
          <a:p xmlns:a="http://schemas.openxmlformats.org/drawingml/2006/main">
            <a:r>
              <a:t>- outputs/dynamic_metrics.csv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outputs/mcu_pc_sil_log.txt</a:t>
            </a:r>
          </a:p>
          <a:p xmlns:a="http://schemas.openxmlformats.org/drawingml/2006/main">
            <a:r>
              <a:t>- outputs/mcu_validation_summary.csv</a:t>
            </a:r>
          </a:p>
          <a:p xmlns:a="http://schemas.openxmlformats.org/drawingml/2006/main">
            <a:r>
              <a:t>- outputs/mcu_wokwi_validation.csv</a:t>
            </a:r>
          </a:p>
          <a:p xmlns:a="http://schemas.openxmlformats.org/drawingml/2006/main">
            <a:r>
              <a:t>- embedded/hvac_pid_controller.hpp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outputs/engineering_report.html</a:t>
            </a:r>
          </a:p>
          <a:p xmlns:a="http://schemas.openxmlformats.org/drawingml/2006/main">
            <a:r>
              <a:t>- outputs/holdout_summary.csv</a:t>
            </a:r>
          </a:p>
          <a:p xmlns:a="http://schemas.openxmlformats.org/drawingml/2006/main">
            <a:r>
              <a:t>- outputs/case_metrics.csv</a:t>
            </a:r>
          </a:p>
          <a:p xmlns:a="http://schemas.openxmlformats.org/drawingml/2006/main">
            <a:r>
              <a:t>- outputs/bayesian_search_history.csv</a:t>
            </a:r>
          </a:p>
          <a:p xmlns:a="http://schemas.openxmlformats.org/drawingml/2006/main">
            <a:r>
              <a:t>- outputs/fnn_training_history.csv</a:t>
            </a:r>
          </a:p>
          <a:p xmlns:a="http://schemas.openxmlformats.org/drawingml/2006/main">
            <a:r>
              <a:t>- outputs/rl_training_history.csv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d12811a4a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47af240da4ba3" /><Relationship Type="http://schemas.openxmlformats.org/officeDocument/2006/relationships/slideLayout" Target="/ppt/slideLayouts/slideLayout1.xml" Id="R0d13054db176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13054db176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3070dab5a4428" /><Relationship Type="http://schemas.openxmlformats.org/officeDocument/2006/relationships/image" Target="/ppt/media/image.png" Id="R31a1c62fb46f491a" /><Relationship Type="http://schemas.openxmlformats.org/officeDocument/2006/relationships/notesSlide" Target="/ppt/notesSlides/notesSlide1.xml" Id="R83fc04c028854e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77cabd04540ae" /><Relationship Type="http://schemas.openxmlformats.org/officeDocument/2006/relationships/notesSlide" Target="/ppt/notesSlides/notesSlide2.xml" Id="R4a241c76367847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04ffeabac4b4f" /><Relationship Type="http://schemas.openxmlformats.org/officeDocument/2006/relationships/image" Target="/ppt/media/image2.png" Id="R8908a06d84654476" /><Relationship Type="http://schemas.openxmlformats.org/officeDocument/2006/relationships/notesSlide" Target="/ppt/notesSlides/notesSlide3.xml" Id="R40e9df8252824e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39853f30f4abe" /><Relationship Type="http://schemas.openxmlformats.org/officeDocument/2006/relationships/notesSlide" Target="/ppt/notesSlides/notesSlide4.xml" Id="Rf2a8bf30ab64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2fb4933cc48a2" /><Relationship Type="http://schemas.openxmlformats.org/officeDocument/2006/relationships/image" Target="/ppt/media/image3.png" Id="Rae7c0ea3343e4d58" /><Relationship Type="http://schemas.openxmlformats.org/officeDocument/2006/relationships/notesSlide" Target="/ppt/notesSlides/notesSlide5.xml" Id="Rbd2b88bc19c847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db247ca2b4cc3" /><Relationship Type="http://schemas.openxmlformats.org/officeDocument/2006/relationships/image" Target="/ppt/media/image4.png" Id="Rb71ba72c822f4a42" /><Relationship Type="http://schemas.openxmlformats.org/officeDocument/2006/relationships/notesSlide" Target="/ppt/notesSlides/notesSlide6.xml" Id="R5aca946425934a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ccacc232c4c19" /><Relationship Type="http://schemas.openxmlformats.org/officeDocument/2006/relationships/image" Target="/ppt/media/image5.png" Id="R449aeea74cd54669" /><Relationship Type="http://schemas.openxmlformats.org/officeDocument/2006/relationships/notesSlide" Target="/ppt/notesSlides/notesSlide7.xml" Id="Rc5d1d4cc5f014e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9e6e9c8e64abd" /><Relationship Type="http://schemas.openxmlformats.org/officeDocument/2006/relationships/image" Target="/ppt/media/image6.png" Id="R85ac3df247764f7e" /><Relationship Type="http://schemas.openxmlformats.org/officeDocument/2006/relationships/notesSlide" Target="/ppt/notesSlides/notesSlide8.xml" Id="R79c4dac969164a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762d9283f41f1" /><Relationship Type="http://schemas.openxmlformats.org/officeDocument/2006/relationships/image" Target="/ppt/media/image7.png" Id="R603fb2deef03484e" /><Relationship Type="http://schemas.openxmlformats.org/officeDocument/2006/relationships/notesSlide" Target="/ppt/notesSlides/notesSlide9.xml" Id="R45c84ba82e6347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62c9a29b24596" /><Relationship Type="http://schemas.openxmlformats.org/officeDocument/2006/relationships/notesSlide" Target="/ppt/notesSlides/notesSlide10.xml" Id="Rf70696654bb343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d9e9f3d974f4b" /><Relationship Type="http://schemas.openxmlformats.org/officeDocument/2006/relationships/notesSlide" Target="/ppt/notesSlides/notesSlide11.xml" Id="Rb817a1a85aaa46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e59e521d4421" /><Relationship Type="http://schemas.openxmlformats.org/officeDocument/2006/relationships/image" Target="/ppt/media/image8.png" Id="R39128a251089473a" /><Relationship Type="http://schemas.openxmlformats.org/officeDocument/2006/relationships/notesSlide" Target="/ppt/notesSlides/notesSlide12.xml" Id="R67283614268846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ccf7c19a2486d" /><Relationship Type="http://schemas.openxmlformats.org/officeDocument/2006/relationships/image" Target="/ppt/media/image9.png" Id="R41dff29d00484ba2" /><Relationship Type="http://schemas.openxmlformats.org/officeDocument/2006/relationships/notesSlide" Target="/ppt/notesSlides/notesSlide13.xml" Id="Re86afb5eb1f24a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c970738d3487b" /><Relationship Type="http://schemas.openxmlformats.org/officeDocument/2006/relationships/image" Target="/ppt/media/image10.png" Id="R07a34ac680f44c83" /><Relationship Type="http://schemas.openxmlformats.org/officeDocument/2006/relationships/notesSlide" Target="/ppt/notesSlides/notesSlide14.xml" Id="R430d8ac58be841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5d1745f9a454f" /><Relationship Type="http://schemas.openxmlformats.org/officeDocument/2006/relationships/image" Target="/ppt/media/image11.png" Id="Rea4f533f993344f1" /><Relationship Type="http://schemas.openxmlformats.org/officeDocument/2006/relationships/notesSlide" Target="/ppt/notesSlides/notesSlide15.xml" Id="R441eac40d7fe44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7e0e02d6a4ea3" /><Relationship Type="http://schemas.openxmlformats.org/officeDocument/2006/relationships/notesSlide" Target="/ppt/notesSlides/notesSlide16.xml" Id="Rdd477950bae24b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b4e82e6b243a7" /><Relationship Type="http://schemas.openxmlformats.org/officeDocument/2006/relationships/notesSlide" Target="/ppt/notesSlides/notesSlide17.xml" Id="R75875da0eb41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99942-80C5-4A6E-B798-1483872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334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变频精密/机柜空调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AI-PID 全流程仿真验证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5FD02-2336-4F53-A4FC-25A5CFA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EC13-C731-4A7F-9909-89502128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162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先建模，再完整展示五种方法如何得到 Kp、Ki，最后用三种独立工况公平比较。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53B56-393D-402E-9937-DD61B96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434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物理基准：OpenModelica ｜快速层：Python 3R2C/FOPDT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训练审计：贝叶斯 11 次｜FNN 20 批｜RL 500 回合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969EC-41F1-4C11-A4B0-666C844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"/>
            <a:ext cx="5619750" cy="554355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90036-3003-4194-A8B6-3AD125C8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E077A-67D1-4E2B-BB38-E32F403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空调控温仿真｜整定训练完整版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937E-A2D4-41EE-B645-948F99D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1c62fb46f491a"/>
          <a:stretch xmlns:a="http://schemas.openxmlformats.org/drawingml/2006/main"/>
        </p:blipFill>
        <p:spPr>
          <a:xfrm xmlns:a="http://schemas.openxmlformats.org/drawingml/2006/main" flipH="0" flipV="0">
            <a:off x="6334125" y="789168"/>
            <a:ext cx="5295900" cy="478436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E28FE4-AC13-4818-BFC7-87D3832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先有直觉：我们究竟在模拟什么？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18E9-CC58-4CEF-B6B5-27E17C5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把机房想成两个会存热的桶：空气温度变得快，墙体与机柜变得慢；空调冷量又会迟到。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4B018-BCBB-4BD8-BE6F-30E17B0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21F8C-E8D9-47A7-B9DD-852E726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6D02-736C-424A-8587-0712849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01｜3R2C 房间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9CA89-FB98-4B39-9A3C-F8EB9DD9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空气升温快，墙体与机柜蓄热慢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3BFD8-EE8B-4798-B659-733D66A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两个蓄热体 C、三条换热通道 R，把复杂机房压成可重复计算的温度方程。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E9985-2E67-46B1-8DD3-72336C7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0849-6CA3-468E-A919-C5CF88E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5C6BF-10EC-4F21-B8D1-74E0512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02｜空调不会立刻见效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E6ABB-1B10-401B-800E-E7D21352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给出 0–100% 命令后，冷量会迟到并逐渐建立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F61D0-33C7-4ED5-9C7C-DCB6458E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FOPDT 只概括“等多久、变化多慢”，方便整定与批量搜索，不替代物理模型。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19BBC-BF67-471C-BF52-77941B2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5429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54EC-5EE3-4C41-8BB1-71F26C5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99000-A7AE-467E-9314-5054430D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010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03｜PI 控制器做什么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3DC3-D406-44E9-9C0B-E43365C1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501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根据温差持续调整制冷能力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FB973-5CA5-484F-A982-A21F2F4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Kp 决定反应有多猛；Ki 负责消除长期偏差。五种方法的区别是如何得到这两个参数。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7FD5E-9186-4F38-BC17-593D535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0025"/>
            <a:ext cx="55435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A7CEF-6AC2-45C3-A783-2060B1D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419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94FD2-7F7E-4006-8922-65ACA3D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512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04｜如何判断好坏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481AB-0B0F-4BEA-A12D-584C653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38675"/>
            <a:ext cx="512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既要温度跟得准，也要压缩机更平稳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39A1E-7825-4B05-B4E7-8B83ECE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29225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统一比较 ITAE、调节/恢复时间、过冷过热、输出方差和能耗代理量。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5959B-4A9F-4C81-AC7D-7232D5C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03491-D78D-42C1-8D1A-A18DFDC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空调控温仿真｜问题直觉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A0DED-E952-47B6-8AEB-08C670CA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5889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建模 1/2｜物理基准与快速代理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先把“虚拟机房”建对，控制算法才有意义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OpenModelica 负责可追溯的物理基准；Python 3R2C 负责批量实验；FOPDT 只负责整定与快速搜索。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3R2C 在做什么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Tz：反应较快的室内空气温度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Tw：反应较慢的墙体/机柜热质温度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三条 R：室外→空气、室外→热质、热质↔空气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两层模拟器如何分工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OpenModelica：实际编译并以 DASSL 运行 12 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Python：1 min 步长，便于成批寻优与测试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FOPDT：只拟合阶跃，不承担三工况主实验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结论：标准模拟器采用 OpenModelica；FOPDT 不替代物理模型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交叉验证边界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数值一致只说明两套方程实现相符；热阻、热容与制冷量仍需真实机房/BMS 数据校准。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空调控温仿真｜环境建模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8a06d84654476"/>
          <a:stretch xmlns:a="http://schemas.openxmlformats.org/drawingml/2006/main"/>
        </p:blipFill>
        <p:spPr>
          <a:xfrm xmlns:a="http://schemas.openxmlformats.org/drawingml/2006/main" flipH="0" flipV="0">
            <a:off x="7038005" y="2133600"/>
            <a:ext cx="3526189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先整定或训练，再冻结，最后才参加独立测试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测试工况如果也参与调参，就无法证明泛化能力；本项目把三个阶段严格分开。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安装调试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阶跃辨识 → Z-N / IMC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只在额定模型上辨识一次，得到参数后冻结；正式测试中 Kp、Ki 是水平线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离线寻优 / 训练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BO 标签 → FNN｜虚拟环境 → 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贝叶斯搜索固定 PI；FNN 拟合规则；RL 训练 Q 表，探索只发生在仿真中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 个留出工况 + 3 个典型场景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所有算法消费同一输入；测试不再更新标签、规则表或 Q 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公平规则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固定方法运行内不改参；FNN/RL 只按已冻结规则或策略动态改参；所有输出都经过同一 PI 限幅与抗饱和。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空调控温仿真｜实验切分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1/5｜Z-N 安装调试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Z-N：从一次阶跃曲线直接算出固定 Kp、Ki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先施加制冷阶跃，辨识过程增益 K、时间常数 τ、纯滞后 L，再代入经验公式并执行安全限幅。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整定过程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额定制冷命令从 30.26% 阶跃到 42.26%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辨识 K=57.47、τ=915 min、L=5 min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Kp=0.9τ/(KL)，Ki=Kp/(3.33L)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Kp、Ki 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调试时：公式原值 → 参数安全边界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部署值：Kp=1.5、Ki=0.08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三种测试中完全冻结，不是在线自整定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结论：整定最快、代码最简单，但参数偏激进且依赖单次辨识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图怎样读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上图比较 3R2C 阶跃与 FOPDT 拟合；下图给出 Z-N/IMC 公式值和最终部署值。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空调控温仿真｜Z-N 整定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c0ea3343e4d58"/>
          <a:stretch xmlns:a="http://schemas.openxmlformats.org/drawingml/2006/main"/>
        </p:blipFill>
        <p:spPr>
          <a:xfrm xmlns:a="http://schemas.openxmlformats.org/drawingml/2006/main" flipH="0" flipV="0">
            <a:off x="7038005" y="2133600"/>
            <a:ext cx="3526189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2/5｜IMC 安装调试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IMC：用同一模型主动选择闭环速度 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同样先辨识 K、τ、L；再选择希望的闭环速度 λ。λ 越大越平稳，但降温与扰动恢复可能越慢。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整定过程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共用额定模型阶跃辨识结果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Kp=τ/[K(λ+L)]，Ki=Kp/τ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本轮选较保守 λ，并通过统一安全边界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Kp、Ki 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调试时随 λ 的工程选择得到一组参数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部署值：Kp=0.05136、Ki=5.61×10⁻⁵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正式测试中冻结，所以增益轨迹是水平线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结论：输出最平滑，但本轮 λ 过保守，制冷能力长期不足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为何达不到设定值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Ki 很小，积分修正太慢；在有限仿真时间与持续热负荷下，稳态偏差尚未被消除。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空调控温仿真｜IMC 整定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ba72c822f4a42"/>
          <a:stretch xmlns:a="http://schemas.openxmlformats.org/drawingml/2006/main"/>
        </p:blipFill>
        <p:spPr>
          <a:xfrm xmlns:a="http://schemas.openxmlformats.org/drawingml/2006/main" flipH="0" flipV="0">
            <a:off x="7038005" y="2133600"/>
            <a:ext cx="3526189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0611-3E04-4C9E-A7B8-5475D5A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3/5｜贝叶斯自动整定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FFE4-4DF2-4B93-96ED-9E463AB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贝叶斯：完整保留每一次 Kp、Ki 搜索轨迹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E985-17DA-4765-972B-6C6E478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先试 IMC 初始点和随机候选，再用高斯过程与期望改进 EI 决定下一组参数；目标值越低越好。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243B-CCC7-47F8-98FE-8234CC5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搜索过程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E962-6113-4019-9E37-93DEAFB8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EA21F-E0D6-41AE-8773-FF10B7E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共 11 次完整评估：1 个先验 + 6 个随机 + 4 次 EI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每次记录候选 Kp、Ki、目标值、预测均值与不确定度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第 10 次找到当前最好点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6D7-4D0F-4E57-8B60-13E932A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参数如何收敛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1EA6-F08A-461D-9CAA-3D8C82E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D466D-FF4C-4739-8E80-9884989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截至当前最优目标：254.58 → 38.65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最终 Kp=0.75311、Ki=0.0096728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搜索结束后冻结；测试时增益为水平线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35673-A014-419C-BCCD-CC2716F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B281-CC72-407A-A807-68E9ED2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结论：已有明确更优候选，但 11 次预算仍不足以证明全局收敛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FA869-C40D-4E79-B27D-9F7A8C7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D66F-7AC3-4DB6-9FBE-3AAE44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图怎样读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2701-8072-4031-A9C9-10F3D70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散点是每次真实试验；阶梯线是“截至当前最好”；最后两幅显示候选 Kp、Ki 怎样跳动。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1FCF8-345E-4C74-AB2C-B8A2E9F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19BF6-5382-4C4A-A04A-9B5396A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空调控温仿真｜贝叶斯搜索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193FF-ECF5-4C90-9EC5-573466A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aeea74cd54669"/>
          <a:stretch xmlns:a="http://schemas.openxmlformats.org/drawingml/2006/main"/>
        </p:blipFill>
        <p:spPr>
          <a:xfrm xmlns:a="http://schemas.openxmlformats.org/drawingml/2006/main" flipH="0" flipV="0">
            <a:off x="7025149" y="2133600"/>
            <a:ext cx="3551901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04960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B862-D204-454A-8C4C-8D9028D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4/5｜FNN 离线拟合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1707-5CF6-4663-AF8F-33E821D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FNN：20 批标签怎样拟合成 5×5 轻量规则表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1BF1-F603-4095-B451-B127F2C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每个训练工况先由优化器产生好参数标签，再按误差 e 与变化 Δe 分配到规则网格并更新规则后件。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382C5-F34E-4D47-B4B7-FB2F41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拟合过程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E4F9-79EC-4C60-A8A2-12818AB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7BF8-D2B2-477E-9772-70E3D05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20 个训练工况，共累计 6020 个状态样本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逐批记录对数 RMSE、最大规则改变量和 Kp/Ki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部署时每次只插值所在小方格的 4 个角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FFDA-AE35-41CD-882C-1A48062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是否收敛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DF11-CA8F-4940-A059-22E32CE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FBF4-7EDF-4357-AF1C-4012269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最终只覆盖 5/25 条规则，即 20%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对数 RMSE 最后约 1.107，且没有稳定下降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规则参数仍有跳动：快速版不能称为充分拟合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87F9-6A16-4C00-90D2-AD4677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46A1C-D86E-40A0-A089-B8FDD44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结论：运行结构很轻，但当前训练样本没有覆盖完整规则域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B1AB-F5DD-48F9-9E10-C1813EA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DF75F-A2B4-48C7-928A-2DD9DA1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训练与上线要分开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FD6E-F718-43BA-A910-BD5F573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图中 Kp/Ki 是规则拟合过程；上线后规则表冻结，只按 e、Δe 输出受限的动态增益。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1124F-5453-456E-9E50-D6E4645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D669-76F6-4B3D-A43C-5472989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空调控温仿真｜FNN 拟合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132EF-FFA5-4525-8E6B-8EEBF86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3df247764f7e"/>
          <a:stretch xmlns:a="http://schemas.openxmlformats.org/drawingml/2006/main"/>
        </p:blipFill>
        <p:spPr>
          <a:xfrm xmlns:a="http://schemas.openxmlformats.org/drawingml/2006/main" flipH="0" flipV="0">
            <a:off x="7019640" y="2133600"/>
            <a:ext cx="3562920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61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EB7DE-3AF9-4556-90E0-2A3B564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方法 5/5｜RL 离线训练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17D81-DC41-4A28-A536-96E2D62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RL：500 回合、30,000 步的训练曲线全部保留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3477A-6166-4D70-89BB-87F7503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训练时用 ε-greedy 探索 9 种小幅增益动作并更新 5×5×9 Q 表；上线只查表，不再随机探索。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D7DCE-4A61-4DA3-B7E4-B48C24FB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训练过程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237D4-FF05-49E5-81EC-402DF69E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7AE7-979A-488A-8EFD-BB0CE22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500 回合 × 60 步 = 30,000 个虚拟环境步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ε 从 0.25 降到 0.03，粗状态覆盖 25/25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每回合记录奖励、TD 误差、策略变化和 Kp/Ki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A3E56-2656-4F03-8349-9985B2A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是否收敛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F8BFC-A03C-4EDA-86B1-E2E4BFB9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E702A-284F-492E-9A05-555906F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最后 20 回合平均奖励约 −233，仍明显波动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最后 TD 误差约 1.55，贪心策略仍变 3 个状态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访问全部状态 ≠ 奖励或策略已经收敛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A1649-C2A3-4EAB-BE43-FC59D45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3079A-2818-4619-B34D-9F07CCE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结论：曲线记录完整，但本轮 RL 只是流程样机，不是成熟策略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FFA0-1E0B-417D-8EFF-2B53A53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D1B73-D2B4-400B-88AF-9452710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为何最终效果偏弱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F626E-4D95-40BB-9620-E56048F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训练奖励仍噪声很大，策略会把增益带到不理想区域；安全限幅能防失控，但不能替代训练收敛。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C7927-BD4B-47BF-A97B-5501CB81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AE0AB-4B3B-44E2-AB31-5B39D1A4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空调控温仿真｜RL 训练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E43F7-2D13-4642-80B8-9F0299C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fb2deef03484e"/>
          <a:stretch xmlns:a="http://schemas.openxmlformats.org/drawingml/2006/main"/>
        </p:blipFill>
        <p:spPr>
          <a:xfrm xmlns:a="http://schemas.openxmlformats.org/drawingml/2006/main" flipH="0" flipV="0">
            <a:off x="7030659" y="2133600"/>
            <a:ext cx="3540882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38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收敛审计：轨迹完整，不等于训练已经充分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贝叶斯、FNN、RL 的横轴和判据不同；必须分别检查搜索改进、规则覆盖和策略稳定性。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贝叶斯搜索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 次评估｜最好目标 38.65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第 10 次出现明确最好点；但 EI 迭代只有 4 次，仍应增加预算并重复不同随机种子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FNN 拟合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 批｜规则覆盖 5/25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覆盖仅 20%，拟合误差没有稳定下降；当前规则表不能代表完整误差域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RL 训练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500 回合｜状态访问 25/25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奖励、TD 误差和贪心策略仍波动；状态访问完整不能当作收敛证明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当前判定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贝叶斯已找到明确改进候选；FNN 与 RL 只证明训练管线、日志和部署接口跑通，尚未达到正式模型验收标准。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空调控温仿真｜收敛审计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最终仿真：三道独立试题分别回答不同问题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五种控制器使用同一模型、初始条件和扰动；三个场景都不再参与整定或训练。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初次快速降温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31.7°C → 24°C｜4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观察大偏差启动速度、最大过冷、输出猛冲、ITAE 和调节时间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设定温度突变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24°C → 22.5°C｜5 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观察工况迁移时的跟随、过冲、增益轨迹和控制器是否恢复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持续外界热扰动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昼夜气温 + 设备热 + 开门｜6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观察抗扰恢复、过热、稳态偏差、输出方差与能耗代理量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统一指标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跟踪精度/速度：ITAE、调节/恢复时间｜动态品质：过冷、过热｜设备友好：输出方差、动作总变化、能耗代理量。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空调控温仿真｜三工况设计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场景 1/3｜独立测试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初次快速降温：FNN 本场景最快，IMC/RL 明显偏弱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室温从约 31.7°C 启动，目标 24°C；比较前 4 小时内的降温、过冷、输出和动态增益。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本场景表现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FNN：目标 50.27，1.45 h 进入舒适带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贝叶斯：目标 52.27，表现接近 FNN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Z-N：目标 58.73，快但输出波动更大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为何 IMC / RL 不理想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IMC：Ki 太小，有限时间内纠偏不足，目标 276.96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RL：策略仍未稳定，增益动作把性能拉低，目标 295.92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安全限幅防止失控，但不会自动补足性能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结论：FNN 赢得单场景不等于已充分训练；仍需看其他工况与留出集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关键动态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固定 PI 的增益为水平线；FNN/RL 的 Kp、Ki 只按冻结策略动态变化，测试本身不训练。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空调控温仿真｜场景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28a251089473a"/>
          <a:stretch xmlns:a="http://schemas.openxmlformats.org/drawingml/2006/main"/>
        </p:blipFill>
        <p:spPr>
          <a:xfrm xmlns:a="http://schemas.openxmlformats.org/drawingml/2006/main" flipH="0" flipV="0">
            <a:off x="7038005" y="2133600"/>
            <a:ext cx="3526189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E0611-3E04-4C9E-A7B8-5475D5A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场景 2/3｜独立测试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9FFE4-4DF2-4B93-96ED-9E463AB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设定温度突变：FNN 略优，贝叶斯固定 PI 紧随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CE985-17DA-4765-972B-6C6E478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运行中把目标从 24°C 改为 22.5°C；比较工况迁移后的跟随、过冲、输出与增益响应。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243B-CCC7-47F8-98FE-8234CC5D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本场景表现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E962-6113-4019-9E37-93DEAFB8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EA21F-E0D6-41AE-8773-FF10B7E0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FNN：综合目标 26.76，为本场景最低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贝叶斯：28.34，固定参数仍保持较好折中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Z-N：39.70，输出变化更激进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6D7-4D0F-4E57-8B60-13E932A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需要警惕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1EA6-F08A-461D-9CAA-3D8C82E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D466D-FF4C-4739-8E80-9884989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RL：目标 81.41，训练不足的代价仍明显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IMC：目标 265.77，过于保守且持续偏热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三种 AI 方法都不能只凭一条曲线宣称普遍更优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35673-A014-419C-BCCD-CC2716F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B281-CC72-407A-A807-68E9ED2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结论：本场景 FNN 略优；贝叶斯以更简单的固定部署取得接近结果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FA869-C40D-4E79-B27D-9F7A8C7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2D66F-7AC3-4DB6-9FBE-3AAE440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关键动态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2701-8072-4031-A9C9-10F3D700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贝叶斯 Kp=0.75311、Ki=0.0096728 全程固定；FNN/RL 在设定值切换后按 e、Δe 改参。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1FCF8-345E-4C74-AB2C-B8A2E9F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19BF6-5382-4C4A-A04A-9B5396A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空调控温仿真｜场景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193FF-ECF5-4C90-9EC5-573466A6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ff29d00484ba2"/>
          <a:stretch xmlns:a="http://schemas.openxmlformats.org/drawingml/2006/main"/>
        </p:blipFill>
        <p:spPr>
          <a:xfrm xmlns:a="http://schemas.openxmlformats.org/drawingml/2006/main" flipH="0" flipV="0">
            <a:off x="7025149" y="2133600"/>
            <a:ext cx="3551901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04960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B862-D204-454A-8C4C-8D9028D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场景 3/3｜独立测试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F1707-5CF6-4663-AF8F-33E821D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持续热扰动：贝叶斯固定 PI 最稳，FNN 次之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1BF1-F603-4095-B451-B127F2C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叠加昼夜室外温度、持续设备散热和突发开门；比较 6 小时抗扰、过热、波动和能耗代理量。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382C5-F34E-4D47-B4B7-FB2F410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本场景表现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AE4F9-79EC-4C60-A8A2-12818AB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47BF8-D2B2-477E-9772-70E3D056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贝叶斯：综合目标 52.33，为本场景最低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Z-N：58.79，表现接近但输出方差更高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FNN：61.29，动态改参有效但波动更大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CFFDA-AE35-41CD-882C-1A48062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需要警惕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DF11-CA8F-4940-A059-22E32CED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FBF4-7EDF-4357-AF1C-4012269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RL：77.96，尚未超过成熟固定基线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IMC：494.65，Ki 太小导致持续偏热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三种方法的扰动恢复标志均未在严格窗口内满足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787F9-6A16-4C00-90D2-AD46779C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46A1C-D86E-40A0-A089-B8FDD44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结论：持续扰动下，当前固定贝叶斯 PI 的综合折中最好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8B1AB-F5DD-48F9-9E10-C1813EAB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DF75F-A2B4-48C7-928A-2DD9DA1F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关键动态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FD6E-F718-43BA-A910-BD5F573C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FNN/RL 的增益随开门和误差变化；固定方法不改参，因此优劣来自参数本身而非测试时再训练。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1124F-5453-456E-9E50-D6E4645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D669-76F6-4B3D-A43C-54729892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空调控温仿真｜场景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132EF-FFA5-4525-8E6B-8EEBF86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34ac680f44c83"/>
          <a:stretch xmlns:a="http://schemas.openxmlformats.org/drawingml/2006/main"/>
        </p:blipFill>
        <p:spPr>
          <a:xfrm xmlns:a="http://schemas.openxmlformats.org/drawingml/2006/main" flipH="0" flipV="0">
            <a:off x="7019640" y="2133600"/>
            <a:ext cx="3562920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610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411D2-BF75-4406-A817-36668E3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综合结果｜6 个留出工况 + 混合动态波形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7829-57CD-426B-BC0B-32072CF4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不预设 AI 必胜：当前贝叶斯固定 PI 的平均综合目标最低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675CE-019E-44C6-97E2-20D9122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留出工况从未参与调参；混合动态曲线把设定值、天气、持续负荷与开门放到同一时间轴。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BEBBB-5B83-45BD-ABAE-256B2759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留出集平均目标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9E37-370F-40FD-9995-A6CB4B1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92BC7-A3EA-4920-90E7-4497DED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贝叶斯固定 PI：25.86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FNN：28.61｜Z-N：35.79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RL：118.40｜IMC：262.91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74D0D-2845-4535-97DE-4ED2D6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怎样解释排名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F8040-0D65-4000-9367-12BF9A08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759BA-51AE-45EF-8E98-DC506D8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IMC 最平滑，但长期温差使 ITAE 很大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FNN 接近贝叶斯，但规则覆盖只有 20%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RL 训练不足，不能用“强化学习”名称代替证据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21255-4B92-4800-913B-C872F5E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485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05FA6-D4ED-4CE3-8E06-7192A52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结论：当前最成熟的是贝叶斯离线寻优 + 固定安全 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C7946-D829-407A-B97C-C617037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981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B17C5-D914-4648-B857-7C83A8AB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149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3037F-BB68-4D56-A75C-CD3EE8D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67350"/>
            <a:ext cx="4600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这是小规模快速实验；应增加随机种子、季节工况和真实参数校准后再定最终量产策略。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4FA9A-28A5-45E5-8C3C-3E070E6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EE92E-EC9A-4309-9617-2ED9D9F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空调控温仿真｜综合结果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A070F-3544-466C-B1DE-9E7FEC7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f533f993344f1"/>
          <a:stretch xmlns:a="http://schemas.openxmlformats.org/drawingml/2006/main"/>
        </p:blipFill>
        <p:spPr>
          <a:xfrm xmlns:a="http://schemas.openxmlformats.org/drawingml/2006/main" flipH="0" flipV="0">
            <a:off x="7038005" y="2133600"/>
            <a:ext cx="3526189" cy="30670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60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MCU 核心已过 PC SIL，Wokwi 仍缺量产级证据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Python 训练产物已压缩成纯 C++ 数学模块；但编译启动、资源时序和真实硬件安全是三种不同证据。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PC 软件在环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100 ms PI ｜ 2 s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重新导出本轮 FNN/RL 表后通过；输出限幅、分频、NaN 回退正常，RL 粗状态覆盖为 25/25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Wokwi 双目标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ESP32 + STM32F103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同一 C++ 控制核心已在线编译并进入运行态；STM32 工程已注入一次开门扰动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量产证据仍缺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串口曲线｜ROM/RAM｜WCET｜HIL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还需连续无丢拍记录、目标板尺寸/最坏周期、实体板 HIL，以及独立于 AI 的压缩机安全联锁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可以说：数学核心和目标编译/启动通过｜不能说：资源时序、实体 MCU 与整机安全已经量产验收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空调控温仿真｜MCU 轻量化验证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49186-6911-422B-BB3E-D680D94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最终判断：固定贝叶斯 PI 最成熟，FNN/RL 仍需训练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8C1B4-9BA8-4263-BD2D-A9B75D8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01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本轮价值不只是排名，而是把“参数怎样得到、是否收敛、测试是否独立”全部变成可复核证据。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6020-F164-4740-A64C-7C07575E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BE81-CC6F-405D-8FB2-BE43DC4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217C-512D-4AD4-B5CF-109FD478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现在已经完成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060B8-5608-4001-A2C7-B892242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模型、五种算法、完整训练日志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2FB75-1621-4A23-A8DF-7FEC85D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OpenModelica/Python 双层模型、11 次 BO、20 批 FNN、500 回合 RL、三工况报告与代码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955-6AA6-4638-A3D0-60CE849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67035-9E04-45ED-ABA4-50684990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D92FC-F54F-421A-9A80-87D4688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当前推荐路径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B46DD-E88F-41BC-BC0A-8335B52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贝叶斯固定 PI + 安全内环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EB584-0D64-4902-8B4E-B1F752B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部署最简单、留出集平均目标最低；IMC 可作为异常回退，Z-N 保留为经典基准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A66DB-4099-4DC8-9F1D-FA3A635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B495E-1535-475A-8ADE-41B2DD6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527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12C1B-36DE-4907-BB24-3FF9674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下一步必须补齐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DFBB5-3F8B-4620-8DBC-30F0549F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扩大训练 + 真实校准 + HIL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358AD-41AF-4AEE-88E1-447833C1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FNN 提高规则覆盖；RL 多随机种子长训练；用 BMS 标定热参数，并完成 MCU 资源/时序/安全验收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FC3D9-0D7A-4AB3-9F95-F1745072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6B2A5-C242-4BFD-B9CF-2C91CDE5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答辩结论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2DC00-25AA-4BBF-A2EE-4FB6EE32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979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可以展示完整训练轨迹，但不能把“日志齐全”包装成“模型已充分收敛”；当前 FNN 与 RL 应定位为可继续训练的研究原型。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059CA-E731-4D48-BA97-6A0DF3E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A8123-724E-4ADC-8B03-FF6E8DCC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AI-PID 空调控温仿真｜结论与下一步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4323-1840-4B87-B665-3FA017D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600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6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419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2026-08-23T15:31:55.7340000Z</dcterms:created>
  <dcterms:modified xsi:type="dcterms:W3CDTF">2026-08-23T15:31:55.7340000Z</dcterms:modified>
</coreProperties>
</file>