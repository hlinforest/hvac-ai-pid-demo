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2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3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4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13b4b206d84c2f" /><Relationship Type="http://schemas.openxmlformats.org/officeDocument/2006/relationships/extended-properties" Target="/docProps/app.xml" Id="Rb545d69cbab845bc" /><Relationship Type="http://schemas.openxmlformats.org/officeDocument/2006/relationships/officeDocument" Target="/ppt/presentation.xml" Id="Rf514f41674c64f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48a877d9b0411c"/>
  </p:sldMasterIdLst>
  <p:notesMasterIdLst>
    <p:notesMasterId xmlns:r="http://schemas.openxmlformats.org/officeDocument/2006/relationships" r:id="R50552bba12914457"/>
  </p:notesMasterIdLst>
  <p:sldIdLst>
    <p:sldId xmlns:r="http://schemas.openxmlformats.org/officeDocument/2006/relationships" id="256" r:id="Rcbe25fc2d86e42a9"/>
    <p:sldId xmlns:r="http://schemas.openxmlformats.org/officeDocument/2006/relationships" id="257" r:id="R38e11eb2dbc340e7"/>
    <p:sldId xmlns:r="http://schemas.openxmlformats.org/officeDocument/2006/relationships" id="258" r:id="Rdb21e37c1f064987"/>
    <p:sldId xmlns:r="http://schemas.openxmlformats.org/officeDocument/2006/relationships" id="259" r:id="R5a7e6ee9f0d841e1"/>
    <p:sldId xmlns:r="http://schemas.openxmlformats.org/officeDocument/2006/relationships" id="260" r:id="R1b85d0ac7ec142ea"/>
    <p:sldId xmlns:r="http://schemas.openxmlformats.org/officeDocument/2006/relationships" id="261" r:id="R3bab9365014c4f24"/>
    <p:sldId xmlns:r="http://schemas.openxmlformats.org/officeDocument/2006/relationships" id="262" r:id="R34b4d5d07d7a4c42"/>
    <p:sldId xmlns:r="http://schemas.openxmlformats.org/officeDocument/2006/relationships" id="263" r:id="Rcff8e672356c418e"/>
    <p:sldId xmlns:r="http://schemas.openxmlformats.org/officeDocument/2006/relationships" id="264" r:id="R3636863341494f0e"/>
    <p:sldId xmlns:r="http://schemas.openxmlformats.org/officeDocument/2006/relationships" id="265" r:id="R9d27cc8c168c4faa"/>
    <p:sldId xmlns:r="http://schemas.openxmlformats.org/officeDocument/2006/relationships" id="266" r:id="R77362c125769446f"/>
    <p:sldId xmlns:r="http://schemas.openxmlformats.org/officeDocument/2006/relationships" id="267" r:id="Rc142647eb5824489"/>
    <p:sldId xmlns:r="http://schemas.openxmlformats.org/officeDocument/2006/relationships" id="268" r:id="R75146867cd034877"/>
    <p:sldId xmlns:r="http://schemas.openxmlformats.org/officeDocument/2006/relationships" id="269" r:id="R4c5c72a64fe94537"/>
    <p:sldId xmlns:r="http://schemas.openxmlformats.org/officeDocument/2006/relationships" id="270" r:id="Rcc5ce94c1b844b14"/>
    <p:sldId xmlns:r="http://schemas.openxmlformats.org/officeDocument/2006/relationships" id="271" r:id="R24993d5a9588431e"/>
    <p:sldId xmlns:r="http://schemas.openxmlformats.org/officeDocument/2006/relationships" id="272" r:id="R2126f9a918ae4912"/>
    <p:sldId xmlns:r="http://schemas.openxmlformats.org/officeDocument/2006/relationships" id="273" r:id="Rf6add24f9c1742d9"/>
    <p:sldId xmlns:r="http://schemas.openxmlformats.org/officeDocument/2006/relationships" id="274" r:id="R8ee8ee62e6fa49f8"/>
    <p:sldId xmlns:r="http://schemas.openxmlformats.org/officeDocument/2006/relationships" id="275" r:id="Rf25ca410d91d495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d54651137f4293" /><Relationship Type="http://schemas.openxmlformats.org/officeDocument/2006/relationships/slideMaster" Target="/ppt/slideMasters/slideMaster1.xml" Id="Rad48a877d9b0411c" /><Relationship Type="http://schemas.openxmlformats.org/officeDocument/2006/relationships/notesMaster" Target="/ppt/notesMasters/notesMaster1.xml" Id="R50552bba12914457" /><Relationship Type="http://schemas.openxmlformats.org/officeDocument/2006/relationships/presProps" Target="/ppt/presProps.xml" Id="Rd54fd67b56ae4de4" /><Relationship Type="http://schemas.openxmlformats.org/officeDocument/2006/relationships/tableStyles" Target="/ppt/tableStyles.xml" Id="R49011696bfb04b84" /><Relationship Type="http://schemas.openxmlformats.org/officeDocument/2006/relationships/slide" Target="/ppt/slides/slide1.xml" Id="Rcbe25fc2d86e42a9" /><Relationship Type="http://schemas.openxmlformats.org/officeDocument/2006/relationships/slide" Target="/ppt/slides/slide2.xml" Id="R38e11eb2dbc340e7" /><Relationship Type="http://schemas.openxmlformats.org/officeDocument/2006/relationships/slide" Target="/ppt/slides/slide3.xml" Id="Rdb21e37c1f064987" /><Relationship Type="http://schemas.openxmlformats.org/officeDocument/2006/relationships/slide" Target="/ppt/slides/slide4.xml" Id="R5a7e6ee9f0d841e1" /><Relationship Type="http://schemas.openxmlformats.org/officeDocument/2006/relationships/slide" Target="/ppt/slides/slide5.xml" Id="R1b85d0ac7ec142ea" /><Relationship Type="http://schemas.openxmlformats.org/officeDocument/2006/relationships/slide" Target="/ppt/slides/slide6.xml" Id="R3bab9365014c4f24" /><Relationship Type="http://schemas.openxmlformats.org/officeDocument/2006/relationships/slide" Target="/ppt/slides/slide7.xml" Id="R34b4d5d07d7a4c42" /><Relationship Type="http://schemas.openxmlformats.org/officeDocument/2006/relationships/slide" Target="/ppt/slides/slide8.xml" Id="Rcff8e672356c418e" /><Relationship Type="http://schemas.openxmlformats.org/officeDocument/2006/relationships/slide" Target="/ppt/slides/slide9.xml" Id="R3636863341494f0e" /><Relationship Type="http://schemas.openxmlformats.org/officeDocument/2006/relationships/slide" Target="/ppt/slides/slide10.xml" Id="R9d27cc8c168c4faa" /><Relationship Type="http://schemas.openxmlformats.org/officeDocument/2006/relationships/slide" Target="/ppt/slides/slide11.xml" Id="R77362c125769446f" /><Relationship Type="http://schemas.openxmlformats.org/officeDocument/2006/relationships/slide" Target="/ppt/slides/slide12.xml" Id="Rc142647eb5824489" /><Relationship Type="http://schemas.openxmlformats.org/officeDocument/2006/relationships/slide" Target="/ppt/slides/slide13.xml" Id="R75146867cd034877" /><Relationship Type="http://schemas.openxmlformats.org/officeDocument/2006/relationships/slide" Target="/ppt/slides/slide14.xml" Id="R4c5c72a64fe94537" /><Relationship Type="http://schemas.openxmlformats.org/officeDocument/2006/relationships/slide" Target="/ppt/slides/slide15.xml" Id="Rcc5ce94c1b844b14" /><Relationship Type="http://schemas.openxmlformats.org/officeDocument/2006/relationships/slide" Target="/ppt/slides/slide16.xml" Id="R24993d5a9588431e" /><Relationship Type="http://schemas.openxmlformats.org/officeDocument/2006/relationships/slide" Target="/ppt/slides/slide17.xml" Id="R2126f9a918ae4912" /><Relationship Type="http://schemas.openxmlformats.org/officeDocument/2006/relationships/slide" Target="/ppt/slides/slide18.xml" Id="Rf6add24f9c1742d9" /><Relationship Type="http://schemas.openxmlformats.org/officeDocument/2006/relationships/slide" Target="/ppt/slides/slide19.xml" Id="R8ee8ee62e6fa49f8" /><Relationship Type="http://schemas.openxmlformats.org/officeDocument/2006/relationships/slide" Target="/ppt/slides/slide20.xml" Id="Rf25ca410d91d495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23b466d38949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2a8e184b864c4a" /><Relationship Type="http://schemas.openxmlformats.org/officeDocument/2006/relationships/notesMaster" Target="/ppt/notesMasters/notesMaster1.xml" Id="R91b570f130c547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36bb6179b04557" /><Relationship Type="http://schemas.openxmlformats.org/officeDocument/2006/relationships/notesMaster" Target="/ppt/notesMasters/notesMaster1.xml" Id="R71541b0a00d544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df9b8931d14274" /><Relationship Type="http://schemas.openxmlformats.org/officeDocument/2006/relationships/notesMaster" Target="/ppt/notesMasters/notesMaster1.xml" Id="R13d6146d446341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87e49aff8a4f16" /><Relationship Type="http://schemas.openxmlformats.org/officeDocument/2006/relationships/notesMaster" Target="/ppt/notesMasters/notesMaster1.xml" Id="R3ce4fbf7399c4e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4b56d38b7a4e1f" /><Relationship Type="http://schemas.openxmlformats.org/officeDocument/2006/relationships/notesMaster" Target="/ppt/notesMasters/notesMaster1.xml" Id="R93eff2fd494b4a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41dacf286343c7" /><Relationship Type="http://schemas.openxmlformats.org/officeDocument/2006/relationships/notesMaster" Target="/ppt/notesMasters/notesMaster1.xml" Id="Rf46db77d7fba41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7adafb6fbc4634" /><Relationship Type="http://schemas.openxmlformats.org/officeDocument/2006/relationships/notesMaster" Target="/ppt/notesMasters/notesMaster1.xml" Id="Rf9e5e07f36384f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59507897ce4f47" /><Relationship Type="http://schemas.openxmlformats.org/officeDocument/2006/relationships/notesMaster" Target="/ppt/notesMasters/notesMaster1.xml" Id="R9fcef39a01014e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f0540bd1e24e30" /><Relationship Type="http://schemas.openxmlformats.org/officeDocument/2006/relationships/notesMaster" Target="/ppt/notesMasters/notesMaster1.xml" Id="R577718adf85c46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35f7fea8ef4b85" /><Relationship Type="http://schemas.openxmlformats.org/officeDocument/2006/relationships/notesMaster" Target="/ppt/notesMasters/notesMaster1.xml" Id="R7337e353914144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37e197a6da4841" /><Relationship Type="http://schemas.openxmlformats.org/officeDocument/2006/relationships/notesMaster" Target="/ppt/notesMasters/notesMaster1.xml" Id="Rb4b98041bdad487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8c987b04bd4c3a" /><Relationship Type="http://schemas.openxmlformats.org/officeDocument/2006/relationships/notesMaster" Target="/ppt/notesMasters/notesMaster1.xml" Id="Rcd68393b668743f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7cefccac99e473e" /><Relationship Type="http://schemas.openxmlformats.org/officeDocument/2006/relationships/notesMaster" Target="/ppt/notesMasters/notesMaster1.xml" Id="R0eb11bb4f5724b9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4005af2a8a549e8" /><Relationship Type="http://schemas.openxmlformats.org/officeDocument/2006/relationships/notesMaster" Target="/ppt/notesMasters/notesMaster1.xml" Id="Rb2c4a52e8e8e4de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007cb39a7fb4542" /><Relationship Type="http://schemas.openxmlformats.org/officeDocument/2006/relationships/notesMaster" Target="/ppt/notesMasters/notesMaster1.xml" Id="Raf1b0e36cd124b3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227e0be01914b8a" /><Relationship Type="http://schemas.openxmlformats.org/officeDocument/2006/relationships/notesMaster" Target="/ppt/notesMasters/notesMaster1.xml" Id="R35fb0260d4b54ea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cb30449234d4267" /><Relationship Type="http://schemas.openxmlformats.org/officeDocument/2006/relationships/notesMaster" Target="/ppt/notesMasters/notesMaster1.xml" Id="Ra3d746986e494f0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9b3f7d334704d97" /><Relationship Type="http://schemas.openxmlformats.org/officeDocument/2006/relationships/notesMaster" Target="/ppt/notesMasters/notesMaster1.xml" Id="Rabb890c577e4411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0072118a74f43d6" /><Relationship Type="http://schemas.openxmlformats.org/officeDocument/2006/relationships/notesMaster" Target="/ppt/notesMasters/notesMaster1.xml" Id="R97a6296c09bd419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058e8ec91524509" /><Relationship Type="http://schemas.openxmlformats.org/officeDocument/2006/relationships/notesMaster" Target="/ppt/notesMasters/notesMaster1.xml" Id="R31c59bdb3e2740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开场只讲一件事：温度曲线是主角，算法是产生安全参数的方法。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outputs_embedded_demo/temperature_control_demo.html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解释输入 r、输出 T，以及为什么训练损失不能代替闭环曲线。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hvac_pid/embedded_demo.py#demo_scenario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顺时针讲完整回路。强调 LLM 不在 100 ms 循环里。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embedded/esp32_seven_algorithm_demo/src/main.cpp</a:t>
            </a:r>
          </a:p>
          <a:p xmlns:a="http://schemas.openxmlformats.org/drawingml/2006/main">
            <a:r>
              <a:t>- Local project: embedded/hvac_pid_controller.hpp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明确区分演示墙钟时间与物理时间。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data: outputs_embedded_demo/imc_temperature_demo.csv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用水龙头类比 P；用长期水位差类比 I。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hvac_pid/controllers.py</a:t>
            </a:r>
          </a:p>
          <a:p xmlns:a="http://schemas.openxmlformats.org/drawingml/2006/main">
            <a:r>
              <a:t>- Local project: embedded/hvac_pid_controller.hpp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 输入→算法工作→安全门→ESP32输出 的顺序讲解。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hvac_pid/embedded_demo.py</a:t>
            </a:r>
          </a:p>
          <a:p xmlns:a="http://schemas.openxmlformats.org/drawingml/2006/main">
            <a:r>
              <a:t>- Local data: outputs_embedded_demo/seven_algorithm_summary.csv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 输入→算法工作→安全门→ESP32输出 的顺序讲解。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hvac_pid/embedded_demo.py</a:t>
            </a:r>
          </a:p>
          <a:p xmlns:a="http://schemas.openxmlformats.org/drawingml/2006/main">
            <a:r>
              <a:t>- Local data: outputs_embedded_demo/seven_algorithm_summary.csv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 输入→算法工作→安全门→ESP32输出 的顺序讲解。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hvac_pid/embedded_demo.py</a:t>
            </a:r>
          </a:p>
          <a:p xmlns:a="http://schemas.openxmlformats.org/drawingml/2006/main">
            <a:r>
              <a:t>- Local data: outputs_embedded_demo/seven_algorithm_summary.csv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 输入→算法工作→安全门→ESP32输出 的顺序讲解。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hvac_pid/embedded_demo.py</a:t>
            </a:r>
          </a:p>
          <a:p xmlns:a="http://schemas.openxmlformats.org/drawingml/2006/main">
            <a:r>
              <a:t>- Local data: outputs_embedded_demo/seven_algorithm_summary.csv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 输入→算法工作→安全门→ESP32输出 的顺序讲解。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hvac_pid/embedded_demo.py</a:t>
            </a:r>
          </a:p>
          <a:p xmlns:a="http://schemas.openxmlformats.org/drawingml/2006/main">
            <a:r>
              <a:t>- Local data: outputs_embedded_demo/seven_algorithm_summary.csv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 输入→算法工作→安全门→ESP32输出 的顺序讲解。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hvac_pid/embedded_demo.py</a:t>
            </a:r>
          </a:p>
          <a:p xmlns:a="http://schemas.openxmlformats.org/drawingml/2006/main">
            <a:r>
              <a:t>- Local data: outputs_embedded_demo/seven_algorithm_summary.csv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 输入→算法工作→安全门→ESP32输出 的顺序讲解。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hvac_pid/advanced_tuning.py</a:t>
            </a:r>
          </a:p>
          <a:p xmlns:a="http://schemas.openxmlformats.org/drawingml/2006/main">
            <a:r>
              <a:t>- OpenAI Responses API: https://developers.openai.com/api/reference/cli/resources/responses/methods/create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强调速度分层与最终控制权。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hvac_pid/advanced_tuning.py</a:t>
            </a:r>
          </a:p>
          <a:p xmlns:a="http://schemas.openxmlformats.org/drawingml/2006/main">
            <a:r>
              <a:t>- OpenAI Responses API: https://developers.openai.com/api/reference/cli/resources/responses/methods/create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说明调度不是三个线程必须同时执行，而是三个周期性任务。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embedded/generated_demo_profiles.hpp</a:t>
            </a:r>
          </a:p>
          <a:p xmlns:a="http://schemas.openxmlformats.org/drawingml/2006/main">
            <a:r>
              <a:t>- Local project: embedded/esp32_seven_algorithm_demo/src/main.cpp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现场按这个固定顺序操作，避免先讲算法名词。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artifact: outputs_embedded_demo/temperature_control_demo.html</a:t>
            </a:r>
          </a:p>
          <a:p xmlns:a="http://schemas.openxmlformats.org/drawingml/2006/main">
            <a:r>
              <a:t>- Local app: streamlit_app.py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所有数字都是统一虚拟场景结果，不外推到真实设备。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data: outputs_embedded_demo/seven_algorithm_summary.csv</a:t>
            </a:r>
          </a:p>
          <a:p xmlns:a="http://schemas.openxmlformats.org/drawingml/2006/main">
            <a:r>
              <a:t>- Local data: outputs_embedded_demo/*_temperature_demo.csv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解释扰动恢复不是瞬间回到设定值，而是再次满足保持窗口。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data: outputs_embedded_demo/rl_temperature_demo.csv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这是报告可信度的关键一页。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data: outputs_embedded_demo/fnn_temperature_demo.csv</a:t>
            </a:r>
          </a:p>
          <a:p xmlns:a="http://schemas.openxmlformats.org/drawingml/2006/main">
            <a:r>
              <a:t>- Local data: outputs_adaptive_final_v2/fnn_training_history.csv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 RS-485 收发器与厂商寄存器表是接真机的前提。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embedded/modbus_config.hpp</a:t>
            </a:r>
          </a:p>
          <a:p xmlns:a="http://schemas.openxmlformats.org/drawingml/2006/main">
            <a:r>
              <a:t>- Local project: embedded/modbus_rtu_adapter.hpp</a:t>
            </a:r>
          </a:p>
          <a:p xmlns:a="http://schemas.openxmlformats.org/drawingml/2006/main">
            <a:r>
              <a:t>- Local project: embedded/esp32_seven_algorithm_demo/src/main.cpp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结尾回到开场问题：是否真的看见温度稳定，以及失败时是否安全。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project: tests/test_embedded_demo.py</a:t>
            </a:r>
          </a:p>
          <a:p xmlns:a="http://schemas.openxmlformats.org/drawingml/2006/main">
            <a:r>
              <a:t>- Local project: embedded/validate_esp32_serial.py</a:t>
            </a:r>
          </a:p>
          <a:p xmlns:a="http://schemas.openxmlformats.org/drawingml/2006/main">
            <a:r>
              <a:t>- Local artifact: outputs_embedded_demo/temperature_control_demo.html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30e031a15544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411b97f9ed4e11" /><Relationship Type="http://schemas.openxmlformats.org/officeDocument/2006/relationships/slideLayout" Target="/ppt/slideLayouts/slideLayout1.xml" Id="R7d8e2e8aea3242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8e2e8aea3242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7812b9da844eb" /><Relationship Type="http://schemas.openxmlformats.org/officeDocument/2006/relationships/notesSlide" Target="/ppt/notesSlides/notesSlide1.xml" Id="R1183ea5079e244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d2f5d7d9f4eaa" /><Relationship Type="http://schemas.openxmlformats.org/officeDocument/2006/relationships/notesSlide" Target="/ppt/notesSlides/notesSlide2.xml" Id="R5e8a2248191d44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98364e0e54a20" /><Relationship Type="http://schemas.openxmlformats.org/officeDocument/2006/relationships/notesSlide" Target="/ppt/notesSlides/notesSlide3.xml" Id="Rac03977a67e144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0df4141b345d7" /><Relationship Type="http://schemas.openxmlformats.org/officeDocument/2006/relationships/chart" Target="/ppt/slides/charts/chart1.xml" Id="R5aa5f55538304ac9" /><Relationship Type="http://schemas.openxmlformats.org/officeDocument/2006/relationships/notesSlide" Target="/ppt/notesSlides/notesSlide4.xml" Id="R8f25b860dcb541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5c4d457dd48bf" /><Relationship Type="http://schemas.openxmlformats.org/officeDocument/2006/relationships/notesSlide" Target="/ppt/notesSlides/notesSlide5.xml" Id="R2d25441b806c4e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1cd7d2eb154187" /><Relationship Type="http://schemas.openxmlformats.org/officeDocument/2006/relationships/notesSlide" Target="/ppt/notesSlides/notesSlide6.xml" Id="R69022cbcc3e14b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a55ac24d14b10" /><Relationship Type="http://schemas.openxmlformats.org/officeDocument/2006/relationships/notesSlide" Target="/ppt/notesSlides/notesSlide7.xml" Id="R2fb5e564fe1240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ee53a395545d4" /><Relationship Type="http://schemas.openxmlformats.org/officeDocument/2006/relationships/notesSlide" Target="/ppt/notesSlides/notesSlide8.xml" Id="R42c5ba493ee548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d1f4c25ab44a7a" /><Relationship Type="http://schemas.openxmlformats.org/officeDocument/2006/relationships/notesSlide" Target="/ppt/notesSlides/notesSlide9.xml" Id="Rca7b81a6b58a47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61b4abcf849ef" /><Relationship Type="http://schemas.openxmlformats.org/officeDocument/2006/relationships/notesSlide" Target="/ppt/notesSlides/notesSlide10.xml" Id="R7502167ccbfc41e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2440223354884" /><Relationship Type="http://schemas.openxmlformats.org/officeDocument/2006/relationships/notesSlide" Target="/ppt/notesSlides/notesSlide11.xml" Id="Re0a0922e40c4457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31736d587414f" /><Relationship Type="http://schemas.openxmlformats.org/officeDocument/2006/relationships/notesSlide" Target="/ppt/notesSlides/notesSlide12.xml" Id="R8f11c06222b743d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601f53bc04c29" /><Relationship Type="http://schemas.openxmlformats.org/officeDocument/2006/relationships/notesSlide" Target="/ppt/notesSlides/notesSlide13.xml" Id="R8e65f6e4aeca45e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3b7382ed24285" /><Relationship Type="http://schemas.openxmlformats.org/officeDocument/2006/relationships/notesSlide" Target="/ppt/notesSlides/notesSlide14.xml" Id="R84ca3a575e9d48c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7f746c6d2e412f" /><Relationship Type="http://schemas.openxmlformats.org/officeDocument/2006/relationships/notesSlide" Target="/ppt/notesSlides/notesSlide15.xml" Id="Rc34a6926fc3244b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58d0741394aaf" /><Relationship Type="http://schemas.openxmlformats.org/officeDocument/2006/relationships/chart" Target="/ppt/slides/charts/chart2.xml" Id="R2d10bd2294e0426f" /><Relationship Type="http://schemas.openxmlformats.org/officeDocument/2006/relationships/notesSlide" Target="/ppt/notesSlides/notesSlide16.xml" Id="Rd4a570cda33e416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861d9e3e242ef" /><Relationship Type="http://schemas.openxmlformats.org/officeDocument/2006/relationships/chart" Target="/ppt/slides/charts/chart3.xml" Id="Rf0c3655b2c264742" /><Relationship Type="http://schemas.openxmlformats.org/officeDocument/2006/relationships/notesSlide" Target="/ppt/notesSlides/notesSlide17.xml" Id="R8f54bb41668e489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0f276c153e4463" /><Relationship Type="http://schemas.openxmlformats.org/officeDocument/2006/relationships/chart" Target="/ppt/slides/charts/chart4.xml" Id="Rfdfb8f2338524e05" /><Relationship Type="http://schemas.openxmlformats.org/officeDocument/2006/relationships/notesSlide" Target="/ppt/notesSlides/notesSlide18.xml" Id="R984e9f6b7534468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0c0cbdbd14471d" /><Relationship Type="http://schemas.openxmlformats.org/officeDocument/2006/relationships/notesSlide" Target="/ppt/notesSlides/notesSlide19.xml" Id="Rc305e95367534bd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d6108dfb642c4" /><Relationship Type="http://schemas.openxmlformats.org/officeDocument/2006/relationships/notesSlide" Target="/ppt/notesSlides/notesSlide20.xml" Id="R62044ac028f04ec4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IMC实际温度</c:v>
          </c:tx>
          <c:spPr>
            <a:solidFill xmlns:a="http://schemas.openxmlformats.org/drawingml/2006/main">
              <a:srgbClr val="17864B"/>
            </a:solidFill>
          </c:spPr>
          <c:marker>
            <c:symbol val="none"/>
          </c:marker>
          <c:cat>
            <c:numLit>
              <c:formatCode>General</c:formatCode>
              <c:ptCount val="21"/>
              <c:pt idx="0">
                <c:v>0</c:v>
              </c:pt>
              <c:pt idx="1">
                <c:v>15</c:v>
              </c:pt>
              <c:pt idx="2">
                <c:v>30</c:v>
              </c:pt>
              <c:pt idx="3">
                <c:v>45</c:v>
              </c:pt>
              <c:pt idx="4">
                <c:v>60</c:v>
              </c:pt>
              <c:pt idx="5">
                <c:v>75</c:v>
              </c:pt>
              <c:pt idx="6">
                <c:v>90</c:v>
              </c:pt>
              <c:pt idx="7">
                <c:v>105</c:v>
              </c:pt>
              <c:pt idx="8">
                <c:v>120</c:v>
              </c:pt>
              <c:pt idx="9">
                <c:v>135</c:v>
              </c:pt>
              <c:pt idx="10">
                <c:v>150</c:v>
              </c:pt>
              <c:pt idx="11">
                <c:v>165</c:v>
              </c:pt>
              <c:pt idx="12">
                <c:v>180</c:v>
              </c:pt>
              <c:pt idx="13">
                <c:v>195</c:v>
              </c:pt>
              <c:pt idx="14">
                <c:v>210</c:v>
              </c:pt>
              <c:pt idx="15">
                <c:v>225</c:v>
              </c:pt>
              <c:pt idx="16">
                <c:v>240</c:v>
              </c:pt>
              <c:pt idx="17">
                <c:v>255</c:v>
              </c:pt>
              <c:pt idx="18">
                <c:v>270</c:v>
              </c:pt>
              <c:pt idx="19">
                <c:v>285</c:v>
              </c:pt>
              <c:pt idx="20">
                <c:v>300</c:v>
              </c:pt>
            </c:numLit>
          </c:cat>
          <c:val>
            <c:numLit>
              <c:formatCode>General</c:formatCode>
              <c:ptCount val="21"/>
              <c:pt idx="0">
                <c:v>30.04807303777551</c:v>
              </c:pt>
              <c:pt idx="1">
                <c:v>28.953933927588526</c:v>
              </c:pt>
              <c:pt idx="2">
                <c:v>25.235701417188686</c:v>
              </c:pt>
              <c:pt idx="3">
                <c:v>23.199304737147088</c:v>
              </c:pt>
              <c:pt idx="4">
                <c:v>24.757771821596208</c:v>
              </c:pt>
              <c:pt idx="5">
                <c:v>24.704697338301465</c:v>
              </c:pt>
              <c:pt idx="6">
                <c:v>24.23085260593836</c:v>
              </c:pt>
              <c:pt idx="7">
                <c:v>24.498199354386998</c:v>
              </c:pt>
              <c:pt idx="8">
                <c:v>24.403388604800195</c:v>
              </c:pt>
              <c:pt idx="9">
                <c:v>24.298514948691423</c:v>
              </c:pt>
              <c:pt idx="10">
                <c:v>24.40849200757383</c:v>
              </c:pt>
              <c:pt idx="11">
                <c:v>24.24119105315035</c:v>
              </c:pt>
              <c:pt idx="12">
                <c:v>24.279187839314023</c:v>
              </c:pt>
              <c:pt idx="13">
                <c:v>25.135114564621606</c:v>
              </c:pt>
              <c:pt idx="14">
                <c:v>24.286590061981233</c:v>
              </c:pt>
              <c:pt idx="15">
                <c:v>23.27321446768275</c:v>
              </c:pt>
              <c:pt idx="16">
                <c:v>24.587376996193736</c:v>
              </c:pt>
              <c:pt idx="17">
                <c:v>23.871837946282966</c:v>
              </c:pt>
              <c:pt idx="18">
                <c:v>23.894507205167724</c:v>
              </c:pt>
              <c:pt idx="19">
                <c:v>24.15076081784099</c:v>
              </c:pt>
              <c:pt idx="20">
                <c:v>24.02822863157463</c:v>
              </c:pt>
            </c:numLit>
          </c:val>
        </c:ser>
        <c:ser>
          <c:idx val="1"/>
          <c:order val="1"/>
          <c:tx>
            <c:v>目标 24°C</c:v>
          </c:tx>
          <c:spPr>
            <a:solidFill xmlns:a="http://schemas.openxmlformats.org/drawingml/2006/main">
              <a:srgbClr val="0F172A"/>
            </a:solidFill>
          </c:spPr>
          <c:marker>
            <c:symbol val="none"/>
          </c:marker>
          <c:cat>
            <c:numLit>
              <c:formatCode>General</c:formatCode>
              <c:ptCount val="21"/>
              <c:pt idx="0">
                <c:v>0</c:v>
              </c:pt>
              <c:pt idx="1">
                <c:v>15</c:v>
              </c:pt>
              <c:pt idx="2">
                <c:v>30</c:v>
              </c:pt>
              <c:pt idx="3">
                <c:v>45</c:v>
              </c:pt>
              <c:pt idx="4">
                <c:v>60</c:v>
              </c:pt>
              <c:pt idx="5">
                <c:v>75</c:v>
              </c:pt>
              <c:pt idx="6">
                <c:v>90</c:v>
              </c:pt>
              <c:pt idx="7">
                <c:v>105</c:v>
              </c:pt>
              <c:pt idx="8">
                <c:v>120</c:v>
              </c:pt>
              <c:pt idx="9">
                <c:v>135</c:v>
              </c:pt>
              <c:pt idx="10">
                <c:v>150</c:v>
              </c:pt>
              <c:pt idx="11">
                <c:v>165</c:v>
              </c:pt>
              <c:pt idx="12">
                <c:v>180</c:v>
              </c:pt>
              <c:pt idx="13">
                <c:v>195</c:v>
              </c:pt>
              <c:pt idx="14">
                <c:v>210</c:v>
              </c:pt>
              <c:pt idx="15">
                <c:v>225</c:v>
              </c:pt>
              <c:pt idx="16">
                <c:v>240</c:v>
              </c:pt>
              <c:pt idx="17">
                <c:v>255</c:v>
              </c:pt>
              <c:pt idx="18">
                <c:v>270</c:v>
              </c:pt>
              <c:pt idx="19">
                <c:v>285</c:v>
              </c:pt>
              <c:pt idx="20">
                <c:v>300</c:v>
              </c:pt>
            </c:numLit>
          </c:cat>
          <c:val>
            <c:numLit>
              <c:formatCode>General</c:formatCode>
              <c:ptCount val="21"/>
              <c:pt idx="0">
                <c:v>24</c:v>
              </c:pt>
              <c:pt idx="1">
                <c:v>24</c:v>
              </c:pt>
              <c:pt idx="2">
                <c:v>24</c:v>
              </c:pt>
              <c:pt idx="3">
                <c:v>24</c:v>
              </c:pt>
              <c:pt idx="4">
                <c:v>24</c:v>
              </c:pt>
              <c:pt idx="5">
                <c:v>24</c:v>
              </c:pt>
              <c:pt idx="6">
                <c:v>24</c:v>
              </c:pt>
              <c:pt idx="7">
                <c:v>24</c:v>
              </c:pt>
              <c:pt idx="8">
                <c:v>24</c:v>
              </c:pt>
              <c:pt idx="9">
                <c:v>24</c:v>
              </c:pt>
              <c:pt idx="10">
                <c:v>24</c:v>
              </c:pt>
              <c:pt idx="11">
                <c:v>24</c:v>
              </c:pt>
              <c:pt idx="12">
                <c:v>24</c:v>
              </c:pt>
              <c:pt idx="13">
                <c:v>24</c:v>
              </c:pt>
              <c:pt idx="14">
                <c:v>24</c:v>
              </c:pt>
              <c:pt idx="15">
                <c:v>24</c:v>
              </c:pt>
              <c:pt idx="16">
                <c:v>24</c:v>
              </c:pt>
              <c:pt idx="17">
                <c:v>24</c:v>
              </c:pt>
              <c:pt idx="18">
                <c:v>24</c:v>
              </c:pt>
              <c:pt idx="19">
                <c:v>24</c:v>
              </c:pt>
              <c:pt idx="20">
                <c:v>24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2E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模拟物理时间 / min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1"/>
          <c:min val="22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室内温度 / °C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1"/>
      </c:valAx>
    </c:plotArea>
    <c:legend>
      <c:legendPos val="b"/>
      <c:overlay val="0"/>
    </c:legend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Z-N</c:v>
          </c:tx>
          <c:spPr>
            <a:solidFill xmlns:a="http://schemas.openxmlformats.org/drawingml/2006/main">
              <a:srgbClr val="C43D4B"/>
            </a:solidFill>
          </c:spPr>
          <c:marker>
            <c:symbol val="none"/>
          </c:marker>
          <c:cat>
            <c:numLit>
              <c:formatCode>General</c:formatCode>
              <c:ptCount val="21"/>
              <c:pt idx="0">
                <c:v>0</c:v>
              </c:pt>
              <c:pt idx="1">
                <c:v>15</c:v>
              </c:pt>
              <c:pt idx="2">
                <c:v>30</c:v>
              </c:pt>
              <c:pt idx="3">
                <c:v>45</c:v>
              </c:pt>
              <c:pt idx="4">
                <c:v>60</c:v>
              </c:pt>
              <c:pt idx="5">
                <c:v>75</c:v>
              </c:pt>
              <c:pt idx="6">
                <c:v>90</c:v>
              </c:pt>
              <c:pt idx="7">
                <c:v>105</c:v>
              </c:pt>
              <c:pt idx="8">
                <c:v>120</c:v>
              </c:pt>
              <c:pt idx="9">
                <c:v>135</c:v>
              </c:pt>
              <c:pt idx="10">
                <c:v>150</c:v>
              </c:pt>
              <c:pt idx="11">
                <c:v>165</c:v>
              </c:pt>
              <c:pt idx="12">
                <c:v>180</c:v>
              </c:pt>
              <c:pt idx="13">
                <c:v>195</c:v>
              </c:pt>
              <c:pt idx="14">
                <c:v>210</c:v>
              </c:pt>
              <c:pt idx="15">
                <c:v>225</c:v>
              </c:pt>
              <c:pt idx="16">
                <c:v>240</c:v>
              </c:pt>
              <c:pt idx="17">
                <c:v>255</c:v>
              </c:pt>
              <c:pt idx="18">
                <c:v>270</c:v>
              </c:pt>
              <c:pt idx="19">
                <c:v>285</c:v>
              </c:pt>
              <c:pt idx="20">
                <c:v>300</c:v>
              </c:pt>
            </c:numLit>
          </c:cat>
          <c:val>
            <c:numLit>
              <c:formatCode>General</c:formatCode>
              <c:ptCount val="21"/>
              <c:pt idx="0">
                <c:v>30.04807303777551</c:v>
              </c:pt>
              <c:pt idx="1">
                <c:v>28.953933927588526</c:v>
              </c:pt>
              <c:pt idx="2">
                <c:v>25.235701417188686</c:v>
              </c:pt>
              <c:pt idx="3">
                <c:v>23.199304737147088</c:v>
              </c:pt>
              <c:pt idx="4">
                <c:v>24.757771821596208</c:v>
              </c:pt>
              <c:pt idx="5">
                <c:v>24.704697338301465</c:v>
              </c:pt>
              <c:pt idx="6">
                <c:v>24.23085260593836</c:v>
              </c:pt>
              <c:pt idx="7">
                <c:v>24.498199354386998</c:v>
              </c:pt>
              <c:pt idx="8">
                <c:v>24.403388604800195</c:v>
              </c:pt>
              <c:pt idx="9">
                <c:v>24.298514948691423</c:v>
              </c:pt>
              <c:pt idx="10">
                <c:v>24.40849200757383</c:v>
              </c:pt>
              <c:pt idx="11">
                <c:v>24.24119105315035</c:v>
              </c:pt>
              <c:pt idx="12">
                <c:v>24.279187839314023</c:v>
              </c:pt>
              <c:pt idx="13">
                <c:v>25.135114564621606</c:v>
              </c:pt>
              <c:pt idx="14">
                <c:v>24.286590061981233</c:v>
              </c:pt>
              <c:pt idx="15">
                <c:v>23.27321446768275</c:v>
              </c:pt>
              <c:pt idx="16">
                <c:v>24.587376996193736</c:v>
              </c:pt>
              <c:pt idx="17">
                <c:v>23.871837946282966</c:v>
              </c:pt>
              <c:pt idx="18">
                <c:v>23.894507205167724</c:v>
              </c:pt>
              <c:pt idx="19">
                <c:v>24.15076081784099</c:v>
              </c:pt>
              <c:pt idx="20">
                <c:v>24.02822863157463</c:v>
              </c:pt>
            </c:numLit>
          </c:val>
        </c:ser>
        <c:ser>
          <c:idx val="1"/>
          <c:order val="1"/>
          <c:tx>
            <c:v>IMC</c:v>
          </c:tx>
          <c:spPr>
            <a:solidFill xmlns:a="http://schemas.openxmlformats.org/drawingml/2006/main">
              <a:srgbClr val="17864B"/>
            </a:solidFill>
          </c:spPr>
          <c:marker>
            <c:symbol val="none"/>
          </c:marker>
          <c:cat>
            <c:numLit>
              <c:formatCode>General</c:formatCode>
              <c:ptCount val="21"/>
              <c:pt idx="0">
                <c:v>0</c:v>
              </c:pt>
              <c:pt idx="1">
                <c:v>15</c:v>
              </c:pt>
              <c:pt idx="2">
                <c:v>30</c:v>
              </c:pt>
              <c:pt idx="3">
                <c:v>45</c:v>
              </c:pt>
              <c:pt idx="4">
                <c:v>60</c:v>
              </c:pt>
              <c:pt idx="5">
                <c:v>75</c:v>
              </c:pt>
              <c:pt idx="6">
                <c:v>90</c:v>
              </c:pt>
              <c:pt idx="7">
                <c:v>105</c:v>
              </c:pt>
              <c:pt idx="8">
                <c:v>120</c:v>
              </c:pt>
              <c:pt idx="9">
                <c:v>135</c:v>
              </c:pt>
              <c:pt idx="10">
                <c:v>150</c:v>
              </c:pt>
              <c:pt idx="11">
                <c:v>165</c:v>
              </c:pt>
              <c:pt idx="12">
                <c:v>180</c:v>
              </c:pt>
              <c:pt idx="13">
                <c:v>195</c:v>
              </c:pt>
              <c:pt idx="14">
                <c:v>210</c:v>
              </c:pt>
              <c:pt idx="15">
                <c:v>225</c:v>
              </c:pt>
              <c:pt idx="16">
                <c:v>240</c:v>
              </c:pt>
              <c:pt idx="17">
                <c:v>255</c:v>
              </c:pt>
              <c:pt idx="18">
                <c:v>270</c:v>
              </c:pt>
              <c:pt idx="19">
                <c:v>285</c:v>
              </c:pt>
              <c:pt idx="20">
                <c:v>300</c:v>
              </c:pt>
            </c:numLit>
          </c:cat>
          <c:val>
            <c:numLit>
              <c:formatCode>General</c:formatCode>
              <c:ptCount val="21"/>
              <c:pt idx="0">
                <c:v>30.04807303777551</c:v>
              </c:pt>
              <c:pt idx="1">
                <c:v>28.953933927588526</c:v>
              </c:pt>
              <c:pt idx="2">
                <c:v>25.235701417188686</c:v>
              </c:pt>
              <c:pt idx="3">
                <c:v>23.199304737147088</c:v>
              </c:pt>
              <c:pt idx="4">
                <c:v>24.757771821596208</c:v>
              </c:pt>
              <c:pt idx="5">
                <c:v>24.704697338301465</c:v>
              </c:pt>
              <c:pt idx="6">
                <c:v>24.23085260593836</c:v>
              </c:pt>
              <c:pt idx="7">
                <c:v>24.498199354386998</c:v>
              </c:pt>
              <c:pt idx="8">
                <c:v>24.403388604800195</c:v>
              </c:pt>
              <c:pt idx="9">
                <c:v>24.298514948691423</c:v>
              </c:pt>
              <c:pt idx="10">
                <c:v>24.40849200757383</c:v>
              </c:pt>
              <c:pt idx="11">
                <c:v>24.24119105315035</c:v>
              </c:pt>
              <c:pt idx="12">
                <c:v>24.279187839314023</c:v>
              </c:pt>
              <c:pt idx="13">
                <c:v>25.135114564621606</c:v>
              </c:pt>
              <c:pt idx="14">
                <c:v>24.286590061981233</c:v>
              </c:pt>
              <c:pt idx="15">
                <c:v>23.27321446768275</c:v>
              </c:pt>
              <c:pt idx="16">
                <c:v>24.587376996193736</c:v>
              </c:pt>
              <c:pt idx="17">
                <c:v>23.871837946282966</c:v>
              </c:pt>
              <c:pt idx="18">
                <c:v>23.894507205167724</c:v>
              </c:pt>
              <c:pt idx="19">
                <c:v>24.15076081784099</c:v>
              </c:pt>
              <c:pt idx="20">
                <c:v>24.02822863157463</c:v>
              </c:pt>
            </c:numLit>
          </c:val>
        </c:ser>
        <c:ser>
          <c:idx val="2"/>
          <c:order val="2"/>
          <c:tx>
            <c:v>普通 BO</c:v>
          </c:tx>
          <c:spPr>
            <a:solidFill xmlns:a="http://schemas.openxmlformats.org/drawingml/2006/main">
              <a:srgbClr val="1677FF"/>
            </a:solidFill>
          </c:spPr>
          <c:marker>
            <c:symbol val="none"/>
          </c:marker>
          <c:cat>
            <c:numLit>
              <c:formatCode>General</c:formatCode>
              <c:ptCount val="21"/>
              <c:pt idx="0">
                <c:v>0</c:v>
              </c:pt>
              <c:pt idx="1">
                <c:v>15</c:v>
              </c:pt>
              <c:pt idx="2">
                <c:v>30</c:v>
              </c:pt>
              <c:pt idx="3">
                <c:v>45</c:v>
              </c:pt>
              <c:pt idx="4">
                <c:v>60</c:v>
              </c:pt>
              <c:pt idx="5">
                <c:v>75</c:v>
              </c:pt>
              <c:pt idx="6">
                <c:v>90</c:v>
              </c:pt>
              <c:pt idx="7">
                <c:v>105</c:v>
              </c:pt>
              <c:pt idx="8">
                <c:v>120</c:v>
              </c:pt>
              <c:pt idx="9">
                <c:v>135</c:v>
              </c:pt>
              <c:pt idx="10">
                <c:v>150</c:v>
              </c:pt>
              <c:pt idx="11">
                <c:v>165</c:v>
              </c:pt>
              <c:pt idx="12">
                <c:v>180</c:v>
              </c:pt>
              <c:pt idx="13">
                <c:v>195</c:v>
              </c:pt>
              <c:pt idx="14">
                <c:v>210</c:v>
              </c:pt>
              <c:pt idx="15">
                <c:v>225</c:v>
              </c:pt>
              <c:pt idx="16">
                <c:v>240</c:v>
              </c:pt>
              <c:pt idx="17">
                <c:v>255</c:v>
              </c:pt>
              <c:pt idx="18">
                <c:v>270</c:v>
              </c:pt>
              <c:pt idx="19">
                <c:v>285</c:v>
              </c:pt>
              <c:pt idx="20">
                <c:v>300</c:v>
              </c:pt>
            </c:numLit>
          </c:cat>
          <c:val>
            <c:numLit>
              <c:formatCode>General</c:formatCode>
              <c:ptCount val="21"/>
              <c:pt idx="0">
                <c:v>30.04807303777551</c:v>
              </c:pt>
              <c:pt idx="1">
                <c:v>28.953933927588526</c:v>
              </c:pt>
              <c:pt idx="2">
                <c:v>25.235701417188686</c:v>
              </c:pt>
              <c:pt idx="3">
                <c:v>22.971368729578135</c:v>
              </c:pt>
              <c:pt idx="4">
                <c:v>24.551173812897307</c:v>
              </c:pt>
              <c:pt idx="5">
                <c:v>24.608911618034746</c:v>
              </c:pt>
              <c:pt idx="6">
                <c:v>23.95615419822128</c:v>
              </c:pt>
              <c:pt idx="7">
                <c:v>24.747208721355193</c:v>
              </c:pt>
              <c:pt idx="8">
                <c:v>23.817292069957812</c:v>
              </c:pt>
              <c:pt idx="9">
                <c:v>24.630936564030097</c:v>
              </c:pt>
              <c:pt idx="10">
                <c:v>23.967148938305787</c:v>
              </c:pt>
              <c:pt idx="11">
                <c:v>24.24101667935285</c:v>
              </c:pt>
              <c:pt idx="12">
                <c:v>24.200652016110386</c:v>
              </c:pt>
              <c:pt idx="13">
                <c:v>24.88118454746474</c:v>
              </c:pt>
              <c:pt idx="14">
                <c:v>24.410492551180745</c:v>
              </c:pt>
              <c:pt idx="15">
                <c:v>22.795584505162356</c:v>
              </c:pt>
              <c:pt idx="16">
                <c:v>24.367345142277795</c:v>
              </c:pt>
              <c:pt idx="17">
                <c:v>23.885288530619924</c:v>
              </c:pt>
              <c:pt idx="18">
                <c:v>23.994370950354977</c:v>
              </c:pt>
              <c:pt idx="19">
                <c:v>24.176044411187206</c:v>
              </c:pt>
              <c:pt idx="20">
                <c:v>23.651215115025323</c:v>
              </c:pt>
            </c:numLit>
          </c:val>
        </c:ser>
        <c:ser>
          <c:idx val="3"/>
          <c:order val="3"/>
          <c:tx>
            <c:v>安全 BO</c:v>
          </c:tx>
          <c:spPr>
            <a:solidFill xmlns:a="http://schemas.openxmlformats.org/drawingml/2006/main">
              <a:srgbClr val="00A6A6"/>
            </a:solidFill>
          </c:spPr>
          <c:marker>
            <c:symbol val="none"/>
          </c:marker>
          <c:cat>
            <c:numLit>
              <c:formatCode>General</c:formatCode>
              <c:ptCount val="21"/>
              <c:pt idx="0">
                <c:v>0</c:v>
              </c:pt>
              <c:pt idx="1">
                <c:v>15</c:v>
              </c:pt>
              <c:pt idx="2">
                <c:v>30</c:v>
              </c:pt>
              <c:pt idx="3">
                <c:v>45</c:v>
              </c:pt>
              <c:pt idx="4">
                <c:v>60</c:v>
              </c:pt>
              <c:pt idx="5">
                <c:v>75</c:v>
              </c:pt>
              <c:pt idx="6">
                <c:v>90</c:v>
              </c:pt>
              <c:pt idx="7">
                <c:v>105</c:v>
              </c:pt>
              <c:pt idx="8">
                <c:v>120</c:v>
              </c:pt>
              <c:pt idx="9">
                <c:v>135</c:v>
              </c:pt>
              <c:pt idx="10">
                <c:v>150</c:v>
              </c:pt>
              <c:pt idx="11">
                <c:v>165</c:v>
              </c:pt>
              <c:pt idx="12">
                <c:v>180</c:v>
              </c:pt>
              <c:pt idx="13">
                <c:v>195</c:v>
              </c:pt>
              <c:pt idx="14">
                <c:v>210</c:v>
              </c:pt>
              <c:pt idx="15">
                <c:v>225</c:v>
              </c:pt>
              <c:pt idx="16">
                <c:v>240</c:v>
              </c:pt>
              <c:pt idx="17">
                <c:v>255</c:v>
              </c:pt>
              <c:pt idx="18">
                <c:v>270</c:v>
              </c:pt>
              <c:pt idx="19">
                <c:v>285</c:v>
              </c:pt>
              <c:pt idx="20">
                <c:v>300</c:v>
              </c:pt>
            </c:numLit>
          </c:cat>
          <c:val>
            <c:numLit>
              <c:formatCode>General</c:formatCode>
              <c:ptCount val="21"/>
              <c:pt idx="0">
                <c:v>30.04807303777551</c:v>
              </c:pt>
              <c:pt idx="1">
                <c:v>28.953933927588526</c:v>
              </c:pt>
              <c:pt idx="2">
                <c:v>25.235701417188686</c:v>
              </c:pt>
              <c:pt idx="3">
                <c:v>23.33498642370048</c:v>
              </c:pt>
              <c:pt idx="4">
                <c:v>24.8573767942899</c:v>
              </c:pt>
              <c:pt idx="5">
                <c:v>24.68243999070913</c:v>
              </c:pt>
              <c:pt idx="6">
                <c:v>24.186897348614604</c:v>
              </c:pt>
              <c:pt idx="7">
                <c:v>24.422639233239856</c:v>
              </c:pt>
              <c:pt idx="8">
                <c:v>24.290700507057796</c:v>
              </c:pt>
              <c:pt idx="9">
                <c:v>24.192722212576747</c:v>
              </c:pt>
              <c:pt idx="10">
                <c:v>24.264264446562223</c:v>
              </c:pt>
              <c:pt idx="11">
                <c:v>24.14856645415654</c:v>
              </c:pt>
              <c:pt idx="12">
                <c:v>24.128715179151804</c:v>
              </c:pt>
              <c:pt idx="13">
                <c:v>25.020968808541568</c:v>
              </c:pt>
              <c:pt idx="14">
                <c:v>24.33208335369837</c:v>
              </c:pt>
              <c:pt idx="15">
                <c:v>23.168039127356543</c:v>
              </c:pt>
              <c:pt idx="16">
                <c:v>24.375863996706617</c:v>
              </c:pt>
              <c:pt idx="17">
                <c:v>23.8708109341658</c:v>
              </c:pt>
              <c:pt idx="18">
                <c:v>23.854098669092373</c:v>
              </c:pt>
              <c:pt idx="19">
                <c:v>24.051650602311433</c:v>
              </c:pt>
              <c:pt idx="20">
                <c:v>23.943203114338953</c:v>
              </c:pt>
            </c:numLit>
          </c:val>
        </c:ser>
        <c:ser>
          <c:idx val="4"/>
          <c:order val="4"/>
          <c:tx>
            <c:v>FNN</c:v>
          </c:tx>
          <c:spPr>
            <a:solidFill xmlns:a="http://schemas.openxmlformats.org/drawingml/2006/main">
              <a:srgbClr val="E37A12"/>
            </a:solidFill>
          </c:spPr>
          <c:marker>
            <c:symbol val="none"/>
          </c:marker>
          <c:cat>
            <c:numLit>
              <c:formatCode>General</c:formatCode>
              <c:ptCount val="21"/>
              <c:pt idx="0">
                <c:v>0</c:v>
              </c:pt>
              <c:pt idx="1">
                <c:v>15</c:v>
              </c:pt>
              <c:pt idx="2">
                <c:v>30</c:v>
              </c:pt>
              <c:pt idx="3">
                <c:v>45</c:v>
              </c:pt>
              <c:pt idx="4">
                <c:v>60</c:v>
              </c:pt>
              <c:pt idx="5">
                <c:v>75</c:v>
              </c:pt>
              <c:pt idx="6">
                <c:v>90</c:v>
              </c:pt>
              <c:pt idx="7">
                <c:v>105</c:v>
              </c:pt>
              <c:pt idx="8">
                <c:v>120</c:v>
              </c:pt>
              <c:pt idx="9">
                <c:v>135</c:v>
              </c:pt>
              <c:pt idx="10">
                <c:v>150</c:v>
              </c:pt>
              <c:pt idx="11">
                <c:v>165</c:v>
              </c:pt>
              <c:pt idx="12">
                <c:v>180</c:v>
              </c:pt>
              <c:pt idx="13">
                <c:v>195</c:v>
              </c:pt>
              <c:pt idx="14">
                <c:v>210</c:v>
              </c:pt>
              <c:pt idx="15">
                <c:v>225</c:v>
              </c:pt>
              <c:pt idx="16">
                <c:v>240</c:v>
              </c:pt>
              <c:pt idx="17">
                <c:v>255</c:v>
              </c:pt>
              <c:pt idx="18">
                <c:v>270</c:v>
              </c:pt>
              <c:pt idx="19">
                <c:v>285</c:v>
              </c:pt>
              <c:pt idx="20">
                <c:v>300</c:v>
              </c:pt>
            </c:numLit>
          </c:cat>
          <c:val>
            <c:numLit>
              <c:formatCode>General</c:formatCode>
              <c:ptCount val="21"/>
              <c:pt idx="0">
                <c:v>30.04807303777551</c:v>
              </c:pt>
              <c:pt idx="1">
                <c:v>28.953933927588526</c:v>
              </c:pt>
              <c:pt idx="2">
                <c:v>25.235701417188686</c:v>
              </c:pt>
              <c:pt idx="3">
                <c:v>23.199304737147088</c:v>
              </c:pt>
              <c:pt idx="4">
                <c:v>24.757771821596208</c:v>
              </c:pt>
              <c:pt idx="5">
                <c:v>24.704697338301465</c:v>
              </c:pt>
              <c:pt idx="6">
                <c:v>24.23085260593836</c:v>
              </c:pt>
              <c:pt idx="7">
                <c:v>24.498199354386998</c:v>
              </c:pt>
              <c:pt idx="8">
                <c:v>24.403388604800195</c:v>
              </c:pt>
              <c:pt idx="9">
                <c:v>24.298514948691423</c:v>
              </c:pt>
              <c:pt idx="10">
                <c:v>24.40849200757383</c:v>
              </c:pt>
              <c:pt idx="11">
                <c:v>24.24119105315035</c:v>
              </c:pt>
              <c:pt idx="12">
                <c:v>24.279187839314023</c:v>
              </c:pt>
              <c:pt idx="13">
                <c:v>25.135114564621606</c:v>
              </c:pt>
              <c:pt idx="14">
                <c:v>24.286590061981233</c:v>
              </c:pt>
              <c:pt idx="15">
                <c:v>23.27321446768275</c:v>
              </c:pt>
              <c:pt idx="16">
                <c:v>24.587376996193736</c:v>
              </c:pt>
              <c:pt idx="17">
                <c:v>23.871837946282966</c:v>
              </c:pt>
              <c:pt idx="18">
                <c:v>23.894507205167724</c:v>
              </c:pt>
              <c:pt idx="19">
                <c:v>24.15076081784099</c:v>
              </c:pt>
              <c:pt idx="20">
                <c:v>24.02822863157463</c:v>
              </c:pt>
            </c:numLit>
          </c:val>
        </c:ser>
        <c:ser>
          <c:idx val="5"/>
          <c:order val="5"/>
          <c:tx>
            <c:v>RL</c:v>
          </c:tx>
          <c:spPr>
            <a:solidFill xmlns:a="http://schemas.openxmlformats.org/drawingml/2006/main">
              <a:srgbClr val="7446B8"/>
            </a:solidFill>
          </c:spPr>
          <c:marker>
            <c:symbol val="none"/>
          </c:marker>
          <c:cat>
            <c:numLit>
              <c:formatCode>General</c:formatCode>
              <c:ptCount val="21"/>
              <c:pt idx="0">
                <c:v>0</c:v>
              </c:pt>
              <c:pt idx="1">
                <c:v>15</c:v>
              </c:pt>
              <c:pt idx="2">
                <c:v>30</c:v>
              </c:pt>
              <c:pt idx="3">
                <c:v>45</c:v>
              </c:pt>
              <c:pt idx="4">
                <c:v>60</c:v>
              </c:pt>
              <c:pt idx="5">
                <c:v>75</c:v>
              </c:pt>
              <c:pt idx="6">
                <c:v>90</c:v>
              </c:pt>
              <c:pt idx="7">
                <c:v>105</c:v>
              </c:pt>
              <c:pt idx="8">
                <c:v>120</c:v>
              </c:pt>
              <c:pt idx="9">
                <c:v>135</c:v>
              </c:pt>
              <c:pt idx="10">
                <c:v>150</c:v>
              </c:pt>
              <c:pt idx="11">
                <c:v>165</c:v>
              </c:pt>
              <c:pt idx="12">
                <c:v>180</c:v>
              </c:pt>
              <c:pt idx="13">
                <c:v>195</c:v>
              </c:pt>
              <c:pt idx="14">
                <c:v>210</c:v>
              </c:pt>
              <c:pt idx="15">
                <c:v>225</c:v>
              </c:pt>
              <c:pt idx="16">
                <c:v>240</c:v>
              </c:pt>
              <c:pt idx="17">
                <c:v>255</c:v>
              </c:pt>
              <c:pt idx="18">
                <c:v>270</c:v>
              </c:pt>
              <c:pt idx="19">
                <c:v>285</c:v>
              </c:pt>
              <c:pt idx="20">
                <c:v>300</c:v>
              </c:pt>
            </c:numLit>
          </c:cat>
          <c:val>
            <c:numLit>
              <c:formatCode>General</c:formatCode>
              <c:ptCount val="21"/>
              <c:pt idx="0">
                <c:v>30.04807303777551</c:v>
              </c:pt>
              <c:pt idx="1">
                <c:v>28.953933927588526</c:v>
              </c:pt>
              <c:pt idx="2">
                <c:v>25.235701417188686</c:v>
              </c:pt>
              <c:pt idx="3">
                <c:v>23.54825287905756</c:v>
              </c:pt>
              <c:pt idx="4">
                <c:v>24.975629678095864</c:v>
              </c:pt>
              <c:pt idx="5">
                <c:v>24.517327665036724</c:v>
              </c:pt>
              <c:pt idx="6">
                <c:v>24.293067230908186</c:v>
              </c:pt>
              <c:pt idx="7">
                <c:v>24.4444248095157</c:v>
              </c:pt>
              <c:pt idx="8">
                <c:v>24.23464542310207</c:v>
              </c:pt>
              <c:pt idx="9">
                <c:v>24.362101696924736</c:v>
              </c:pt>
              <c:pt idx="10">
                <c:v>24.308809755808024</c:v>
              </c:pt>
              <c:pt idx="11">
                <c:v>24.244122279511995</c:v>
              </c:pt>
              <c:pt idx="12">
                <c:v>24.302096080210625</c:v>
              </c:pt>
              <c:pt idx="13">
                <c:v>25.094034765998316</c:v>
              </c:pt>
              <c:pt idx="14">
                <c:v>24.51374490555927</c:v>
              </c:pt>
              <c:pt idx="15">
                <c:v>23.215618797889476</c:v>
              </c:pt>
              <c:pt idx="16">
                <c:v>24.449841340404383</c:v>
              </c:pt>
              <c:pt idx="17">
                <c:v>23.983726410824325</c:v>
              </c:pt>
              <c:pt idx="18">
                <c:v>24.01453959353558</c:v>
              </c:pt>
              <c:pt idx="19">
                <c:v>24.241343933509032</c:v>
              </c:pt>
              <c:pt idx="20">
                <c:v>24.045720702707737</c:v>
              </c:pt>
            </c:numLit>
          </c:val>
        </c:ser>
        <c:ser>
          <c:idx val="6"/>
          <c:order val="6"/>
          <c:tx>
            <c:v>LLM</c:v>
          </c:tx>
          <c:spPr>
            <a:solidFill xmlns:a="http://schemas.openxmlformats.org/drawingml/2006/main">
              <a:srgbClr val="0F172A"/>
            </a:solidFill>
          </c:spPr>
          <c:marker>
            <c:symbol val="none"/>
          </c:marker>
          <c:cat>
            <c:numLit>
              <c:formatCode>General</c:formatCode>
              <c:ptCount val="21"/>
              <c:pt idx="0">
                <c:v>0</c:v>
              </c:pt>
              <c:pt idx="1">
                <c:v>15</c:v>
              </c:pt>
              <c:pt idx="2">
                <c:v>30</c:v>
              </c:pt>
              <c:pt idx="3">
                <c:v>45</c:v>
              </c:pt>
              <c:pt idx="4">
                <c:v>60</c:v>
              </c:pt>
              <c:pt idx="5">
                <c:v>75</c:v>
              </c:pt>
              <c:pt idx="6">
                <c:v>90</c:v>
              </c:pt>
              <c:pt idx="7">
                <c:v>105</c:v>
              </c:pt>
              <c:pt idx="8">
                <c:v>120</c:v>
              </c:pt>
              <c:pt idx="9">
                <c:v>135</c:v>
              </c:pt>
              <c:pt idx="10">
                <c:v>150</c:v>
              </c:pt>
              <c:pt idx="11">
                <c:v>165</c:v>
              </c:pt>
              <c:pt idx="12">
                <c:v>180</c:v>
              </c:pt>
              <c:pt idx="13">
                <c:v>195</c:v>
              </c:pt>
              <c:pt idx="14">
                <c:v>210</c:v>
              </c:pt>
              <c:pt idx="15">
                <c:v>225</c:v>
              </c:pt>
              <c:pt idx="16">
                <c:v>240</c:v>
              </c:pt>
              <c:pt idx="17">
                <c:v>255</c:v>
              </c:pt>
              <c:pt idx="18">
                <c:v>270</c:v>
              </c:pt>
              <c:pt idx="19">
                <c:v>285</c:v>
              </c:pt>
              <c:pt idx="20">
                <c:v>300</c:v>
              </c:pt>
            </c:numLit>
          </c:cat>
          <c:val>
            <c:numLit>
              <c:formatCode>General</c:formatCode>
              <c:ptCount val="21"/>
              <c:pt idx="0">
                <c:v>30.04807303777551</c:v>
              </c:pt>
              <c:pt idx="1">
                <c:v>28.953933927588526</c:v>
              </c:pt>
              <c:pt idx="2">
                <c:v>25.235701417188686</c:v>
              </c:pt>
              <c:pt idx="3">
                <c:v>23.336146988938996</c:v>
              </c:pt>
              <c:pt idx="4">
                <c:v>24.880822449722537</c:v>
              </c:pt>
              <c:pt idx="5">
                <c:v>24.69218948962015</c:v>
              </c:pt>
              <c:pt idx="6">
                <c:v>24.294226820003924</c:v>
              </c:pt>
              <c:pt idx="7">
                <c:v>24.53926283122419</c:v>
              </c:pt>
              <c:pt idx="8">
                <c:v>24.40852147993695</c:v>
              </c:pt>
              <c:pt idx="9">
                <c:v>24.33059530316685</c:v>
              </c:pt>
              <c:pt idx="10">
                <c:v>24.414744869228755</c:v>
              </c:pt>
              <c:pt idx="11">
                <c:v>24.275680693701844</c:v>
              </c:pt>
              <c:pt idx="12">
                <c:v>24.281718383036214</c:v>
              </c:pt>
              <c:pt idx="13">
                <c:v>25.152991200652977</c:v>
              </c:pt>
              <c:pt idx="14">
                <c:v>24.381107492862338</c:v>
              </c:pt>
              <c:pt idx="15">
                <c:v>23.372912454868928</c:v>
              </c:pt>
              <c:pt idx="16">
                <c:v>24.585832240691246</c:v>
              </c:pt>
              <c:pt idx="17">
                <c:v>23.922145759361413</c:v>
              </c:pt>
              <c:pt idx="18">
                <c:v>23.96131617998845</c:v>
              </c:pt>
              <c:pt idx="19">
                <c:v>24.172074152352984</c:v>
              </c:pt>
              <c:pt idx="20">
                <c:v>24.030377296109535</c:v>
              </c:pt>
            </c:numLit>
          </c:val>
        </c:ser>
        <c:ser>
          <c:idx val="7"/>
          <c:order val="7"/>
          <c:tx>
            <c:v>目标 24°C</c:v>
          </c:tx>
          <c:spPr>
            <a:solidFill xmlns:a="http://schemas.openxmlformats.org/drawingml/2006/main">
              <a:srgbClr val="0F172A"/>
            </a:solidFill>
          </c:spPr>
          <c:marker>
            <c:symbol val="none"/>
          </c:marker>
          <c:cat>
            <c:numLit>
              <c:formatCode>General</c:formatCode>
              <c:ptCount val="21"/>
              <c:pt idx="0">
                <c:v>0</c:v>
              </c:pt>
              <c:pt idx="1">
                <c:v>15</c:v>
              </c:pt>
              <c:pt idx="2">
                <c:v>30</c:v>
              </c:pt>
              <c:pt idx="3">
                <c:v>45</c:v>
              </c:pt>
              <c:pt idx="4">
                <c:v>60</c:v>
              </c:pt>
              <c:pt idx="5">
                <c:v>75</c:v>
              </c:pt>
              <c:pt idx="6">
                <c:v>90</c:v>
              </c:pt>
              <c:pt idx="7">
                <c:v>105</c:v>
              </c:pt>
              <c:pt idx="8">
                <c:v>120</c:v>
              </c:pt>
              <c:pt idx="9">
                <c:v>135</c:v>
              </c:pt>
              <c:pt idx="10">
                <c:v>150</c:v>
              </c:pt>
              <c:pt idx="11">
                <c:v>165</c:v>
              </c:pt>
              <c:pt idx="12">
                <c:v>180</c:v>
              </c:pt>
              <c:pt idx="13">
                <c:v>195</c:v>
              </c:pt>
              <c:pt idx="14">
                <c:v>210</c:v>
              </c:pt>
              <c:pt idx="15">
                <c:v>225</c:v>
              </c:pt>
              <c:pt idx="16">
                <c:v>240</c:v>
              </c:pt>
              <c:pt idx="17">
                <c:v>255</c:v>
              </c:pt>
              <c:pt idx="18">
                <c:v>270</c:v>
              </c:pt>
              <c:pt idx="19">
                <c:v>285</c:v>
              </c:pt>
              <c:pt idx="20">
                <c:v>300</c:v>
              </c:pt>
            </c:numLit>
          </c:cat>
          <c:val>
            <c:numLit>
              <c:formatCode>General</c:formatCode>
              <c:ptCount val="21"/>
              <c:pt idx="0">
                <c:v>24</c:v>
              </c:pt>
              <c:pt idx="1">
                <c:v>24</c:v>
              </c:pt>
              <c:pt idx="2">
                <c:v>24</c:v>
              </c:pt>
              <c:pt idx="3">
                <c:v>24</c:v>
              </c:pt>
              <c:pt idx="4">
                <c:v>24</c:v>
              </c:pt>
              <c:pt idx="5">
                <c:v>24</c:v>
              </c:pt>
              <c:pt idx="6">
                <c:v>24</c:v>
              </c:pt>
              <c:pt idx="7">
                <c:v>24</c:v>
              </c:pt>
              <c:pt idx="8">
                <c:v>24</c:v>
              </c:pt>
              <c:pt idx="9">
                <c:v>24</c:v>
              </c:pt>
              <c:pt idx="10">
                <c:v>24</c:v>
              </c:pt>
              <c:pt idx="11">
                <c:v>24</c:v>
              </c:pt>
              <c:pt idx="12">
                <c:v>24</c:v>
              </c:pt>
              <c:pt idx="13">
                <c:v>24</c:v>
              </c:pt>
              <c:pt idx="14">
                <c:v>24</c:v>
              </c:pt>
              <c:pt idx="15">
                <c:v>24</c:v>
              </c:pt>
              <c:pt idx="16">
                <c:v>24</c:v>
              </c:pt>
              <c:pt idx="17">
                <c:v>24</c:v>
              </c:pt>
              <c:pt idx="18">
                <c:v>24</c:v>
              </c:pt>
              <c:pt idx="19">
                <c:v>24</c:v>
              </c:pt>
              <c:pt idx="20">
                <c:v>24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2E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模拟物理时间 / min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1"/>
          <c:min val="22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室内温度 / °C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1"/>
      </c:valAx>
    </c:plotArea>
    <c:legend>
      <c:legendPos val="b"/>
      <c:overlay val="0"/>
    </c:legend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RL实际温度</c:v>
          </c:tx>
          <c:spPr>
            <a:solidFill xmlns:a="http://schemas.openxmlformats.org/drawingml/2006/main">
              <a:srgbClr val="7446B8"/>
            </a:solidFill>
          </c:spPr>
          <c:marker>
            <c:symbol val="none"/>
          </c:marker>
          <c:cat>
            <c:numLit>
              <c:formatCode>General</c:formatCode>
              <c:ptCount val="21"/>
              <c:pt idx="0">
                <c:v>0</c:v>
              </c:pt>
              <c:pt idx="1">
                <c:v>15</c:v>
              </c:pt>
              <c:pt idx="2">
                <c:v>30</c:v>
              </c:pt>
              <c:pt idx="3">
                <c:v>45</c:v>
              </c:pt>
              <c:pt idx="4">
                <c:v>60</c:v>
              </c:pt>
              <c:pt idx="5">
                <c:v>75</c:v>
              </c:pt>
              <c:pt idx="6">
                <c:v>90</c:v>
              </c:pt>
              <c:pt idx="7">
                <c:v>105</c:v>
              </c:pt>
              <c:pt idx="8">
                <c:v>120</c:v>
              </c:pt>
              <c:pt idx="9">
                <c:v>135</c:v>
              </c:pt>
              <c:pt idx="10">
                <c:v>150</c:v>
              </c:pt>
              <c:pt idx="11">
                <c:v>165</c:v>
              </c:pt>
              <c:pt idx="12">
                <c:v>180</c:v>
              </c:pt>
              <c:pt idx="13">
                <c:v>195</c:v>
              </c:pt>
              <c:pt idx="14">
                <c:v>210</c:v>
              </c:pt>
              <c:pt idx="15">
                <c:v>225</c:v>
              </c:pt>
              <c:pt idx="16">
                <c:v>240</c:v>
              </c:pt>
              <c:pt idx="17">
                <c:v>255</c:v>
              </c:pt>
              <c:pt idx="18">
                <c:v>270</c:v>
              </c:pt>
              <c:pt idx="19">
                <c:v>285</c:v>
              </c:pt>
              <c:pt idx="20">
                <c:v>300</c:v>
              </c:pt>
            </c:numLit>
          </c:cat>
          <c:val>
            <c:numLit>
              <c:formatCode>General</c:formatCode>
              <c:ptCount val="21"/>
              <c:pt idx="0">
                <c:v>30.04807303777551</c:v>
              </c:pt>
              <c:pt idx="1">
                <c:v>28.953933927588526</c:v>
              </c:pt>
              <c:pt idx="2">
                <c:v>25.235701417188686</c:v>
              </c:pt>
              <c:pt idx="3">
                <c:v>23.54825287905756</c:v>
              </c:pt>
              <c:pt idx="4">
                <c:v>24.975629678095864</c:v>
              </c:pt>
              <c:pt idx="5">
                <c:v>24.517327665036724</c:v>
              </c:pt>
              <c:pt idx="6">
                <c:v>24.293067230908186</c:v>
              </c:pt>
              <c:pt idx="7">
                <c:v>24.4444248095157</c:v>
              </c:pt>
              <c:pt idx="8">
                <c:v>24.23464542310207</c:v>
              </c:pt>
              <c:pt idx="9">
                <c:v>24.362101696924736</c:v>
              </c:pt>
              <c:pt idx="10">
                <c:v>24.308809755808024</c:v>
              </c:pt>
              <c:pt idx="11">
                <c:v>24.244122279511995</c:v>
              </c:pt>
              <c:pt idx="12">
                <c:v>24.302096080210625</c:v>
              </c:pt>
              <c:pt idx="13">
                <c:v>25.094034765998316</c:v>
              </c:pt>
              <c:pt idx="14">
                <c:v>24.51374490555927</c:v>
              </c:pt>
              <c:pt idx="15">
                <c:v>23.215618797889476</c:v>
              </c:pt>
              <c:pt idx="16">
                <c:v>24.449841340404383</c:v>
              </c:pt>
              <c:pt idx="17">
                <c:v>23.983726410824325</c:v>
              </c:pt>
              <c:pt idx="18">
                <c:v>24.01453959353558</c:v>
              </c:pt>
              <c:pt idx="19">
                <c:v>24.241343933509032</c:v>
              </c:pt>
              <c:pt idx="20">
                <c:v>24.045720702707737</c:v>
              </c:pt>
            </c:numLit>
          </c:val>
        </c:ser>
        <c:ser>
          <c:idx val="1"/>
          <c:order val="1"/>
          <c:tx>
            <c:v>目标 24°C</c:v>
          </c:tx>
          <c:spPr>
            <a:solidFill xmlns:a="http://schemas.openxmlformats.org/drawingml/2006/main">
              <a:srgbClr val="0F172A"/>
            </a:solidFill>
          </c:spPr>
          <c:marker>
            <c:symbol val="none"/>
          </c:marker>
          <c:cat>
            <c:numLit>
              <c:formatCode>General</c:formatCode>
              <c:ptCount val="21"/>
              <c:pt idx="0">
                <c:v>0</c:v>
              </c:pt>
              <c:pt idx="1">
                <c:v>15</c:v>
              </c:pt>
              <c:pt idx="2">
                <c:v>30</c:v>
              </c:pt>
              <c:pt idx="3">
                <c:v>45</c:v>
              </c:pt>
              <c:pt idx="4">
                <c:v>60</c:v>
              </c:pt>
              <c:pt idx="5">
                <c:v>75</c:v>
              </c:pt>
              <c:pt idx="6">
                <c:v>90</c:v>
              </c:pt>
              <c:pt idx="7">
                <c:v>105</c:v>
              </c:pt>
              <c:pt idx="8">
                <c:v>120</c:v>
              </c:pt>
              <c:pt idx="9">
                <c:v>135</c:v>
              </c:pt>
              <c:pt idx="10">
                <c:v>150</c:v>
              </c:pt>
              <c:pt idx="11">
                <c:v>165</c:v>
              </c:pt>
              <c:pt idx="12">
                <c:v>180</c:v>
              </c:pt>
              <c:pt idx="13">
                <c:v>195</c:v>
              </c:pt>
              <c:pt idx="14">
                <c:v>210</c:v>
              </c:pt>
              <c:pt idx="15">
                <c:v>225</c:v>
              </c:pt>
              <c:pt idx="16">
                <c:v>240</c:v>
              </c:pt>
              <c:pt idx="17">
                <c:v>255</c:v>
              </c:pt>
              <c:pt idx="18">
                <c:v>270</c:v>
              </c:pt>
              <c:pt idx="19">
                <c:v>285</c:v>
              </c:pt>
              <c:pt idx="20">
                <c:v>300</c:v>
              </c:pt>
            </c:numLit>
          </c:cat>
          <c:val>
            <c:numLit>
              <c:formatCode>General</c:formatCode>
              <c:ptCount val="21"/>
              <c:pt idx="0">
                <c:v>24</c:v>
              </c:pt>
              <c:pt idx="1">
                <c:v>24</c:v>
              </c:pt>
              <c:pt idx="2">
                <c:v>24</c:v>
              </c:pt>
              <c:pt idx="3">
                <c:v>24</c:v>
              </c:pt>
              <c:pt idx="4">
                <c:v>24</c:v>
              </c:pt>
              <c:pt idx="5">
                <c:v>24</c:v>
              </c:pt>
              <c:pt idx="6">
                <c:v>24</c:v>
              </c:pt>
              <c:pt idx="7">
                <c:v>24</c:v>
              </c:pt>
              <c:pt idx="8">
                <c:v>24</c:v>
              </c:pt>
              <c:pt idx="9">
                <c:v>24</c:v>
              </c:pt>
              <c:pt idx="10">
                <c:v>24</c:v>
              </c:pt>
              <c:pt idx="11">
                <c:v>24</c:v>
              </c:pt>
              <c:pt idx="12">
                <c:v>24</c:v>
              </c:pt>
              <c:pt idx="13">
                <c:v>24</c:v>
              </c:pt>
              <c:pt idx="14">
                <c:v>24</c:v>
              </c:pt>
              <c:pt idx="15">
                <c:v>24</c:v>
              </c:pt>
              <c:pt idx="16">
                <c:v>24</c:v>
              </c:pt>
              <c:pt idx="17">
                <c:v>24</c:v>
              </c:pt>
              <c:pt idx="18">
                <c:v>24</c:v>
              </c:pt>
              <c:pt idx="19">
                <c:v>24</c:v>
              </c:pt>
              <c:pt idx="20">
                <c:v>24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2E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模拟物理时间 / min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1"/>
          <c:min val="22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室内温度 / °C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1"/>
      </c:valAx>
    </c:plotArea>
    <c:legend>
      <c:legendPos val="b"/>
      <c:overlay val="0"/>
    </c:legend>
    <c:plotVisOnly val="1"/>
  </c:chart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实际部署：IMC回退</c:v>
          </c:tx>
          <c:spPr>
            <a:solidFill xmlns:a="http://schemas.openxmlformats.org/drawingml/2006/main">
              <a:srgbClr val="17864B"/>
            </a:solidFill>
          </c:spPr>
          <c:marker>
            <c:symbol val="none"/>
          </c:marker>
          <c:cat>
            <c:numLit>
              <c:formatCode>General</c:formatCode>
              <c:ptCount val="21"/>
              <c:pt idx="0">
                <c:v>0</c:v>
              </c:pt>
              <c:pt idx="1">
                <c:v>15</c:v>
              </c:pt>
              <c:pt idx="2">
                <c:v>30</c:v>
              </c:pt>
              <c:pt idx="3">
                <c:v>45</c:v>
              </c:pt>
              <c:pt idx="4">
                <c:v>60</c:v>
              </c:pt>
              <c:pt idx="5">
                <c:v>75</c:v>
              </c:pt>
              <c:pt idx="6">
                <c:v>90</c:v>
              </c:pt>
              <c:pt idx="7">
                <c:v>105</c:v>
              </c:pt>
              <c:pt idx="8">
                <c:v>120</c:v>
              </c:pt>
              <c:pt idx="9">
                <c:v>135</c:v>
              </c:pt>
              <c:pt idx="10">
                <c:v>150</c:v>
              </c:pt>
              <c:pt idx="11">
                <c:v>165</c:v>
              </c:pt>
              <c:pt idx="12">
                <c:v>180</c:v>
              </c:pt>
              <c:pt idx="13">
                <c:v>195</c:v>
              </c:pt>
              <c:pt idx="14">
                <c:v>210</c:v>
              </c:pt>
              <c:pt idx="15">
                <c:v>225</c:v>
              </c:pt>
              <c:pt idx="16">
                <c:v>240</c:v>
              </c:pt>
              <c:pt idx="17">
                <c:v>255</c:v>
              </c:pt>
              <c:pt idx="18">
                <c:v>270</c:v>
              </c:pt>
              <c:pt idx="19">
                <c:v>285</c:v>
              </c:pt>
              <c:pt idx="20">
                <c:v>300</c:v>
              </c:pt>
            </c:numLit>
          </c:cat>
          <c:val>
            <c:numLit>
              <c:formatCode>General</c:formatCode>
              <c:ptCount val="21"/>
              <c:pt idx="0">
                <c:v>30.04807303777551</c:v>
              </c:pt>
              <c:pt idx="1">
                <c:v>28.953933927588526</c:v>
              </c:pt>
              <c:pt idx="2">
                <c:v>25.235701417188686</c:v>
              </c:pt>
              <c:pt idx="3">
                <c:v>23.199304737147088</c:v>
              </c:pt>
              <c:pt idx="4">
                <c:v>24.757771821596208</c:v>
              </c:pt>
              <c:pt idx="5">
                <c:v>24.704697338301465</c:v>
              </c:pt>
              <c:pt idx="6">
                <c:v>24.23085260593836</c:v>
              </c:pt>
              <c:pt idx="7">
                <c:v>24.498199354386998</c:v>
              </c:pt>
              <c:pt idx="8">
                <c:v>24.403388604800195</c:v>
              </c:pt>
              <c:pt idx="9">
                <c:v>24.298514948691423</c:v>
              </c:pt>
              <c:pt idx="10">
                <c:v>24.40849200757383</c:v>
              </c:pt>
              <c:pt idx="11">
                <c:v>24.24119105315035</c:v>
              </c:pt>
              <c:pt idx="12">
                <c:v>24.279187839314023</c:v>
              </c:pt>
              <c:pt idx="13">
                <c:v>25.135114564621606</c:v>
              </c:pt>
              <c:pt idx="14">
                <c:v>24.286590061981233</c:v>
              </c:pt>
              <c:pt idx="15">
                <c:v>23.27321446768275</c:v>
              </c:pt>
              <c:pt idx="16">
                <c:v>24.587376996193736</c:v>
              </c:pt>
              <c:pt idx="17">
                <c:v>23.871837946282966</c:v>
              </c:pt>
              <c:pt idx="18">
                <c:v>23.894507205167724</c:v>
              </c:pt>
              <c:pt idx="19">
                <c:v>24.15076081784099</c:v>
              </c:pt>
              <c:pt idx="20">
                <c:v>24.02822863157463</c:v>
              </c:pt>
            </c:numLit>
          </c:val>
        </c:ser>
        <c:ser>
          <c:idx val="1"/>
          <c:order val="1"/>
          <c:tx>
            <c:v>影子候选：FNN</c:v>
          </c:tx>
          <c:spPr>
            <a:solidFill xmlns:a="http://schemas.openxmlformats.org/drawingml/2006/main">
              <a:srgbClr val="E37A12"/>
            </a:solidFill>
          </c:spPr>
          <c:marker>
            <c:symbol val="none"/>
          </c:marker>
          <c:cat>
            <c:numLit>
              <c:formatCode>General</c:formatCode>
              <c:ptCount val="21"/>
              <c:pt idx="0">
                <c:v>0</c:v>
              </c:pt>
              <c:pt idx="1">
                <c:v>15</c:v>
              </c:pt>
              <c:pt idx="2">
                <c:v>30</c:v>
              </c:pt>
              <c:pt idx="3">
                <c:v>45</c:v>
              </c:pt>
              <c:pt idx="4">
                <c:v>60</c:v>
              </c:pt>
              <c:pt idx="5">
                <c:v>75</c:v>
              </c:pt>
              <c:pt idx="6">
                <c:v>90</c:v>
              </c:pt>
              <c:pt idx="7">
                <c:v>105</c:v>
              </c:pt>
              <c:pt idx="8">
                <c:v>120</c:v>
              </c:pt>
              <c:pt idx="9">
                <c:v>135</c:v>
              </c:pt>
              <c:pt idx="10">
                <c:v>150</c:v>
              </c:pt>
              <c:pt idx="11">
                <c:v>165</c:v>
              </c:pt>
              <c:pt idx="12">
                <c:v>180</c:v>
              </c:pt>
              <c:pt idx="13">
                <c:v>195</c:v>
              </c:pt>
              <c:pt idx="14">
                <c:v>210</c:v>
              </c:pt>
              <c:pt idx="15">
                <c:v>225</c:v>
              </c:pt>
              <c:pt idx="16">
                <c:v>240</c:v>
              </c:pt>
              <c:pt idx="17">
                <c:v>255</c:v>
              </c:pt>
              <c:pt idx="18">
                <c:v>270</c:v>
              </c:pt>
              <c:pt idx="19">
                <c:v>285</c:v>
              </c:pt>
              <c:pt idx="20">
                <c:v>300</c:v>
              </c:pt>
            </c:numLit>
          </c:cat>
          <c:val>
            <c:numLit>
              <c:formatCode>General</c:formatCode>
              <c:ptCount val="21"/>
              <c:pt idx="0">
                <c:v>30.04807303777551</c:v>
              </c:pt>
              <c:pt idx="1">
                <c:v>28.953933927588526</c:v>
              </c:pt>
              <c:pt idx="2">
                <c:v>25.235701417188686</c:v>
              </c:pt>
              <c:pt idx="3">
                <c:v>23.199304737147088</c:v>
              </c:pt>
              <c:pt idx="4">
                <c:v>24.757771821596208</c:v>
              </c:pt>
              <c:pt idx="5">
                <c:v>24.60278664492518</c:v>
              </c:pt>
              <c:pt idx="6">
                <c:v>24.20497133093187</c:v>
              </c:pt>
              <c:pt idx="7">
                <c:v>24.486330159694372</c:v>
              </c:pt>
              <c:pt idx="8">
                <c:v>24.407397247117665</c:v>
              </c:pt>
              <c:pt idx="9">
                <c:v>24.32992401182443</c:v>
              </c:pt>
              <c:pt idx="10">
                <c:v>24.42838676748989</c:v>
              </c:pt>
              <c:pt idx="11">
                <c:v>24.27556110858931</c:v>
              </c:pt>
              <c:pt idx="12">
                <c:v>24.31544018754169</c:v>
              </c:pt>
              <c:pt idx="13">
                <c:v>25.168696141286283</c:v>
              </c:pt>
              <c:pt idx="14">
                <c:v>24.452798941098106</c:v>
              </c:pt>
              <c:pt idx="15">
                <c:v>23.590106720146814</c:v>
              </c:pt>
              <c:pt idx="16">
                <c:v>24.756572321127486</c:v>
              </c:pt>
              <c:pt idx="17">
                <c:v>23.85735389127426</c:v>
              </c:pt>
              <c:pt idx="18">
                <c:v>23.96819429974878</c:v>
              </c:pt>
              <c:pt idx="19">
                <c:v>24.20628880730163</c:v>
              </c:pt>
              <c:pt idx="20">
                <c:v>24.050101097244283</c:v>
              </c:pt>
            </c:numLit>
          </c:val>
        </c:ser>
        <c:ser>
          <c:idx val="2"/>
          <c:order val="2"/>
          <c:tx>
            <c:v>目标 24°C</c:v>
          </c:tx>
          <c:spPr>
            <a:solidFill xmlns:a="http://schemas.openxmlformats.org/drawingml/2006/main">
              <a:srgbClr val="0F172A"/>
            </a:solidFill>
          </c:spPr>
          <c:marker>
            <c:symbol val="none"/>
          </c:marker>
          <c:cat>
            <c:numLit>
              <c:formatCode>General</c:formatCode>
              <c:ptCount val="21"/>
              <c:pt idx="0">
                <c:v>0</c:v>
              </c:pt>
              <c:pt idx="1">
                <c:v>15</c:v>
              </c:pt>
              <c:pt idx="2">
                <c:v>30</c:v>
              </c:pt>
              <c:pt idx="3">
                <c:v>45</c:v>
              </c:pt>
              <c:pt idx="4">
                <c:v>60</c:v>
              </c:pt>
              <c:pt idx="5">
                <c:v>75</c:v>
              </c:pt>
              <c:pt idx="6">
                <c:v>90</c:v>
              </c:pt>
              <c:pt idx="7">
                <c:v>105</c:v>
              </c:pt>
              <c:pt idx="8">
                <c:v>120</c:v>
              </c:pt>
              <c:pt idx="9">
                <c:v>135</c:v>
              </c:pt>
              <c:pt idx="10">
                <c:v>150</c:v>
              </c:pt>
              <c:pt idx="11">
                <c:v>165</c:v>
              </c:pt>
              <c:pt idx="12">
                <c:v>180</c:v>
              </c:pt>
              <c:pt idx="13">
                <c:v>195</c:v>
              </c:pt>
              <c:pt idx="14">
                <c:v>210</c:v>
              </c:pt>
              <c:pt idx="15">
                <c:v>225</c:v>
              </c:pt>
              <c:pt idx="16">
                <c:v>240</c:v>
              </c:pt>
              <c:pt idx="17">
                <c:v>255</c:v>
              </c:pt>
              <c:pt idx="18">
                <c:v>270</c:v>
              </c:pt>
              <c:pt idx="19">
                <c:v>285</c:v>
              </c:pt>
              <c:pt idx="20">
                <c:v>300</c:v>
              </c:pt>
            </c:numLit>
          </c:cat>
          <c:val>
            <c:numLit>
              <c:formatCode>General</c:formatCode>
              <c:ptCount val="21"/>
              <c:pt idx="0">
                <c:v>24</c:v>
              </c:pt>
              <c:pt idx="1">
                <c:v>24</c:v>
              </c:pt>
              <c:pt idx="2">
                <c:v>24</c:v>
              </c:pt>
              <c:pt idx="3">
                <c:v>24</c:v>
              </c:pt>
              <c:pt idx="4">
                <c:v>24</c:v>
              </c:pt>
              <c:pt idx="5">
                <c:v>24</c:v>
              </c:pt>
              <c:pt idx="6">
                <c:v>24</c:v>
              </c:pt>
              <c:pt idx="7">
                <c:v>24</c:v>
              </c:pt>
              <c:pt idx="8">
                <c:v>24</c:v>
              </c:pt>
              <c:pt idx="9">
                <c:v>24</c:v>
              </c:pt>
              <c:pt idx="10">
                <c:v>24</c:v>
              </c:pt>
              <c:pt idx="11">
                <c:v>24</c:v>
              </c:pt>
              <c:pt idx="12">
                <c:v>24</c:v>
              </c:pt>
              <c:pt idx="13">
                <c:v>24</c:v>
              </c:pt>
              <c:pt idx="14">
                <c:v>24</c:v>
              </c:pt>
              <c:pt idx="15">
                <c:v>24</c:v>
              </c:pt>
              <c:pt idx="16">
                <c:v>24</c:v>
              </c:pt>
              <c:pt idx="17">
                <c:v>24</c:v>
              </c:pt>
              <c:pt idx="18">
                <c:v>24</c:v>
              </c:pt>
              <c:pt idx="19">
                <c:v>24</c:v>
              </c:pt>
              <c:pt idx="20">
                <c:v>24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2E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模拟物理时间 / min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1"/>
          <c:min val="22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室内温度 / °C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1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09D9F-9057-49FF-9F06-590C5293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rPr>
              <a:t>嵌入式温度控制 · 零基础教学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40B89-1D29-4166-9661-BD399EFC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8096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看见温度稳定，</a:t>
            </a:r>
          </a:p>
          <a:p xmlns:a="http://schemas.openxmlformats.org/drawingml/2006/main">
            <a:pPr algn="l">
              <a:defRPr sz="4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再谈七种调参算法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BC707-006B-422B-96DD-5EA9E4A3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ESP32 · 安全 PI · Z-N / IMC / BO / Safe BO / FNN / RL / LLM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87404-2549-49BE-ABED-BB3E8130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381125"/>
            <a:ext cx="2190750" cy="3429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C547EA-5494-427F-8148-1AEBF7BA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857375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C43D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C43D4B"/>
                </a:solidFill>
                <a:latin typeface="Microsoft YaHei"/>
                <a:ea typeface="Microsoft YaHei"/>
                <a:cs typeface="Microsoft YaHei"/>
              </a:rPr>
              <a:t>30.0°C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DDBB9-E305-4920-9FB9-27747910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71750"/>
            <a:ext cx="4000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EB452B-54EB-4C21-BACB-39C0D622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14700"/>
            <a:ext cx="400050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E05A98-7AFF-45C4-AAD7-01AC6BDA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0005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AD31C8-F0C3-4723-B8DF-4257D7F3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0958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目标 24°C</a:t>
            </a:r>
          </a:p>
        </p:txBody>
      </p:sp>
    </p:spTree>
    <p:extLst>
      <p:ext uri="{BB962C8B-B14F-4D97-AF65-F5344CB8AC3E}">
        <p14:creationId xmlns:p14="http://schemas.microsoft.com/office/powerpoint/2010/main" val="107109506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E526A0-33BA-47F5-83A2-54C01A8B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ESP32 七算法温度闭环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EC29CC-D2DC-412C-BAD0-524E0312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被控制量是室内温度，不是算法分数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43FC35-9433-44AE-9A6C-FF7DC804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AFACDB-482B-4DDF-9DD8-5FF7E515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C43D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C43D4B"/>
                </a:solidFill>
                <a:latin typeface="Microsoft YaHei"/>
                <a:ea typeface="Microsoft YaHei"/>
                <a:cs typeface="Microsoft YaHei"/>
              </a:rPr>
              <a:t>30°C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32056E-A6D6-43CA-BFBB-316EAA04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238375"/>
            <a:ext cx="18097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6A4EF-0493-4D56-9FA6-4E3B5948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47875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8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7864B"/>
                </a:solidFill>
                <a:latin typeface="Microsoft YaHei"/>
                <a:ea typeface="Microsoft YaHei"/>
                <a:cs typeface="Microsoft YaHei"/>
              </a:rPr>
              <a:t>24±0.5°C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003830-3A0B-4403-9BA0-688E0717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38375"/>
            <a:ext cx="18097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7A12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D397F-C28D-44F1-8E06-2D14E3B2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47875"/>
            <a:ext cx="2000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37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E37A12"/>
                </a:solidFill>
                <a:latin typeface="Microsoft YaHei"/>
                <a:ea typeface="Microsoft YaHei"/>
                <a:cs typeface="Microsoft YaHei"/>
              </a:rPr>
              <a:t>开门后恢复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B6F2B-02A6-439E-B68F-02ED18EF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肉眼验收顺序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8D7DD1-8604-46E9-94B2-5EC768C0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① 温度下降  →  ② 进入稳定带并保持  →  ③ 扰动使温度上升  →  ④ 控制器提高容量并恢复</a:t>
            </a:r>
          </a:p>
        </p:txBody>
      </p:sp>
    </p:spTree>
    <p:extLst>
      <p:ext uri="{BB962C8B-B14F-4D97-AF65-F5344CB8AC3E}">
        <p14:creationId xmlns:p14="http://schemas.microsoft.com/office/powerpoint/2010/main" val="49764186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B92817-3323-430A-A629-861D3044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ESP32 七算法温度闭环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873CC-473E-484C-A37D-A2A47E612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一条反馈回路把目标温度变成容量请求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0A5008-27EE-4FE4-9837-3610E47C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56B4E5-1572-421B-8A8F-4547ACAA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6205" y="1381125"/>
            <a:ext cx="4566285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A2A9E-E8EC-40A0-905E-58C17C1F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505" y="1495425"/>
            <a:ext cx="433768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离线调参 / 训练 /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FCD34D-714C-46A8-9500-FE393F43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0505" y="1828800"/>
            <a:ext cx="433768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Z-N · IMC · BO · Safe BO · FNN/RL训练 · LLM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只导出通过验收的增益或冻结策略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83B309-E046-41D9-85DA-3B327EDE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178493"/>
            <a:ext cx="1263015" cy="738378"/>
          </a:xfrm>
          <a:prstGeom xmlns:a="http://schemas.openxmlformats.org/drawingml/2006/main" prst="roundRect">
            <a:avLst>
              <a:gd name="adj" fmla="val 1548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B83DC9-DA0C-41E7-8940-55029D69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292793"/>
            <a:ext cx="103441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目标温度 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6F0932-1ACB-445C-B4E2-4CCC41BC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626168"/>
            <a:ext cx="1034415" cy="2049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例如 24°C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136B5B-FA6B-4BC3-9B1F-DA89AFFA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9364" y="3401949"/>
            <a:ext cx="680085" cy="27203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789DDE-CCE8-4F46-AC49-0C1ACB70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7458" y="3091053"/>
            <a:ext cx="1165860" cy="893826"/>
          </a:xfrm>
          <a:prstGeom xmlns:a="http://schemas.openxmlformats.org/drawingml/2006/main" prst="roundRect">
            <a:avLst>
              <a:gd name="adj" fmla="val 127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7386FB-63EB-4478-981D-6358FAC2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1758" y="3205353"/>
            <a:ext cx="93726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误差 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26CF35-E592-4A76-99F4-ADA44D87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1758" y="3538728"/>
            <a:ext cx="937260" cy="360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e = T - 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66DD7A-960A-4402-8B97-C89C811D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473" y="3401949"/>
            <a:ext cx="680085" cy="27203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2FB528-4F31-4406-9F0C-8D49769C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7713" y="3091053"/>
            <a:ext cx="1311593" cy="893826"/>
          </a:xfrm>
          <a:prstGeom xmlns:a="http://schemas.openxmlformats.org/drawingml/2006/main" prst="roundRect">
            <a:avLst>
              <a:gd name="adj" fmla="val 12788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42BABC-A5F4-4520-8A9C-FB7789F4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013" y="3205353"/>
            <a:ext cx="108299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安全 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B1A5C0-53F6-4114-BA3A-6F950B4B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013" y="3538728"/>
            <a:ext cx="1082993" cy="360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100 ms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输出容量请求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54EA82-6A26-4CC9-92FF-12AE264A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6460" y="3401949"/>
            <a:ext cx="680085" cy="27203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7C7B68-30CB-4A87-B0C6-D458271C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93898"/>
            <a:ext cx="1700213" cy="1088136"/>
          </a:xfrm>
          <a:prstGeom xmlns:a="http://schemas.openxmlformats.org/drawingml/2006/main" prst="roundRect">
            <a:avLst>
              <a:gd name="adj" fmla="val 10504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617C6C-94CE-4E88-A1B0-4B3EC213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08198"/>
            <a:ext cx="147161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压缩机限制器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D628F6-94F1-4405-8375-F0C22A96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41573"/>
            <a:ext cx="1471613" cy="5547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最低频率 · 斜率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量化 · 最小启停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44FCE1-B9AD-4A38-9621-3473B417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068" y="3401949"/>
            <a:ext cx="680085" cy="27203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950540-A3DA-4257-BE87-70CEC3E1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308" y="3091053"/>
            <a:ext cx="1845945" cy="893826"/>
          </a:xfrm>
          <a:prstGeom xmlns:a="http://schemas.openxmlformats.org/drawingml/2006/main" prst="roundRect">
            <a:avLst>
              <a:gd name="adj" fmla="val 12788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8167E3-D1FE-4F68-B20B-282C7DDF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2608" y="3205353"/>
            <a:ext cx="161734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空调 / 虚拟对象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2B7662-94C0-4A29-9DF5-477B4B1C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2608" y="3538728"/>
            <a:ext cx="1617345" cy="360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容量指令 u → 室温 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E1265F-F21E-4545-84FB-8FC3235D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9135" y="4548378"/>
            <a:ext cx="2234565" cy="680085"/>
          </a:xfrm>
          <a:prstGeom xmlns:a="http://schemas.openxmlformats.org/drawingml/2006/main" prst="roundRect">
            <a:avLst>
              <a:gd name="adj" fmla="val 16807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7446B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E84DCC-4389-415F-8838-1EF40314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3435" y="4662678"/>
            <a:ext cx="200596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FNN / RL低频调度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6BD9A0-4AA9-41FD-8BBA-97DC27DE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3435" y="4996053"/>
            <a:ext cx="2005965" cy="1466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每 2 s 只建议 Kp/Ki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B9D917-7B77-4DA5-8126-D2D48BF0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432108" y="4159758"/>
            <a:ext cx="291465" cy="340043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446B8"/>
          </a:solidFill>
          <a:ln xmlns:a="http://schemas.openxmlformats.org/drawingml/2006/main" w="9525">
            <a:solidFill>
              <a:srgbClr val="7446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F6F54E-FA2D-4EF3-836A-D88793A7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1810" y="4344353"/>
            <a:ext cx="7286625" cy="2914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90D8FD-07BB-4D76-AD2E-450F77F1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379" y="3858578"/>
            <a:ext cx="29147" cy="5149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8939C5-3491-4215-98A4-4467C1E6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9004" y="3858578"/>
            <a:ext cx="29147" cy="5149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D58C4F-87DA-4410-AAD6-1908DD16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857500" y="4227767"/>
            <a:ext cx="340043" cy="262319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1E69A6-75CE-4523-8607-FA6EB665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120896"/>
            <a:ext cx="6703695" cy="233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温度传感器反馈：测温 → 算误差 → PI → 限幅 → 温度变化 → 再测温</a:t>
            </a:r>
          </a:p>
        </p:txBody>
      </p:sp>
    </p:spTree>
    <p:extLst>
      <p:ext uri="{BB962C8B-B14F-4D97-AF65-F5344CB8AC3E}">
        <p14:creationId xmlns:p14="http://schemas.microsoft.com/office/powerpoint/2010/main" val="49639462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8E8D4A-141E-49FA-8662-CBBABA76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ESP32 七算法温度闭环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BFBBFA-0C69-44D6-9970-073B57B9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30°C 降到 24°C：90 秒演示代表 5 小时虚拟物理时间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F05556-18C0-46C6-BD2B-9F5066EA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23875" y="1476375"/>
          <a:ext xmlns:a="http://schemas.openxmlformats.org/drawingml/2006/main" cx="7620000" cy="4429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aa5f55538304ac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7A863C-5664-428F-B0C4-552495BD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66875"/>
            <a:ext cx="2762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EF2F53-3883-4925-A753-8B2B2001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573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rPr>
              <a:t>约 34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74F6E-56F2-4C09-856B-F23A8CB9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336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首次进入 ±0.5°C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87F501-42C2-48DE-BB37-CD4BC013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2762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0FDDA7-891F-4A22-BFDE-D49C11ED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337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8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864B"/>
                </a:solidFill>
                <a:latin typeface="Microsoft YaHei"/>
                <a:ea typeface="Microsoft YaHei"/>
                <a:cs typeface="Microsoft YaHei"/>
              </a:rPr>
              <a:t>约 115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39536E-774E-40ED-9C97-012F6AB8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29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连续保持 30 min 后确认稳定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53099B-80A4-429E-AB8F-A9DACDE5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0537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43D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43D4B"/>
                </a:solidFill>
                <a:latin typeface="Microsoft YaHei"/>
                <a:ea typeface="Microsoft YaHei"/>
                <a:cs typeface="Microsoft YaHei"/>
              </a:rPr>
              <a:t>注意：真实响应必须由 BMS 或台架测量。</a:t>
            </a:r>
          </a:p>
        </p:txBody>
      </p:sp>
    </p:spTree>
    <p:extLst>
      <p:ext uri="{BB962C8B-B14F-4D97-AF65-F5344CB8AC3E}">
        <p14:creationId xmlns:p14="http://schemas.microsoft.com/office/powerpoint/2010/main" val="34711402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FB40E1-D135-4213-8623-8B292D7B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ESP32 七算法温度闭环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A217B-82B2-48C6-8326-0C94739F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Kp 决定“现在多用力”，Ki 负责“长期消除残差”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4D08F-E958-4FF3-807A-39ED28B6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F48FA-2A67-4089-B264-AAA06350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4857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F2480-2F2E-4165-9A42-0D4392FB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24050"/>
            <a:ext cx="462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比例 P：Kp × 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25BDBE-2ECA-436B-9A58-ED141C43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57425"/>
            <a:ext cx="46291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误差大时立即增强容量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太大：抖动、过冷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太小：反应迟钝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A6D497-7A28-474B-B7D7-585D55B8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809750"/>
            <a:ext cx="4857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62C0FE-196F-40B5-8F63-1E5CEFBC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1924050"/>
            <a:ext cx="462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积分 I：Ki × ∫e dt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C8DFB1-DF04-4283-9830-5DE801A7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257425"/>
            <a:ext cx="46291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累积长期偏差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太大：积累过头、过冲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太小：长期偏离目标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70F09-73D4-4C58-A980-60745513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62500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u请求 = Kp·e + Ki·∫e dt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426C16-A4A1-4896-BBBB-2B162DF9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245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安全 PI 还必须有抗积分饱和；容量请求之后仍要经过执行器限制器。</a:t>
            </a:r>
          </a:p>
        </p:txBody>
      </p:sp>
    </p:spTree>
    <p:extLst>
      <p:ext uri="{BB962C8B-B14F-4D97-AF65-F5344CB8AC3E}">
        <p14:creationId xmlns:p14="http://schemas.microsoft.com/office/powerpoint/2010/main" val="147408710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EA47AB-5F83-4712-AD00-676045AC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算法 1/7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918BD9-509F-4F81-8A12-FF6B1FB1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Z-N 用阶跃辨识和经验公式给出第一组增益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ED987-8DE3-4CFE-B60F-72294707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84C9D4-F1E6-4AF2-96AA-FB0B4E8D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AF0DAB-14B4-4C83-8FE0-759E88C4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虚拟/真实阶跃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9A571-147F-4F0F-8640-93298306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温度、时间、容量变化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967F52-B37D-4C38-9EBE-F4ED4B14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61937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14B8A7-397A-4281-BDA3-C3C65491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0D263A-4D24-4FEF-B5CA-A8298499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辨识 FOPDT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7D270C-FE48-4B5B-9EEF-C02E50B0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K、τ、L → 经验公式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1C50D3-D6E6-4179-8BD0-032A8306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61937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7A12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69D53E-BC59-499A-84FD-1D418485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92B49A-FB45-4D5A-BDC3-97D4A4B6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统一场景验收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019BDD-44F4-473A-B7F0-693DDF75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稳定带、过冷、扰动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DAFF8C-3204-4421-99EA-98CE010F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61937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F3AC2D-710A-44AB-A709-2D2D1ABB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596616-9026-493A-8DCB-2A7009A2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固定 Kp/Ki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0C631C-1835-4312-94F5-44849B17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ESP32 安全 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225818-96EE-491F-B648-6924F313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48125"/>
            <a:ext cx="10906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4B81CD-FE64-480F-AEB5-C99E871C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37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37A12"/>
                </a:solidFill>
                <a:latin typeface="Microsoft YaHei"/>
                <a:ea typeface="Microsoft YaHei"/>
                <a:cs typeface="Microsoft YaHei"/>
              </a:rPr>
              <a:t>回退结论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864C01-3E84-4A7E-AF03-5FDC89A2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29100"/>
            <a:ext cx="8429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本场景候选未通过可见稳定门，因此实际部署使用 IMC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796BF7-77AA-48C3-9074-38F4C882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53000"/>
            <a:ext cx="842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候选仍画成影子曲线；不会把 IMC 稳定曲线冒充 Z-N 成功。</a:t>
            </a:r>
          </a:p>
        </p:txBody>
      </p:sp>
    </p:spTree>
    <p:extLst>
      <p:ext uri="{BB962C8B-B14F-4D97-AF65-F5344CB8AC3E}">
        <p14:creationId xmlns:p14="http://schemas.microsoft.com/office/powerpoint/2010/main" val="184442530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0E1EDD-45DD-490C-99B8-62F2E3EF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算法 2/7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4D652C-22D6-42D4-BEDF-0749D63B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IMC 通过 λ 直接选择“快多少、稳多少”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27763-316A-4FD6-A89F-D5A80F24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454EB7-2048-4F9A-BDD5-02144312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FA8130-0DF0-405E-9C47-96BF0603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FOPDT 模型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CFEE96-E010-48F4-9F0A-CCD17D89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K、τ、L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29A6C-0101-4F30-B461-A95DA267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61937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9215C5-F27B-4821-BB44-5A887BEF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D11219-E30D-4EC8-8EB3-4BF6D175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选择鲁棒 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97A200-B3D9-4A01-80A6-BE0D98A0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λ 大更稳，λ 小更快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D7DCD1-55AE-48F5-ABA0-020F919B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61937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7A12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F40F90-B45A-43D0-8983-64615DB3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4215D8-9262-469F-A0B9-CA115E29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多场景验收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484801-CA4B-4726-BE37-B994272E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噪声与执行器约束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015559-4202-4AB6-8491-D16985C0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61937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BC8147-752D-4CF9-99AF-E2D1E281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0937D8-87E6-436A-BEC4-99E571B0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安全回退 Kp/Ki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3C369F-9EE5-41C1-AACC-A84B6E5C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固定部署基线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250304-14EF-4479-8049-067938A5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48125"/>
            <a:ext cx="10906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67DC06-8C43-46EB-ABCC-E8CE599B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8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864B"/>
                </a:solidFill>
                <a:latin typeface="Microsoft YaHei"/>
                <a:ea typeface="Microsoft YaHei"/>
                <a:cs typeface="Microsoft YaHei"/>
              </a:rPr>
              <a:t>部署结论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3C84A2-9699-4971-B3A2-D783C419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29100"/>
            <a:ext cx="8429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IMC 是本项目的安全基线，不追求每项指标都最快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29AC7E-8AFE-4A6A-BD14-1F36CBD1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53000"/>
            <a:ext cx="842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它的价值是可解释、可复现，并能在智能候选失败时接管。</a:t>
            </a:r>
          </a:p>
        </p:txBody>
      </p:sp>
    </p:spTree>
    <p:extLst>
      <p:ext uri="{BB962C8B-B14F-4D97-AF65-F5344CB8AC3E}">
        <p14:creationId xmlns:p14="http://schemas.microsoft.com/office/powerpoint/2010/main" val="57286635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0D6010-F4BF-4567-99A8-517EABFF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算法 3/7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05A64-34EA-465C-9BB4-DB7A0649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普通 BO 在上位机搜索固定 Kp/Ki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9A66D-E6D1-439E-9D34-FEAC9588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5F8D3-6F4A-4B13-BE43-AD4B8558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6A4893-6525-4F2F-8BA3-B5DD6DFA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参数边界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CAC451-4A7B-4CA8-9E3C-99ACBF28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训练场景与目标函数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9C85F8-127B-4787-8F06-6E1D4317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61937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4D5FD-ECCF-44E1-B538-E5F20714B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275072-5AC5-42D1-8F16-4C94D5A4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贝叶斯优化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25089-87FD-4139-8F02-24E4F606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选择下一组最有希望的增益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85DB43-96B2-4788-B124-8BF0BB51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61937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7A12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0DB384-4545-40E2-AA0E-9CCBDAA3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1F767C-5C0B-43D9-BECC-073A4832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独立留出场景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37883F-DD4F-42A0-BEF7-D167E524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部署前冻结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F22903-4A1E-481A-83B4-D7535288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61937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D443A3-1A61-41E4-91FD-D0D1CE52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A2686B-D46E-4183-8CDB-19BA20A3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固定 Kp/Ki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AC83DD-27B9-4F01-8158-3CDA276D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ESP32 不再探索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4A3647-721C-4205-9F58-ADB6CCD2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48125"/>
            <a:ext cx="10906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D4A798-BCD5-474F-981C-51FDFBFE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8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864B"/>
                </a:solidFill>
                <a:latin typeface="Microsoft YaHei"/>
                <a:ea typeface="Microsoft YaHei"/>
                <a:cs typeface="Microsoft YaHei"/>
              </a:rPr>
              <a:t>部署结论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946C68-967A-4750-A7E7-6C1FBB57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29100"/>
            <a:ext cx="8429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BO 解决昂贵黑箱调参，但不能在真实空调上无约束试错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1E1C50-C221-4F85-9862-9F631B02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53000"/>
            <a:ext cx="842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本 Demo 使用已保存的离线搜索产物。</a:t>
            </a:r>
          </a:p>
        </p:txBody>
      </p:sp>
    </p:spTree>
    <p:extLst>
      <p:ext uri="{BB962C8B-B14F-4D97-AF65-F5344CB8AC3E}">
        <p14:creationId xmlns:p14="http://schemas.microsoft.com/office/powerpoint/2010/main" val="104535779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40D69A-FEFD-46E4-AC88-45564C59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算法 4/7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494D00-6420-44E1-AE32-13E96189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安全 BO 同时看平均性能、噪声方差与安全裕量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9BC8F5-E6C0-4328-A016-2F789A49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B2F94E-AE51-4975-800C-AE0CD83E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68D88E-D716-462E-9088-89F9224E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候选 Kp/Ki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2110C6-5880-42C7-9633-9B024300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重复噪声仿真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8CB797-FF56-478B-BBCF-A497C939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61937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D4EF52-C883-4502-8BA9-2CEBEB13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ABFCB9-ABA8-42A3-930B-102BD0C1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风险目标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9785B-E142-4830-8B0C-28EB8484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均值 + 方差惩罚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D0009E-1AFC-40C5-95A7-B802E284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61937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7A12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7B3EA8-DA0D-445E-92B1-9E85D7A0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4394E3-FB5C-4204-8E90-AFF60275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安全代理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5E6864-F098-4CCF-8A0E-C79B700B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不安全候选不执行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BBEED3-6C3D-4FEE-9250-3011F791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61937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B6C1B0-6E41-48A9-BD50-5B31E39A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94A026-E97C-4DD8-8B62-FBC6F128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验收固定增益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A578EF-7099-42EA-97F0-944123D0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可审计安全裕量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58E53E-D1D6-4AB0-B0F8-6EEB956C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48125"/>
            <a:ext cx="10906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B070D1-16B1-4453-861B-20284563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8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864B"/>
                </a:solidFill>
                <a:latin typeface="Microsoft YaHei"/>
                <a:ea typeface="Microsoft YaHei"/>
                <a:cs typeface="Microsoft YaHei"/>
              </a:rPr>
              <a:t>部署结论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290F9E-5CB1-4FD5-A00B-23167A70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29100"/>
            <a:ext cx="8429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安全 BO 在本场景稳定更快，但结论只适用于当前模型与验收集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69639D-47D3-4DFF-A153-8ADF7061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53000"/>
            <a:ext cx="842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它仍是离线方法；真实设备上线前还需要台架验证。</a:t>
            </a:r>
          </a:p>
        </p:txBody>
      </p:sp>
    </p:spTree>
    <p:extLst>
      <p:ext uri="{BB962C8B-B14F-4D97-AF65-F5344CB8AC3E}">
        <p14:creationId xmlns:p14="http://schemas.microsoft.com/office/powerpoint/2010/main" val="143743528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67C878-3845-4AF9-A53D-EAF570C0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算法 5/7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03B5A-9406-4B43-B5F4-D45DCDE4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FNN 每 2 秒插值规则，但当前候选没有部署权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F2400-FB77-4A71-91FC-43DE0A3C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C829F-038E-4CC9-8EB7-B2AFE93C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C6628-8B41-466A-ADC9-B8C7C86D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误差 e、误差变化率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560F5B-43D3-4DBA-9A55-AE3C58C7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25 个规则节点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206C5-5B77-4242-B490-F4504156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61937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4F0D9-46A2-4773-AD1F-CE6F78E4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73CA7A-4DD2-4358-8A8F-5A92508A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四邻域插值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25AD0F-037D-40E4-857D-0E93A2AE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候选 Kp/Ki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0284F9-677B-4945-928B-71479FBF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61937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7A12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66CEB6-DCF1-4DC6-BE1B-62049B88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FCF0DA-8FAD-4777-B90D-54F9C660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覆盖率与性能门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D2FBCE-5497-41CC-A9B1-59E4C062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失败即拒绝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725498-4BC4-470F-AA4A-25A76924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61937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AED724-F3C8-42E8-8D53-509CB33A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B764F1-AA87-4262-A5FD-8A1B17FA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影子建议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785A54-2347-4AC4-8B03-F6EFAA18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实际 IMC 回退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7B44B2-B613-4656-8DB0-57036D51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48125"/>
            <a:ext cx="10906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AD54C1-3A26-4498-9443-16699812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37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37A12"/>
                </a:solidFill>
                <a:latin typeface="Microsoft YaHei"/>
                <a:ea typeface="Microsoft YaHei"/>
                <a:cs typeface="Microsoft YaHei"/>
              </a:rPr>
              <a:t>回退结论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3A1731-5D72-41C6-839D-001884EF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29100"/>
            <a:ext cx="8429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FNN 训练候选未通过性能验收，页面明确显示回退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B2C745-335C-490A-B954-2DEAB78D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53000"/>
            <a:ext cx="842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红线是 IMC 实际温度；紫色虚线才是 FNN 候选温度。</a:t>
            </a:r>
          </a:p>
        </p:txBody>
      </p:sp>
    </p:spTree>
    <p:extLst>
      <p:ext uri="{BB962C8B-B14F-4D97-AF65-F5344CB8AC3E}">
        <p14:creationId xmlns:p14="http://schemas.microsoft.com/office/powerpoint/2010/main" val="209380126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6530CC-330D-4EFC-A65A-67C4D389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算法 6/7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0629A4-427B-4C70-9B93-2B317574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RL 训练时探索，部署后只查冻结策略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D0E56-2360-4647-AA60-A25FBBBA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97205B-C42B-45A5-9B94-6B224CE6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C29E32-A15B-4D10-B906-16BAF423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e、ė、实际容量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66F646-28A5-455F-9579-874EC422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5×5×3 离散状态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7B0CD-8DB4-4C67-BDF0-610C20DD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61937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8D0D6-F22A-401A-BEAA-B979D8D9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BC30D2-745E-45C9-989E-0648229D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离线 Q 学习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224452-B9D0-4340-B08A-6E3FCDBD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冻结动作表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5C6386-AC6D-48FA-B01A-C24DBA1E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61937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7A12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2DCDC3-AA74-430A-B1B0-84500FF0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00E312-B908-43D8-A453-74B90FC6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覆盖掩码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189D4B-91BA-44A5-9F46-2C55EA5B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未覆盖状态回退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D1D305-891C-49EE-935E-0ACF1396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61937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80EA87-7096-4FA9-ABDB-BF82D79E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853C15-C1D8-4A52-909A-0D70255E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每 2 秒候选增益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D9299E-E10A-4785-BB81-55984BB7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无在线随机探索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DDCEFC-889B-4A3C-871D-A5D17AB9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48125"/>
            <a:ext cx="10906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4B076E-290A-4BE4-AD73-50BC18F2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8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864B"/>
                </a:solidFill>
                <a:latin typeface="Microsoft YaHei"/>
                <a:ea typeface="Microsoft YaHei"/>
                <a:cs typeface="Microsoft YaHei"/>
              </a:rPr>
              <a:t>部署结论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2F8826-A8BB-4578-90EB-5663F373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29100"/>
            <a:ext cx="8429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RL 已通过当前离线门，但提升不等于对真实设备已证明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77BD82-CBD3-4B5A-9890-941C15E1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53000"/>
            <a:ext cx="842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目标板只执行查表；任何未覆盖状态立即使用 IMC。</a:t>
            </a:r>
          </a:p>
        </p:txBody>
      </p:sp>
    </p:spTree>
    <p:extLst>
      <p:ext uri="{BB962C8B-B14F-4D97-AF65-F5344CB8AC3E}">
        <p14:creationId xmlns:p14="http://schemas.microsoft.com/office/powerpoint/2010/main" val="205020637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8E19F6-7D7B-40C9-AA35-FA3BA946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算法 7/7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35608A-4852-4CD4-9086-4AD0028D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LLM 只提建议：Schema、±10%与仿真门拥有最终决定权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37A654-F563-4729-A3ED-CA14F67B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7E90E-3100-412B-B295-7CEE0C58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8D2C81-033B-4B54-A6BE-E1071AC3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当前增益与指标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CC90B-1986-4673-8E3F-6F8652FD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replay / Ollama / OpenAI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C1EE82-6A52-44BA-B664-B8CCD6B1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61937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DD9127-718B-43A4-96BB-790376A8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70887-58BE-4A50-BB9E-1735C84F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结构化诊断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C328ED-3A8F-42FF-B1A0-2C534B06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只提出 Kp/Ki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50770D-0EC6-4A7C-A933-F8E6571B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61937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7A12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44973-4C9E-4FAA-90DE-908D2918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1F7C53-67A1-47E9-90B5-9CC8EE13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格式→边界→±10%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66568B-7070-4AFA-94BF-881DC9E5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重复仿真→安全门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414F96-6B67-42C2-BCBA-599F4575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619375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0A004C-6E94-4ABA-BFA1-8F8AC026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764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91CAB9-D717-4283-B849-7FB12AE4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90750"/>
            <a:ext cx="2105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验收后的固定参数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7EABAC-47AE-4E8A-A00B-B2CC5FA8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524125"/>
            <a:ext cx="2105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异常保持 IMC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4CB66D-909C-4DB4-8EC3-AEB89974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48125"/>
            <a:ext cx="10906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82083F-7D5D-4EA6-B730-DE295202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8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864B"/>
                </a:solidFill>
                <a:latin typeface="Microsoft YaHei"/>
                <a:ea typeface="Microsoft YaHei"/>
                <a:cs typeface="Microsoft YaHei"/>
              </a:rPr>
              <a:t>部署结论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164CA0-3632-4909-80A2-D555E936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29100"/>
            <a:ext cx="8429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LLM 不输出实时容量，更不能直接控制压缩机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E25006-96D0-4CFC-BBF2-25A16C32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53000"/>
            <a:ext cx="842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无密钥时 replay 明确标为录制响应；云端使用 Responses API、严格 JSON Schema、store:false。</a:t>
            </a:r>
          </a:p>
        </p:txBody>
      </p:sp>
    </p:spTree>
    <p:extLst>
      <p:ext uri="{BB962C8B-B14F-4D97-AF65-F5344CB8AC3E}">
        <p14:creationId xmlns:p14="http://schemas.microsoft.com/office/powerpoint/2010/main" val="172226732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5E56FC-B4D5-4EE9-B749-5E9312AA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ESP32 七算法温度闭环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55636-2706-4AF2-AA83-A280A171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LLM 不进实时环：慢、不可确定、可能断网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25C7C-B879-4620-8AF3-5E47660B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DA37D-F696-4B80-A2DA-777AF14C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47625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DE24D-DD9D-46CE-8C9F-AA6C5C25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240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100 ms 硬实时层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3DD795-A5AC-4C22-9092-0F1BA57F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57425"/>
            <a:ext cx="453390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测温 → PI → 限制器 → 容量请求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必须确定、可界定最坏耗时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F10A5-84F7-4F77-987E-86CAF01B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809750"/>
            <a:ext cx="47625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3644CB-574A-4516-A1DD-67C8FC05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9240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秒到分钟上位机层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37D0D3-37AD-4F29-A7F5-5ABB1E8C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257425"/>
            <a:ext cx="453390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LLM 诊断 → 候选增益 → 多场景仿真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允许超时，但无权越过安全门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C84F4C-6314-45AC-8360-D4AEC362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619375"/>
            <a:ext cx="1190625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7A12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A52FF7-5C14-45E3-8A41-0C442F80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90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37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37A12"/>
                </a:solidFill>
                <a:latin typeface="Microsoft YaHei"/>
                <a:ea typeface="Microsoft YaHei"/>
                <a:cs typeface="Microsoft YaHei"/>
              </a:rPr>
              <a:t>只下发已验收配置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F3BCCA-4A90-4B5D-B16B-EC0C04F3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7429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DEBED"/>
          </a:solidFill>
          <a:ln xmlns:a="http://schemas.openxmlformats.org/drawingml/2006/main" w="9525">
            <a:solidFill>
              <a:srgbClr val="C43D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F9CAF7-57A5-4FB3-8264-F702B4B0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000625"/>
            <a:ext cx="695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02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43D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43D4B"/>
                </a:solidFill>
                <a:latin typeface="Microsoft YaHei"/>
                <a:ea typeface="Microsoft YaHei"/>
                <a:cs typeface="Microsoft YaHei"/>
              </a:rPr>
              <a:t>超时 / 无密钥 / 非法 JSON / NaN / 极端增益 / 仿真不稳定  ⇒  保持 IMC</a:t>
            </a:r>
          </a:p>
        </p:txBody>
      </p:sp>
    </p:spTree>
    <p:extLst>
      <p:ext uri="{BB962C8B-B14F-4D97-AF65-F5344CB8AC3E}">
        <p14:creationId xmlns:p14="http://schemas.microsoft.com/office/powerpoint/2010/main" val="30394294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FC3F03-467D-42F0-93FF-9C3409B2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ESP32 七算法温度闭环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80225-8B5E-40EA-A386-BCA783D9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ESP32 用三个节拍，把实时 PI 与 AI 调度分开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316861-E8EB-4C3B-9EA6-6C0F62E7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4A7DA-BC1C-4297-91A2-2AB40EC7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050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8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864B"/>
                </a:solidFill>
                <a:latin typeface="Microsoft YaHei"/>
                <a:ea typeface="Microsoft YaHei"/>
                <a:cs typeface="Microsoft YaHei"/>
              </a:rPr>
              <a:t>100 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073618-EEC0-408F-979F-F5E922F8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24075"/>
            <a:ext cx="742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FE8D7-4BA2-4CA4-9F2F-382E604F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09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64B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9698A-6FDB-40C4-81C1-A1B2DC9A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09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64B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A4F8C5-FE14-4F75-B763-42E37E2E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09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64B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C750FF-65AB-4F0D-A417-0BAE7541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09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64B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733BCB-D6F0-482A-920C-83547879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09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64B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B7B366-62B5-4098-A245-15D3CCFD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09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64B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B6E6C8-9D50-48DE-9D2C-712866A0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9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64B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AC9FD7-DDA7-43F2-80B7-6689BF6B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09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64B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D6ABBF-598D-407D-A7E3-72607452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97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864B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742DC7-90BA-4711-A1C4-FAAAF7C3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7621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PI 闭环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968973-DEBC-4EBA-A05A-DA213343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095500"/>
            <a:ext cx="1714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读温度、算误差、更新 PI、执行限幅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A0B3DB-B6DE-41E6-8C3F-9FFB977B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86125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rPr>
              <a:t>500 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52050A-35F6-49C3-A602-CF0688BE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505200"/>
            <a:ext cx="742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445340-77F3-491E-BA69-BA12C679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90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FAEBD6-BAA3-4938-9CA9-E4997BFB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90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01D5D0-CCF5-4718-9A6D-8A017569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90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5A9C1F-A1F9-458E-A066-E726D488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90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B9CEE5-C678-4CB3-B843-E3B54BD5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90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BFC187-7EE4-4761-8985-12CCE734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143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串口遥测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B8EB50-EF90-4A70-9586-5BB14E76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476625"/>
            <a:ext cx="1714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温度、目标、容量、增益、状态、最坏耗时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D09476-0699-4DB6-A758-E868AE9E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672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44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446B8"/>
                </a:solidFill>
                <a:latin typeface="Microsoft YaHei"/>
                <a:ea typeface="Microsoft YaHei"/>
                <a:cs typeface="Microsoft YaHei"/>
              </a:rPr>
              <a:t>2 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5F6EBB-A1E8-4011-B0BB-32E53DBC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86325"/>
            <a:ext cx="742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A3B6A2-E0F0-4DA0-B2A9-1DC71DF9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72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46B8"/>
          </a:solidFill>
          <a:ln xmlns:a="http://schemas.openxmlformats.org/drawingml/2006/main" w="9525">
            <a:solidFill>
              <a:srgbClr val="7446B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578FF1-4453-4682-A8CF-4056EA41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772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46B8"/>
          </a:solidFill>
          <a:ln xmlns:a="http://schemas.openxmlformats.org/drawingml/2006/main" w="9525">
            <a:solidFill>
              <a:srgbClr val="7446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B6F926-E9D2-41DF-A43C-FAD75687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72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446B8"/>
          </a:solidFill>
          <a:ln xmlns:a="http://schemas.openxmlformats.org/drawingml/2006/main" w="9525">
            <a:solidFill>
              <a:srgbClr val="7446B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C18C7B-FF06-427D-9E8B-8B779896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5243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FNN / RL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1B8BC5-7662-4E8B-8329-38D76733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857750"/>
            <a:ext cx="1714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只生成候选 Kp/Ki；固定 PI 算法不做任何 AI 工作</a:t>
            </a:r>
          </a:p>
        </p:txBody>
      </p:sp>
    </p:spTree>
    <p:extLst>
      <p:ext uri="{BB962C8B-B14F-4D97-AF65-F5344CB8AC3E}">
        <p14:creationId xmlns:p14="http://schemas.microsoft.com/office/powerpoint/2010/main" val="173156919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5B1E9F-EC53-41E5-B650-AA089A5B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ESP32 七算法温度闭环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E6CC3-499B-4580-899A-4EE2D91F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现场 Demo：先看温度，再看容量，最后看增益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F58585-6F6E-45D1-AB2A-60EB92F9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26E6F-3AAF-4625-8871-9B17D640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526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5DD89-0ED3-46AA-ACEB-2058D498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955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248AA2-C4BA-4643-AF6B-B83F6D72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43125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FE0B63-E441-4ED7-82CF-2F5FDB63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527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启动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37500-F8DC-4809-83E3-A39976D6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30°C → 24°C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618E9D-BDD9-4AB2-B09B-EA890962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9526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D7C58E-542D-4A14-AAC2-BD48270A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955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DA8EFF-4B3D-4A50-AC3E-4CFFFE61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43125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D5775C-E2ED-4D44-A56E-52532FDE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9527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观察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0CBD1F-4983-4B9A-AD21-2D3F8E5B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4290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曲线进入绿色稳定带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C32D27-BD25-45C3-9DDD-30CAA90A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19526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7A12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40EE0C-A2AD-4218-A895-302E127C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0955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15D239-925D-4BE1-8DE8-6AB1723E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43125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B3D243-075A-4ABD-8D65-75DE1933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9527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扰动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E6F74C-73C9-4A2E-A1F9-D2675AEE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4290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按按钮模拟开门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40883B-47C2-4632-9C94-20C409FF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9526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873E71-8588-44AA-BF2D-992C9C70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0955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482FD1-24FC-46F3-ACE4-4D0A2CD7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43125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FE393D-055E-4B3B-B882-549A65BE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9527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恢复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CAA6B8-8FD5-45CC-B79A-B8A84229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4290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容量升高，温度回带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A8C857-EC88-40C8-9A50-75277407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19526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31EB98-E86C-4185-BFD0-48468F42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09550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06BFDE-F7C2-429D-98F1-98DF3978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9527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核对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012912-E0D6-414D-9DC7-FDCAD259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4290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状态/回退/最坏耗时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43522B-543A-4B59-BDB4-70792165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0125"/>
            <a:ext cx="990600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A2C922-6008-4256-B8C5-75695912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29200"/>
            <a:ext cx="942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页面必须同时看到温度曲线、目标线、±0.5°C 稳定带和开门标记；文字“已稳定”不是唯一证据。</a:t>
            </a:r>
          </a:p>
        </p:txBody>
      </p:sp>
    </p:spTree>
    <p:extLst>
      <p:ext uri="{BB962C8B-B14F-4D97-AF65-F5344CB8AC3E}">
        <p14:creationId xmlns:p14="http://schemas.microsoft.com/office/powerpoint/2010/main" val="195110912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63DBE3-2B61-4FB2-9994-F7461576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ESP32 七算法温度闭环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E378A-6B50-4C09-B708-FEA567C2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同一场景下，七条实际部署曲线都稳定；失败候选不会获得控制权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D7909-5AED-4B83-A616-45D654E0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28625" y="1381125"/>
          <a:ext xmlns:a="http://schemas.openxmlformats.org/drawingml/2006/main" cx="8096250" cy="4619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10bd2294e0426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4B0C0-AA5C-427D-94BD-734DF500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571625"/>
            <a:ext cx="2857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7446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3FE8A-10CB-43BA-BADC-59137BD1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430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最快稳定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5FF7E5-E7EC-4524-9755-90B5D9F7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955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44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446B8"/>
                </a:solidFill>
                <a:latin typeface="Microsoft YaHei"/>
                <a:ea typeface="Microsoft YaHei"/>
                <a:cs typeface="Microsoft YaHei"/>
              </a:rPr>
              <a:t>RL · 76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6C8ED-A348-43FC-B670-BDA54E05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52750"/>
            <a:ext cx="2857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7446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344A09-5DB6-4C27-9DD7-8A753A65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24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最快扰动恢复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7378B4-1B71-476B-A735-3B11290B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47662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446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7446B8"/>
                </a:solidFill>
                <a:latin typeface="Microsoft YaHei"/>
                <a:ea typeface="Microsoft YaHei"/>
                <a:cs typeface="Microsoft YaHei"/>
              </a:rPr>
              <a:t>RL · 24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4B3BF6-638D-4F25-8207-444D4833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33875"/>
            <a:ext cx="285750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67D7D9-4FFB-4DC2-A8A7-79E30AC9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053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明确回退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676FC4-2632-4B3A-B75A-927B394F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857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E37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E37A12"/>
                </a:solidFill>
                <a:latin typeface="Microsoft YaHei"/>
                <a:ea typeface="Microsoft YaHei"/>
                <a:cs typeface="Microsoft YaHei"/>
              </a:rPr>
              <a:t>Z-N、FNN</a:t>
            </a:r>
          </a:p>
        </p:txBody>
      </p:sp>
    </p:spTree>
    <p:extLst>
      <p:ext uri="{BB962C8B-B14F-4D97-AF65-F5344CB8AC3E}">
        <p14:creationId xmlns:p14="http://schemas.microsoft.com/office/powerpoint/2010/main" val="64834148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D7B192-EF59-4426-B195-0A68B1D3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ESP32 七算法温度闭环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23070-3270-47B6-AE02-BB02CB99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开门先把温度推高，控制器随后增加容量并恢复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202945-4B7B-4ED5-BAA2-9413AC7A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23875" y="1476375"/>
          <a:ext xmlns:a="http://schemas.openxmlformats.org/drawingml/2006/main" cx="7572375" cy="4429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0c3655b2c26474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58BA1-E178-4FC9-8ADF-2C97D734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2762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F9612-6693-4F72-BCDB-225B3E62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240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E37A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E37A12"/>
                </a:solidFill>
                <a:latin typeface="Microsoft YaHei"/>
                <a:ea typeface="Microsoft YaHei"/>
                <a:cs typeface="Microsoft YaHei"/>
              </a:rPr>
              <a:t>189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FFD4BB-096A-4B69-86EC-CDC4EF9F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81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开门热负荷注入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DC6081-42B6-45E8-8848-084BFD2B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86125"/>
            <a:ext cx="276225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A6B1E2-3180-44A5-8ECE-BCE1E752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956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8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864B"/>
                </a:solidFill>
                <a:latin typeface="Microsoft YaHei"/>
                <a:ea typeface="Microsoft YaHei"/>
                <a:cs typeface="Microsoft YaHei"/>
              </a:rPr>
              <a:t>24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B9C6E7-0E60-4E55-A270-48083F58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528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当前场景扰动恢复时间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A4957B-EAAE-43FA-810C-DB258C5A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530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恢复定义：扰动结束后再次连续保持在 ±0.5°C。</a:t>
            </a:r>
          </a:p>
        </p:txBody>
      </p:sp>
    </p:spTree>
    <p:extLst>
      <p:ext uri="{BB962C8B-B14F-4D97-AF65-F5344CB8AC3E}">
        <p14:creationId xmlns:p14="http://schemas.microsoft.com/office/powerpoint/2010/main" val="12943020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D51D07-B63B-4975-8A89-DA67A489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ESP32 七算法温度闭环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3071CB-8597-4941-AF98-6CF50E93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FNN 被拒绝时，两条曲线必须分开说清楚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48FB0-8D37-458C-906F-3D20D333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23875" y="1476375"/>
          <a:ext xmlns:a="http://schemas.openxmlformats.org/drawingml/2006/main" cx="7524750" cy="4429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dfb8f2338524e0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33F559-A5AF-4F4E-A92A-362709AE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66875"/>
            <a:ext cx="2762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00388-7413-4DF5-A633-0C7D0094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781175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候选层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97048-FD35-4B2C-A8B3-9B989589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14550"/>
            <a:ext cx="2533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FNN 仍每 2 s 计算候选增益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用于记录和后续改进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430EE7-380B-4335-A5B5-FB805874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76625"/>
            <a:ext cx="2762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A0A45-653A-47D1-896E-FF5DAE18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90925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执行层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BAF5D3-7C23-4F82-9E04-79978AC9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24300"/>
            <a:ext cx="2533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实际温度由 IMC 参数控制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回退 LED 与状态同时点亮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860B28-F838-4678-BCD0-D524DEFF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86375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43D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43D4B"/>
                </a:solidFill>
                <a:latin typeface="Microsoft YaHei"/>
                <a:ea typeface="Microsoft YaHei"/>
                <a:cs typeface="Microsoft YaHei"/>
              </a:rPr>
              <a:t>不能把绿色稳定结果写成“FNN 已通过”。</a:t>
            </a:r>
          </a:p>
        </p:txBody>
      </p:sp>
    </p:spTree>
    <p:extLst>
      <p:ext uri="{BB962C8B-B14F-4D97-AF65-F5344CB8AC3E}">
        <p14:creationId xmlns:p14="http://schemas.microsoft.com/office/powerpoint/2010/main" val="59364198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9366DB-08AB-47B2-BA5F-3C458D8F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ESP32 七算法温度闭环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5CD609-C5D9-4D2B-88B8-A1CCB367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52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接真实空调时，ESP32 通过 Modbus 控制器/BMS，不碰功率器件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18EF8B-0666-4783-9523-7CFAF261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3EAB94-6D1F-4E32-BEF6-999524AC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952625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8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D4F1E-6556-4D71-A8E1-6CE85BE1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66925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温度传感器 / BMS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69DE4-F726-46CE-ACA7-686C839D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400300"/>
            <a:ext cx="2152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读：实际温度、实际频率、告警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92407C-A41C-498C-8DDC-7EAA7398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476500"/>
            <a:ext cx="619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6C9E3E-3811-4376-8F64-8E720479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52625"/>
            <a:ext cx="2190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6CC5F1-9D96-4A6F-8760-97890D4D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66925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ESP32 安全 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F6F693-CE79-4D3A-8A40-C8C0EA6D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00300"/>
            <a:ext cx="1962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100 ms 控制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通信超时立即撤权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94184-6370-4796-A333-2F047589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76500"/>
            <a:ext cx="619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7A12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463BE5-1B30-4F8D-AF53-AC395C0D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952625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89C17D-25E4-4ADA-A593-88829E72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066925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70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RS-485 / Modbus RTU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498F29-84E5-436F-88EF-ACDEE6AE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400300"/>
            <a:ext cx="2152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容量或频率设定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地址、缩放、字节序可配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526ECE-DFC7-4813-971C-57110049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76500"/>
            <a:ext cx="61912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37A12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8AF039-7532-4BEB-9544-B200B45E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52625"/>
            <a:ext cx="1952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0A913D-0761-4278-9ABD-C49F5545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066925"/>
            <a:ext cx="17240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511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空调控制器 / 变频器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589B71-5598-49FA-A16F-89CB3292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400300"/>
            <a:ext cx="1724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厂商内部完成压缩机功率驱动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8718A0-A68A-48DC-9806-63448F4B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33875"/>
            <a:ext cx="100012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DEBED"/>
          </a:solidFill>
          <a:ln xmlns:a="http://schemas.openxmlformats.org/drawingml/2006/main" w="9525">
            <a:solidFill>
              <a:srgbClr val="C43D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AE107B-086A-420F-8EEA-CBCB0797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72000"/>
            <a:ext cx="942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121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43D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43D4B"/>
                </a:solidFill>
                <a:latin typeface="Microsoft YaHei"/>
                <a:ea typeface="Microsoft YaHei"/>
                <a:cs typeface="Microsoft YaHei"/>
              </a:rPr>
              <a:t>默认只读：没有真实寄存器表时 kWritesEnabled=false；传感器异常、超时、告警或配置 CRC 错误均输出 0 并安全回退。</a:t>
            </a:r>
          </a:p>
        </p:txBody>
      </p:sp>
    </p:spTree>
    <p:extLst>
      <p:ext uri="{BB962C8B-B14F-4D97-AF65-F5344CB8AC3E}">
        <p14:creationId xmlns:p14="http://schemas.microsoft.com/office/powerpoint/2010/main" val="13756220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1AD808-E1F4-41FD-B45D-AF8120BF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ESP32 七算法温度闭环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189E2-3B8E-4440-9668-0990E42A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当前结论：演示链路完整，真机结论仍需目标板与空调台架证据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F1647E-BC65-4B25-AF14-5DE58DF6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CC433-E21C-4409-99C1-BA0684C5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342900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7F6EE"/>
          </a:solidFill>
          <a:ln xmlns:a="http://schemas.openxmlformats.org/drawingml/2006/main" w="9525">
            <a:solidFill>
              <a:srgbClr val="1786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5F3CB-80AB-4293-A14B-68CA0164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76425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已经完成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A52D49-D290-47DA-85F4-CC81B031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09800"/>
            <a:ext cx="3200400" cy="275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七算法独立入口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温度/目标/稳定带/扰动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HTML + Streamlit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ESP32 Demo/Modbus 双模式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PC软件在环与自动测试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1C0541-FAB4-46B9-B6F1-6DA45157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62125"/>
            <a:ext cx="342900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E37A1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441CE0-617A-4780-ACAE-5F660461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76425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明确不冒充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EE3C36-19D4-4AA6-B8D2-A9F1A5A1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09800"/>
            <a:ext cx="3200400" cy="275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Z-N/FNN候选失败会回退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replay 不是实时 LLM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PC时序不是目标板时序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虚拟 5 h 不是实房 5 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10C8F3-6CF0-4B4A-B5B2-4F95B711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62125"/>
            <a:ext cx="342900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7B37ED-5928-444C-A747-7FF2FEAB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876425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下一阶段证据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9EF6E1-B7E6-40B7-B0D5-DB024D27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209800"/>
            <a:ext cx="3200400" cy="275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PlatformIO 编译与 Wokwi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ESP32 连续 10 min 串口验收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真实寄存器表核对</a:t>
            </a:r>
          </a:p>
          <a:p xmlns:a="http://schemas.openxmlformats.org/drawingml/2006/main">
            <a:pPr algn="ctr">
              <a:def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26072"/>
                </a:solidFill>
                <a:latin typeface="Microsoft YaHei"/>
                <a:ea typeface="Microsoft YaHei"/>
                <a:cs typeface="Microsoft YaHei"/>
              </a:rPr>
              <a:t>台架阶跃与扰动测试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A46A87-30B4-44E0-B570-C2898642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72125"/>
            <a:ext cx="962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落地原则：算法可以失败，但闭环必须可观察、可回退、可审计。</a:t>
            </a:r>
          </a:p>
        </p:txBody>
      </p:sp>
    </p:spTree>
    <p:extLst>
      <p:ext uri="{BB962C8B-B14F-4D97-AF65-F5344CB8AC3E}">
        <p14:creationId xmlns:p14="http://schemas.microsoft.com/office/powerpoint/2010/main" val="1972014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2026-08-29T15:25:15.9370000Z</dcterms:created>
  <dcterms:modified xsi:type="dcterms:W3CDTF">2026-08-29T15:25:15.9370000Z</dcterms:modified>
</coreProperties>
</file>