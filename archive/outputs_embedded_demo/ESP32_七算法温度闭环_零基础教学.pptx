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2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3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4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7f0f84c26e44a5" /><Relationship Type="http://schemas.openxmlformats.org/officeDocument/2006/relationships/extended-properties" Target="/docProps/app.xml" Id="R627119f009e44915" /><Relationship Type="http://schemas.openxmlformats.org/officeDocument/2006/relationships/officeDocument" Target="/ppt/presentation.xml" Id="Rb5941a53050340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4f500a8421489c"/>
  </p:sldMasterIdLst>
  <p:notesMasterIdLst>
    <p:notesMasterId xmlns:r="http://schemas.openxmlformats.org/officeDocument/2006/relationships" r:id="Rdef4f8b47ed346ef"/>
  </p:notesMasterIdLst>
  <p:sldIdLst>
    <p:sldId xmlns:r="http://schemas.openxmlformats.org/officeDocument/2006/relationships" id="256" r:id="R81df9a1a81d5400c"/>
    <p:sldId xmlns:r="http://schemas.openxmlformats.org/officeDocument/2006/relationships" id="257" r:id="R7ec84f2f50154076"/>
    <p:sldId xmlns:r="http://schemas.openxmlformats.org/officeDocument/2006/relationships" id="258" r:id="R1938828d1bb941a7"/>
    <p:sldId xmlns:r="http://schemas.openxmlformats.org/officeDocument/2006/relationships" id="259" r:id="R7e71f786ed454ff4"/>
    <p:sldId xmlns:r="http://schemas.openxmlformats.org/officeDocument/2006/relationships" id="260" r:id="Re8a97deee086499a"/>
    <p:sldId xmlns:r="http://schemas.openxmlformats.org/officeDocument/2006/relationships" id="261" r:id="R571b60813fe14a37"/>
    <p:sldId xmlns:r="http://schemas.openxmlformats.org/officeDocument/2006/relationships" id="262" r:id="R30d740455f094dfa"/>
    <p:sldId xmlns:r="http://schemas.openxmlformats.org/officeDocument/2006/relationships" id="263" r:id="R55930e4410f74115"/>
    <p:sldId xmlns:r="http://schemas.openxmlformats.org/officeDocument/2006/relationships" id="264" r:id="R7e984eefe8d54bc5"/>
    <p:sldId xmlns:r="http://schemas.openxmlformats.org/officeDocument/2006/relationships" id="265" r:id="Rf5bbced042c1454f"/>
    <p:sldId xmlns:r="http://schemas.openxmlformats.org/officeDocument/2006/relationships" id="266" r:id="R7d01cadbcc844fd7"/>
    <p:sldId xmlns:r="http://schemas.openxmlformats.org/officeDocument/2006/relationships" id="267" r:id="R167d2a15f4bd4e7c"/>
    <p:sldId xmlns:r="http://schemas.openxmlformats.org/officeDocument/2006/relationships" id="268" r:id="R003c3d749a34453d"/>
    <p:sldId xmlns:r="http://schemas.openxmlformats.org/officeDocument/2006/relationships" id="269" r:id="Rb0da61e0932b4285"/>
    <p:sldId xmlns:r="http://schemas.openxmlformats.org/officeDocument/2006/relationships" id="270" r:id="Rc8c75cf8a91849fe"/>
    <p:sldId xmlns:r="http://schemas.openxmlformats.org/officeDocument/2006/relationships" id="271" r:id="R9f5bbe35b68c47a8"/>
    <p:sldId xmlns:r="http://schemas.openxmlformats.org/officeDocument/2006/relationships" id="272" r:id="Rc7b13b5f17be45c3"/>
    <p:sldId xmlns:r="http://schemas.openxmlformats.org/officeDocument/2006/relationships" id="273" r:id="Rf7fd4fa6c12c4503"/>
    <p:sldId xmlns:r="http://schemas.openxmlformats.org/officeDocument/2006/relationships" id="274" r:id="Ref3a02927cbc481b"/>
    <p:sldId xmlns:r="http://schemas.openxmlformats.org/officeDocument/2006/relationships" id="275" r:id="R92830de0ce9f48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2a2ac3830a4fa0" /><Relationship Type="http://schemas.openxmlformats.org/officeDocument/2006/relationships/slideMaster" Target="/ppt/slideMasters/slideMaster1.xml" Id="R664f500a8421489c" /><Relationship Type="http://schemas.openxmlformats.org/officeDocument/2006/relationships/notesMaster" Target="/ppt/notesMasters/notesMaster1.xml" Id="Rdef4f8b47ed346ef" /><Relationship Type="http://schemas.openxmlformats.org/officeDocument/2006/relationships/presProps" Target="/ppt/presProps.xml" Id="Rc2bd102a64c74ca5" /><Relationship Type="http://schemas.openxmlformats.org/officeDocument/2006/relationships/tableStyles" Target="/ppt/tableStyles.xml" Id="Rf5e0b1ecadc849e2" /><Relationship Type="http://schemas.openxmlformats.org/officeDocument/2006/relationships/slide" Target="/ppt/slides/slide1.xml" Id="R81df9a1a81d5400c" /><Relationship Type="http://schemas.openxmlformats.org/officeDocument/2006/relationships/slide" Target="/ppt/slides/slide2.xml" Id="R7ec84f2f50154076" /><Relationship Type="http://schemas.openxmlformats.org/officeDocument/2006/relationships/slide" Target="/ppt/slides/slide3.xml" Id="R1938828d1bb941a7" /><Relationship Type="http://schemas.openxmlformats.org/officeDocument/2006/relationships/slide" Target="/ppt/slides/slide4.xml" Id="R7e71f786ed454ff4" /><Relationship Type="http://schemas.openxmlformats.org/officeDocument/2006/relationships/slide" Target="/ppt/slides/slide5.xml" Id="Re8a97deee086499a" /><Relationship Type="http://schemas.openxmlformats.org/officeDocument/2006/relationships/slide" Target="/ppt/slides/slide6.xml" Id="R571b60813fe14a37" /><Relationship Type="http://schemas.openxmlformats.org/officeDocument/2006/relationships/slide" Target="/ppt/slides/slide7.xml" Id="R30d740455f094dfa" /><Relationship Type="http://schemas.openxmlformats.org/officeDocument/2006/relationships/slide" Target="/ppt/slides/slide8.xml" Id="R55930e4410f74115" /><Relationship Type="http://schemas.openxmlformats.org/officeDocument/2006/relationships/slide" Target="/ppt/slides/slide9.xml" Id="R7e984eefe8d54bc5" /><Relationship Type="http://schemas.openxmlformats.org/officeDocument/2006/relationships/slide" Target="/ppt/slides/slide10.xml" Id="Rf5bbced042c1454f" /><Relationship Type="http://schemas.openxmlformats.org/officeDocument/2006/relationships/slide" Target="/ppt/slides/slide11.xml" Id="R7d01cadbcc844fd7" /><Relationship Type="http://schemas.openxmlformats.org/officeDocument/2006/relationships/slide" Target="/ppt/slides/slide12.xml" Id="R167d2a15f4bd4e7c" /><Relationship Type="http://schemas.openxmlformats.org/officeDocument/2006/relationships/slide" Target="/ppt/slides/slide13.xml" Id="R003c3d749a34453d" /><Relationship Type="http://schemas.openxmlformats.org/officeDocument/2006/relationships/slide" Target="/ppt/slides/slide14.xml" Id="Rb0da61e0932b4285" /><Relationship Type="http://schemas.openxmlformats.org/officeDocument/2006/relationships/slide" Target="/ppt/slides/slide15.xml" Id="Rc8c75cf8a91849fe" /><Relationship Type="http://schemas.openxmlformats.org/officeDocument/2006/relationships/slide" Target="/ppt/slides/slide16.xml" Id="R9f5bbe35b68c47a8" /><Relationship Type="http://schemas.openxmlformats.org/officeDocument/2006/relationships/slide" Target="/ppt/slides/slide17.xml" Id="Rc7b13b5f17be45c3" /><Relationship Type="http://schemas.openxmlformats.org/officeDocument/2006/relationships/slide" Target="/ppt/slides/slide18.xml" Id="Rf7fd4fa6c12c4503" /><Relationship Type="http://schemas.openxmlformats.org/officeDocument/2006/relationships/slide" Target="/ppt/slides/slide19.xml" Id="Ref3a02927cbc481b" /><Relationship Type="http://schemas.openxmlformats.org/officeDocument/2006/relationships/slide" Target="/ppt/slides/slide20.xml" Id="R92830de0ce9f48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581d4a882c46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a5ecf53d5146a3" /><Relationship Type="http://schemas.openxmlformats.org/officeDocument/2006/relationships/notesMaster" Target="/ppt/notesMasters/notesMaster1.xml" Id="R25a98aac5ca948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a1f521b1d2461e" /><Relationship Type="http://schemas.openxmlformats.org/officeDocument/2006/relationships/notesMaster" Target="/ppt/notesMasters/notesMaster1.xml" Id="R4b2f8164de764a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ec381961a2421c" /><Relationship Type="http://schemas.openxmlformats.org/officeDocument/2006/relationships/notesMaster" Target="/ppt/notesMasters/notesMaster1.xml" Id="R144ccd035ea749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69bb7964d9454b" /><Relationship Type="http://schemas.openxmlformats.org/officeDocument/2006/relationships/notesMaster" Target="/ppt/notesMasters/notesMaster1.xml" Id="R1f236f8ddf6b46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11fcddb8444afd" /><Relationship Type="http://schemas.openxmlformats.org/officeDocument/2006/relationships/notesMaster" Target="/ppt/notesMasters/notesMaster1.xml" Id="Ra9df4c69d43745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bf6c64afd54278" /><Relationship Type="http://schemas.openxmlformats.org/officeDocument/2006/relationships/notesMaster" Target="/ppt/notesMasters/notesMaster1.xml" Id="R227fb6fe3bd440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8a78e9155644b2" /><Relationship Type="http://schemas.openxmlformats.org/officeDocument/2006/relationships/notesMaster" Target="/ppt/notesMasters/notesMaster1.xml" Id="R3e3545528f9c40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b5b914e9fe47cb" /><Relationship Type="http://schemas.openxmlformats.org/officeDocument/2006/relationships/notesMaster" Target="/ppt/notesMasters/notesMaster1.xml" Id="R22dac796921349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514f2e8837482f" /><Relationship Type="http://schemas.openxmlformats.org/officeDocument/2006/relationships/notesMaster" Target="/ppt/notesMasters/notesMaster1.xml" Id="R08fda0cad7994f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d558044f124fac" /><Relationship Type="http://schemas.openxmlformats.org/officeDocument/2006/relationships/notesMaster" Target="/ppt/notesMasters/notesMaster1.xml" Id="R16f74b4b6f654a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381df79b0d4040" /><Relationship Type="http://schemas.openxmlformats.org/officeDocument/2006/relationships/notesMaster" Target="/ppt/notesMasters/notesMaster1.xml" Id="Ra30cd7dfca2e44e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bb5758e33d4723" /><Relationship Type="http://schemas.openxmlformats.org/officeDocument/2006/relationships/notesMaster" Target="/ppt/notesMasters/notesMaster1.xml" Id="R0b9ec3ae0ec2446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c9beeb523d749cd" /><Relationship Type="http://schemas.openxmlformats.org/officeDocument/2006/relationships/notesMaster" Target="/ppt/notesMasters/notesMaster1.xml" Id="R35072e66851647b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53db076c5f14ae9" /><Relationship Type="http://schemas.openxmlformats.org/officeDocument/2006/relationships/notesMaster" Target="/ppt/notesMasters/notesMaster1.xml" Id="Rb51b19f559e2432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3b65b0090154929" /><Relationship Type="http://schemas.openxmlformats.org/officeDocument/2006/relationships/notesMaster" Target="/ppt/notesMasters/notesMaster1.xml" Id="R5d09564e140e4db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855f9b24bf44e23" /><Relationship Type="http://schemas.openxmlformats.org/officeDocument/2006/relationships/notesMaster" Target="/ppt/notesMasters/notesMaster1.xml" Id="R52c9af9070a94ba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9ab1b4955f54dad" /><Relationship Type="http://schemas.openxmlformats.org/officeDocument/2006/relationships/notesMaster" Target="/ppt/notesMasters/notesMaster1.xml" Id="Rde59fb7c6d9d4ac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dfcacbe876c4dbf" /><Relationship Type="http://schemas.openxmlformats.org/officeDocument/2006/relationships/notesMaster" Target="/ppt/notesMasters/notesMaster1.xml" Id="R4d4e79c2ed764c4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ed4e3be2f904bee" /><Relationship Type="http://schemas.openxmlformats.org/officeDocument/2006/relationships/notesMaster" Target="/ppt/notesMasters/notesMaster1.xml" Id="Rb504c3ebf2f3476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3fcdc17958145a3" /><Relationship Type="http://schemas.openxmlformats.org/officeDocument/2006/relationships/notesMaster" Target="/ppt/notesMasters/notesMaster1.xml" Id="R528615ece29d41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开场只讲一件事：温度曲线是主角，算法是产生安全参数的方法。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outputs_embedded_demo/temperature_control_demo.html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解释输入 r、输出 T，以及为什么训练损失不能代替闭环曲线。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hvac_pid/embedded_demo.py#demo_scenario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顺时针讲完整回路。强调 LLM 不在 100 ms 循环里。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embedded/esp32_seven_algorithm_demo/src/main.cpp</a:t>
            </a:r>
          </a:p>
          <a:p xmlns:a="http://schemas.openxmlformats.org/drawingml/2006/main">
            <a:r>
              <a:t>- Local project: embedded/hvac_pid_controller.hpp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明确区分演示墙钟时间与物理时间。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data: outputs_embedded_demo/imc_temperature_demo.csv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用水龙头类比 P；用长期水位差类比 I。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hvac_pid/controllers.py</a:t>
            </a:r>
          </a:p>
          <a:p xmlns:a="http://schemas.openxmlformats.org/drawingml/2006/main">
            <a:r>
              <a:t>- Local project: embedded/hvac_pid_controller.hpp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 输入→算法工作→安全门→ESP32输出 的顺序讲解。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hvac_pid/embedded_demo.py</a:t>
            </a:r>
          </a:p>
          <a:p xmlns:a="http://schemas.openxmlformats.org/drawingml/2006/main">
            <a:r>
              <a:t>- Local data: outputs_embedded_demo/seven_algorithm_summary.csv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 输入→算法工作→安全门→ESP32输出 的顺序讲解。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hvac_pid/embedded_demo.py</a:t>
            </a:r>
          </a:p>
          <a:p xmlns:a="http://schemas.openxmlformats.org/drawingml/2006/main">
            <a:r>
              <a:t>- Local data: outputs_embedded_demo/seven_algorithm_summary.csv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 输入→算法工作→安全门→ESP32输出 的顺序讲解。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hvac_pid/embedded_demo.py</a:t>
            </a:r>
          </a:p>
          <a:p xmlns:a="http://schemas.openxmlformats.org/drawingml/2006/main">
            <a:r>
              <a:t>- Local data: outputs_embedded_demo/seven_algorithm_summary.csv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 输入→算法工作→安全门→ESP32输出 的顺序讲解。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hvac_pid/embedded_demo.py</a:t>
            </a:r>
          </a:p>
          <a:p xmlns:a="http://schemas.openxmlformats.org/drawingml/2006/main">
            <a:r>
              <a:t>- Local data: outputs_embedded_demo/seven_algorithm_summary.csv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 输入→算法工作→安全门→ESP32输出 的顺序讲解。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hvac_pid/embedded_demo.py</a:t>
            </a:r>
          </a:p>
          <a:p xmlns:a="http://schemas.openxmlformats.org/drawingml/2006/main">
            <a:r>
              <a:t>- Local data: outputs_embedded_demo/seven_algorithm_summary.csv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 输入→算法工作→安全门→ESP32输出 的顺序讲解。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hvac_pid/embedded_demo.py</a:t>
            </a:r>
          </a:p>
          <a:p xmlns:a="http://schemas.openxmlformats.org/drawingml/2006/main">
            <a:r>
              <a:t>- Local data: outputs_embedded_demo/seven_algorithm_summary.csv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 输入→算法工作→安全门→ESP32输出 的顺序讲解。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hvac_pid/advanced_tuning.py</a:t>
            </a:r>
          </a:p>
          <a:p xmlns:a="http://schemas.openxmlformats.org/drawingml/2006/main">
            <a:r>
              <a:t>- OpenAI Responses API: https://developers.openai.com/api/reference/cli/resources/responses/methods/create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强调速度分层与最终控制权。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hvac_pid/advanced_tuning.py</a:t>
            </a:r>
          </a:p>
          <a:p xmlns:a="http://schemas.openxmlformats.org/drawingml/2006/main">
            <a:r>
              <a:t>- OpenAI Responses API: https://developers.openai.com/api/reference/cli/resources/responses/methods/create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说明调度不是三个线程必须同时执行，而是三个周期性任务。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embedded/generated_demo_profiles.hpp</a:t>
            </a:r>
          </a:p>
          <a:p xmlns:a="http://schemas.openxmlformats.org/drawingml/2006/main">
            <a:r>
              <a:t>- Local project: embedded/esp32_seven_algorithm_demo/src/main.cpp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现场按这个固定顺序操作，避免先讲算法名词。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artifact: outputs_embedded_demo/temperature_control_demo.html</a:t>
            </a:r>
          </a:p>
          <a:p xmlns:a="http://schemas.openxmlformats.org/drawingml/2006/main">
            <a:r>
              <a:t>- Local app: streamlit_app.py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所有数字都是统一虚拟场景结果，不外推到真实设备。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data: outputs_embedded_demo/seven_algorithm_summary.csv</a:t>
            </a:r>
          </a:p>
          <a:p xmlns:a="http://schemas.openxmlformats.org/drawingml/2006/main">
            <a:r>
              <a:t>- Local data: outputs_embedded_demo/*_temperature_demo.csv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解释扰动恢复不是瞬间回到设定值，而是再次满足保持窗口。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data: outputs_embedded_demo/rl_temperature_demo.csv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这是报告可信度的关键一页。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data: outputs_embedded_demo/fnn_temperature_demo.csv</a:t>
            </a:r>
          </a:p>
          <a:p xmlns:a="http://schemas.openxmlformats.org/drawingml/2006/main">
            <a:r>
              <a:t>- Local data: outputs_adaptive_final_v2/fnn_training_history.csv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 RS-485 收发器与厂商寄存器表是接真机的前提。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embedded/modbus_config.hpp</a:t>
            </a:r>
          </a:p>
          <a:p xmlns:a="http://schemas.openxmlformats.org/drawingml/2006/main">
            <a:r>
              <a:t>- Local project: embedded/modbus_rtu_adapter.hpp</a:t>
            </a:r>
          </a:p>
          <a:p xmlns:a="http://schemas.openxmlformats.org/drawingml/2006/main">
            <a:r>
              <a:t>- Local project: embedded/esp32_seven_algorithm_demo/src/main.cpp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结尾回到开场问题：是否真的看见温度稳定，以及失败时是否安全。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tests/test_embedded_demo.py</a:t>
            </a:r>
          </a:p>
          <a:p xmlns:a="http://schemas.openxmlformats.org/drawingml/2006/main">
            <a:r>
              <a:t>- Local project: embedded/validate_esp32_serial.py</a:t>
            </a:r>
          </a:p>
          <a:p xmlns:a="http://schemas.openxmlformats.org/drawingml/2006/main">
            <a:r>
              <a:t>- Local artifact: outputs_embedded_demo/temperature_control_demo.html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8ca5e1e4cf48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ba6f5ace3d4228" /><Relationship Type="http://schemas.openxmlformats.org/officeDocument/2006/relationships/slideLayout" Target="/ppt/slideLayouts/slideLayout1.xml" Id="R005b2a15722b4b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5b2a15722b4b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a05a85ee4499b" /><Relationship Type="http://schemas.openxmlformats.org/officeDocument/2006/relationships/notesSlide" Target="/ppt/notesSlides/notesSlide1.xml" Id="R73b63b8807a04c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5c60a05a549e7" /><Relationship Type="http://schemas.openxmlformats.org/officeDocument/2006/relationships/notesSlide" Target="/ppt/notesSlides/notesSlide2.xml" Id="R3b75c1ad861043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b20643e364acb" /><Relationship Type="http://schemas.openxmlformats.org/officeDocument/2006/relationships/notesSlide" Target="/ppt/notesSlides/notesSlide3.xml" Id="Rcf966f5887eb40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1457de93a4a2d" /><Relationship Type="http://schemas.openxmlformats.org/officeDocument/2006/relationships/chart" Target="/ppt/slides/charts/chart1.xml" Id="Rb339c2f6941b4c70" /><Relationship Type="http://schemas.openxmlformats.org/officeDocument/2006/relationships/notesSlide" Target="/ppt/notesSlides/notesSlide4.xml" Id="Ra2d104cf2f6f43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c59a601b7436a" /><Relationship Type="http://schemas.openxmlformats.org/officeDocument/2006/relationships/notesSlide" Target="/ppt/notesSlides/notesSlide5.xml" Id="R578c3483042148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516b9724e4bbf" /><Relationship Type="http://schemas.openxmlformats.org/officeDocument/2006/relationships/notesSlide" Target="/ppt/notesSlides/notesSlide6.xml" Id="R7ac838cf815b40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2a2cc48c8443c" /><Relationship Type="http://schemas.openxmlformats.org/officeDocument/2006/relationships/notesSlide" Target="/ppt/notesSlides/notesSlide7.xml" Id="R3346de15183049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8f711f65b46bd" /><Relationship Type="http://schemas.openxmlformats.org/officeDocument/2006/relationships/notesSlide" Target="/ppt/notesSlides/notesSlide8.xml" Id="R35d072a14a384c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79bf8beea4df5" /><Relationship Type="http://schemas.openxmlformats.org/officeDocument/2006/relationships/notesSlide" Target="/ppt/notesSlides/notesSlide9.xml" Id="R62f333cea37943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6192e52ce47d0" /><Relationship Type="http://schemas.openxmlformats.org/officeDocument/2006/relationships/notesSlide" Target="/ppt/notesSlides/notesSlide10.xml" Id="R7e67762a1817468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f02a707354750" /><Relationship Type="http://schemas.openxmlformats.org/officeDocument/2006/relationships/notesSlide" Target="/ppt/notesSlides/notesSlide11.xml" Id="R4c757f77c82243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9f25b32dc432e" /><Relationship Type="http://schemas.openxmlformats.org/officeDocument/2006/relationships/notesSlide" Target="/ppt/notesSlides/notesSlide12.xml" Id="Rb454056f49c94c2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3271407fd4ffb" /><Relationship Type="http://schemas.openxmlformats.org/officeDocument/2006/relationships/notesSlide" Target="/ppt/notesSlides/notesSlide13.xml" Id="R3eb19fb596aa46c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64cc2dcef4aa1" /><Relationship Type="http://schemas.openxmlformats.org/officeDocument/2006/relationships/notesSlide" Target="/ppt/notesSlides/notesSlide14.xml" Id="R2ce2b7d623e74dc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e9235d3ef4d72" /><Relationship Type="http://schemas.openxmlformats.org/officeDocument/2006/relationships/notesSlide" Target="/ppt/notesSlides/notesSlide15.xml" Id="Rf29723f2025144c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025e03716495f" /><Relationship Type="http://schemas.openxmlformats.org/officeDocument/2006/relationships/chart" Target="/ppt/slides/charts/chart2.xml" Id="R2549e70aa22a4a90" /><Relationship Type="http://schemas.openxmlformats.org/officeDocument/2006/relationships/notesSlide" Target="/ppt/notesSlides/notesSlide16.xml" Id="R32ed83456dd1442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78af67f62450f" /><Relationship Type="http://schemas.openxmlformats.org/officeDocument/2006/relationships/chart" Target="/ppt/slides/charts/chart3.xml" Id="R20e557f7a0154ca7" /><Relationship Type="http://schemas.openxmlformats.org/officeDocument/2006/relationships/notesSlide" Target="/ppt/notesSlides/notesSlide17.xml" Id="Rfa33ecbdd7124f1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f40083f3d4e77" /><Relationship Type="http://schemas.openxmlformats.org/officeDocument/2006/relationships/chart" Target="/ppt/slides/charts/chart4.xml" Id="R75dbb3935c884417" /><Relationship Type="http://schemas.openxmlformats.org/officeDocument/2006/relationships/notesSlide" Target="/ppt/notesSlides/notesSlide18.xml" Id="Rd6fcbaa89f654ca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1bad24ef349de" /><Relationship Type="http://schemas.openxmlformats.org/officeDocument/2006/relationships/notesSlide" Target="/ppt/notesSlides/notesSlide19.xml" Id="R951c990d19124f0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1ec941a184264" /><Relationship Type="http://schemas.openxmlformats.org/officeDocument/2006/relationships/notesSlide" Target="/ppt/notesSlides/notesSlide20.xml" Id="R0d6cd4e34d3d44c2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IMC实际温度</c:v>
          </c:tx>
          <c:spPr>
            <a:solidFill xmlns:a="http://schemas.openxmlformats.org/drawingml/2006/main">
              <a:srgbClr val="17864B"/>
            </a:solidFill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15</c:v>
              </c:pt>
              <c:pt idx="2">
                <c:v>30</c:v>
              </c:pt>
              <c:pt idx="3">
                <c:v>45</c:v>
              </c:pt>
              <c:pt idx="4">
                <c:v>60</c:v>
              </c:pt>
              <c:pt idx="5">
                <c:v>75</c:v>
              </c:pt>
              <c:pt idx="6">
                <c:v>90</c:v>
              </c:pt>
              <c:pt idx="7">
                <c:v>105</c:v>
              </c:pt>
              <c:pt idx="8">
                <c:v>120</c:v>
              </c:pt>
              <c:pt idx="9">
                <c:v>135</c:v>
              </c:pt>
              <c:pt idx="10">
                <c:v>150</c:v>
              </c:pt>
              <c:pt idx="11">
                <c:v>165</c:v>
              </c:pt>
              <c:pt idx="12">
                <c:v>180</c:v>
              </c:pt>
              <c:pt idx="13">
                <c:v>195</c:v>
              </c:pt>
              <c:pt idx="14">
                <c:v>210</c:v>
              </c:pt>
              <c:pt idx="15">
                <c:v>225</c:v>
              </c:pt>
              <c:pt idx="16">
                <c:v>240</c:v>
              </c:pt>
              <c:pt idx="17">
                <c:v>255</c:v>
              </c:pt>
              <c:pt idx="18">
                <c:v>270</c:v>
              </c:pt>
              <c:pt idx="19">
                <c:v>285</c:v>
              </c:pt>
              <c:pt idx="20">
                <c:v>300</c:v>
              </c:pt>
            </c:numLit>
          </c:cat>
          <c:val>
            <c:numLit>
              <c:formatCode>General</c:formatCode>
              <c:ptCount val="21"/>
              <c:pt idx="0">
                <c:v>30.04807303777551</c:v>
              </c:pt>
              <c:pt idx="1">
                <c:v>28.953933927588526</c:v>
              </c:pt>
              <c:pt idx="2">
                <c:v>25.235701417188686</c:v>
              </c:pt>
              <c:pt idx="3">
                <c:v>23.199304737147088</c:v>
              </c:pt>
              <c:pt idx="4">
                <c:v>24.757771821596208</c:v>
              </c:pt>
              <c:pt idx="5">
                <c:v>24.704697338301465</c:v>
              </c:pt>
              <c:pt idx="6">
                <c:v>24.23085260593836</c:v>
              </c:pt>
              <c:pt idx="7">
                <c:v>24.498199354386998</c:v>
              </c:pt>
              <c:pt idx="8">
                <c:v>24.403388604800195</c:v>
              </c:pt>
              <c:pt idx="9">
                <c:v>24.298514948691423</c:v>
              </c:pt>
              <c:pt idx="10">
                <c:v>24.40849200757383</c:v>
              </c:pt>
              <c:pt idx="11">
                <c:v>24.24119105315035</c:v>
              </c:pt>
              <c:pt idx="12">
                <c:v>24.279187839314023</c:v>
              </c:pt>
              <c:pt idx="13">
                <c:v>25.135114564621606</c:v>
              </c:pt>
              <c:pt idx="14">
                <c:v>24.286590061981233</c:v>
              </c:pt>
              <c:pt idx="15">
                <c:v>23.27321446768275</c:v>
              </c:pt>
              <c:pt idx="16">
                <c:v>24.587376996193736</c:v>
              </c:pt>
              <c:pt idx="17">
                <c:v>23.871837946282966</c:v>
              </c:pt>
              <c:pt idx="18">
                <c:v>23.894507205167724</c:v>
              </c:pt>
              <c:pt idx="19">
                <c:v>24.15076081784099</c:v>
              </c:pt>
              <c:pt idx="20">
                <c:v>24.02822863157463</c:v>
              </c:pt>
            </c:numLit>
          </c:val>
        </c:ser>
        <c:ser>
          <c:idx val="1"/>
          <c:order val="1"/>
          <c:tx>
            <c:v>目标 24°C</c:v>
          </c:tx>
          <c:spPr>
            <a:solidFill xmlns:a="http://schemas.openxmlformats.org/drawingml/2006/main">
              <a:srgbClr val="0F172A"/>
            </a:solidFill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15</c:v>
              </c:pt>
              <c:pt idx="2">
                <c:v>30</c:v>
              </c:pt>
              <c:pt idx="3">
                <c:v>45</c:v>
              </c:pt>
              <c:pt idx="4">
                <c:v>60</c:v>
              </c:pt>
              <c:pt idx="5">
                <c:v>75</c:v>
              </c:pt>
              <c:pt idx="6">
                <c:v>90</c:v>
              </c:pt>
              <c:pt idx="7">
                <c:v>105</c:v>
              </c:pt>
              <c:pt idx="8">
                <c:v>120</c:v>
              </c:pt>
              <c:pt idx="9">
                <c:v>135</c:v>
              </c:pt>
              <c:pt idx="10">
                <c:v>150</c:v>
              </c:pt>
              <c:pt idx="11">
                <c:v>165</c:v>
              </c:pt>
              <c:pt idx="12">
                <c:v>180</c:v>
              </c:pt>
              <c:pt idx="13">
                <c:v>195</c:v>
              </c:pt>
              <c:pt idx="14">
                <c:v>210</c:v>
              </c:pt>
              <c:pt idx="15">
                <c:v>225</c:v>
              </c:pt>
              <c:pt idx="16">
                <c:v>240</c:v>
              </c:pt>
              <c:pt idx="17">
                <c:v>255</c:v>
              </c:pt>
              <c:pt idx="18">
                <c:v>270</c:v>
              </c:pt>
              <c:pt idx="19">
                <c:v>285</c:v>
              </c:pt>
              <c:pt idx="20">
                <c:v>300</c:v>
              </c:pt>
            </c:numLit>
          </c:cat>
          <c:val>
            <c:numLit>
              <c:formatCode>General</c:formatCode>
              <c:ptCount val="21"/>
              <c:pt idx="0">
                <c:v>24</c:v>
              </c:pt>
              <c:pt idx="1">
                <c:v>24</c:v>
              </c:pt>
              <c:pt idx="2">
                <c:v>24</c:v>
              </c:pt>
              <c:pt idx="3">
                <c:v>24</c:v>
              </c:pt>
              <c:pt idx="4">
                <c:v>24</c:v>
              </c:pt>
              <c:pt idx="5">
                <c:v>24</c:v>
              </c:pt>
              <c:pt idx="6">
                <c:v>24</c:v>
              </c:pt>
              <c:pt idx="7">
                <c:v>24</c:v>
              </c:pt>
              <c:pt idx="8">
                <c:v>24</c:v>
              </c:pt>
              <c:pt idx="9">
                <c:v>24</c:v>
              </c:pt>
              <c:pt idx="10">
                <c:v>24</c:v>
              </c:pt>
              <c:pt idx="11">
                <c:v>24</c:v>
              </c:pt>
              <c:pt idx="12">
                <c:v>24</c:v>
              </c:pt>
              <c:pt idx="13">
                <c:v>24</c:v>
              </c:pt>
              <c:pt idx="14">
                <c:v>24</c:v>
              </c:pt>
              <c:pt idx="15">
                <c:v>24</c:v>
              </c:pt>
              <c:pt idx="16">
                <c:v>24</c:v>
              </c:pt>
              <c:pt idx="17">
                <c:v>24</c:v>
              </c:pt>
              <c:pt idx="18">
                <c:v>24</c:v>
              </c:pt>
              <c:pt idx="19">
                <c:v>24</c:v>
              </c:pt>
              <c:pt idx="20">
                <c:v>24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模拟物理时间 / min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1"/>
          <c:min val="2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室内温度 / °C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1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Z-N</c:v>
          </c:tx>
          <c:spPr>
            <a:solidFill xmlns:a="http://schemas.openxmlformats.org/drawingml/2006/main">
              <a:srgbClr val="C43D4B"/>
            </a:solidFill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15</c:v>
              </c:pt>
              <c:pt idx="2">
                <c:v>30</c:v>
              </c:pt>
              <c:pt idx="3">
                <c:v>45</c:v>
              </c:pt>
              <c:pt idx="4">
                <c:v>60</c:v>
              </c:pt>
              <c:pt idx="5">
                <c:v>75</c:v>
              </c:pt>
              <c:pt idx="6">
                <c:v>90</c:v>
              </c:pt>
              <c:pt idx="7">
                <c:v>105</c:v>
              </c:pt>
              <c:pt idx="8">
                <c:v>120</c:v>
              </c:pt>
              <c:pt idx="9">
                <c:v>135</c:v>
              </c:pt>
              <c:pt idx="10">
                <c:v>150</c:v>
              </c:pt>
              <c:pt idx="11">
                <c:v>165</c:v>
              </c:pt>
              <c:pt idx="12">
                <c:v>180</c:v>
              </c:pt>
              <c:pt idx="13">
                <c:v>195</c:v>
              </c:pt>
              <c:pt idx="14">
                <c:v>210</c:v>
              </c:pt>
              <c:pt idx="15">
                <c:v>225</c:v>
              </c:pt>
              <c:pt idx="16">
                <c:v>240</c:v>
              </c:pt>
              <c:pt idx="17">
                <c:v>255</c:v>
              </c:pt>
              <c:pt idx="18">
                <c:v>270</c:v>
              </c:pt>
              <c:pt idx="19">
                <c:v>285</c:v>
              </c:pt>
              <c:pt idx="20">
                <c:v>300</c:v>
              </c:pt>
            </c:numLit>
          </c:cat>
          <c:val>
            <c:numLit>
              <c:formatCode>General</c:formatCode>
              <c:ptCount val="21"/>
              <c:pt idx="0">
                <c:v>30.04807303777551</c:v>
              </c:pt>
              <c:pt idx="1">
                <c:v>28.953933927588526</c:v>
              </c:pt>
              <c:pt idx="2">
                <c:v>25.235701417188686</c:v>
              </c:pt>
              <c:pt idx="3">
                <c:v>23.199304737147088</c:v>
              </c:pt>
              <c:pt idx="4">
                <c:v>24.757771821596208</c:v>
              </c:pt>
              <c:pt idx="5">
                <c:v>24.704697338301465</c:v>
              </c:pt>
              <c:pt idx="6">
                <c:v>24.23085260593836</c:v>
              </c:pt>
              <c:pt idx="7">
                <c:v>24.498199354386998</c:v>
              </c:pt>
              <c:pt idx="8">
                <c:v>24.403388604800195</c:v>
              </c:pt>
              <c:pt idx="9">
                <c:v>24.298514948691423</c:v>
              </c:pt>
              <c:pt idx="10">
                <c:v>24.40849200757383</c:v>
              </c:pt>
              <c:pt idx="11">
                <c:v>24.24119105315035</c:v>
              </c:pt>
              <c:pt idx="12">
                <c:v>24.279187839314023</c:v>
              </c:pt>
              <c:pt idx="13">
                <c:v>25.135114564621606</c:v>
              </c:pt>
              <c:pt idx="14">
                <c:v>24.286590061981233</c:v>
              </c:pt>
              <c:pt idx="15">
                <c:v>23.27321446768275</c:v>
              </c:pt>
              <c:pt idx="16">
                <c:v>24.587376996193736</c:v>
              </c:pt>
              <c:pt idx="17">
                <c:v>23.871837946282966</c:v>
              </c:pt>
              <c:pt idx="18">
                <c:v>23.894507205167724</c:v>
              </c:pt>
              <c:pt idx="19">
                <c:v>24.15076081784099</c:v>
              </c:pt>
              <c:pt idx="20">
                <c:v>24.02822863157463</c:v>
              </c:pt>
            </c:numLit>
          </c:val>
        </c:ser>
        <c:ser>
          <c:idx val="1"/>
          <c:order val="1"/>
          <c:tx>
            <c:v>IMC</c:v>
          </c:tx>
          <c:spPr>
            <a:solidFill xmlns:a="http://schemas.openxmlformats.org/drawingml/2006/main">
              <a:srgbClr val="17864B"/>
            </a:solidFill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15</c:v>
              </c:pt>
              <c:pt idx="2">
                <c:v>30</c:v>
              </c:pt>
              <c:pt idx="3">
                <c:v>45</c:v>
              </c:pt>
              <c:pt idx="4">
                <c:v>60</c:v>
              </c:pt>
              <c:pt idx="5">
                <c:v>75</c:v>
              </c:pt>
              <c:pt idx="6">
                <c:v>90</c:v>
              </c:pt>
              <c:pt idx="7">
                <c:v>105</c:v>
              </c:pt>
              <c:pt idx="8">
                <c:v>120</c:v>
              </c:pt>
              <c:pt idx="9">
                <c:v>135</c:v>
              </c:pt>
              <c:pt idx="10">
                <c:v>150</c:v>
              </c:pt>
              <c:pt idx="11">
                <c:v>165</c:v>
              </c:pt>
              <c:pt idx="12">
                <c:v>180</c:v>
              </c:pt>
              <c:pt idx="13">
                <c:v>195</c:v>
              </c:pt>
              <c:pt idx="14">
                <c:v>210</c:v>
              </c:pt>
              <c:pt idx="15">
                <c:v>225</c:v>
              </c:pt>
              <c:pt idx="16">
                <c:v>240</c:v>
              </c:pt>
              <c:pt idx="17">
                <c:v>255</c:v>
              </c:pt>
              <c:pt idx="18">
                <c:v>270</c:v>
              </c:pt>
              <c:pt idx="19">
                <c:v>285</c:v>
              </c:pt>
              <c:pt idx="20">
                <c:v>300</c:v>
              </c:pt>
            </c:numLit>
          </c:cat>
          <c:val>
            <c:numLit>
              <c:formatCode>General</c:formatCode>
              <c:ptCount val="21"/>
              <c:pt idx="0">
                <c:v>30.04807303777551</c:v>
              </c:pt>
              <c:pt idx="1">
                <c:v>28.953933927588526</c:v>
              </c:pt>
              <c:pt idx="2">
                <c:v>25.235701417188686</c:v>
              </c:pt>
              <c:pt idx="3">
                <c:v>23.199304737147088</c:v>
              </c:pt>
              <c:pt idx="4">
                <c:v>24.757771821596208</c:v>
              </c:pt>
              <c:pt idx="5">
                <c:v>24.704697338301465</c:v>
              </c:pt>
              <c:pt idx="6">
                <c:v>24.23085260593836</c:v>
              </c:pt>
              <c:pt idx="7">
                <c:v>24.498199354386998</c:v>
              </c:pt>
              <c:pt idx="8">
                <c:v>24.403388604800195</c:v>
              </c:pt>
              <c:pt idx="9">
                <c:v>24.298514948691423</c:v>
              </c:pt>
              <c:pt idx="10">
                <c:v>24.40849200757383</c:v>
              </c:pt>
              <c:pt idx="11">
                <c:v>24.24119105315035</c:v>
              </c:pt>
              <c:pt idx="12">
                <c:v>24.279187839314023</c:v>
              </c:pt>
              <c:pt idx="13">
                <c:v>25.135114564621606</c:v>
              </c:pt>
              <c:pt idx="14">
                <c:v>24.286590061981233</c:v>
              </c:pt>
              <c:pt idx="15">
                <c:v>23.27321446768275</c:v>
              </c:pt>
              <c:pt idx="16">
                <c:v>24.587376996193736</c:v>
              </c:pt>
              <c:pt idx="17">
                <c:v>23.871837946282966</c:v>
              </c:pt>
              <c:pt idx="18">
                <c:v>23.894507205167724</c:v>
              </c:pt>
              <c:pt idx="19">
                <c:v>24.15076081784099</c:v>
              </c:pt>
              <c:pt idx="20">
                <c:v>24.02822863157463</c:v>
              </c:pt>
            </c:numLit>
          </c:val>
        </c:ser>
        <c:ser>
          <c:idx val="2"/>
          <c:order val="2"/>
          <c:tx>
            <c:v>普通 BO</c:v>
          </c:tx>
          <c:spPr>
            <a:solidFill xmlns:a="http://schemas.openxmlformats.org/drawingml/2006/main">
              <a:srgbClr val="1677FF"/>
            </a:solidFill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15</c:v>
              </c:pt>
              <c:pt idx="2">
                <c:v>30</c:v>
              </c:pt>
              <c:pt idx="3">
                <c:v>45</c:v>
              </c:pt>
              <c:pt idx="4">
                <c:v>60</c:v>
              </c:pt>
              <c:pt idx="5">
                <c:v>75</c:v>
              </c:pt>
              <c:pt idx="6">
                <c:v>90</c:v>
              </c:pt>
              <c:pt idx="7">
                <c:v>105</c:v>
              </c:pt>
              <c:pt idx="8">
                <c:v>120</c:v>
              </c:pt>
              <c:pt idx="9">
                <c:v>135</c:v>
              </c:pt>
              <c:pt idx="10">
                <c:v>150</c:v>
              </c:pt>
              <c:pt idx="11">
                <c:v>165</c:v>
              </c:pt>
              <c:pt idx="12">
                <c:v>180</c:v>
              </c:pt>
              <c:pt idx="13">
                <c:v>195</c:v>
              </c:pt>
              <c:pt idx="14">
                <c:v>210</c:v>
              </c:pt>
              <c:pt idx="15">
                <c:v>225</c:v>
              </c:pt>
              <c:pt idx="16">
                <c:v>240</c:v>
              </c:pt>
              <c:pt idx="17">
                <c:v>255</c:v>
              </c:pt>
              <c:pt idx="18">
                <c:v>270</c:v>
              </c:pt>
              <c:pt idx="19">
                <c:v>285</c:v>
              </c:pt>
              <c:pt idx="20">
                <c:v>300</c:v>
              </c:pt>
            </c:numLit>
          </c:cat>
          <c:val>
            <c:numLit>
              <c:formatCode>General</c:formatCode>
              <c:ptCount val="21"/>
              <c:pt idx="0">
                <c:v>30.04807303777551</c:v>
              </c:pt>
              <c:pt idx="1">
                <c:v>28.953933927588526</c:v>
              </c:pt>
              <c:pt idx="2">
                <c:v>25.235701417188686</c:v>
              </c:pt>
              <c:pt idx="3">
                <c:v>22.971368729578135</c:v>
              </c:pt>
              <c:pt idx="4">
                <c:v>24.551173812897307</c:v>
              </c:pt>
              <c:pt idx="5">
                <c:v>24.608911618034746</c:v>
              </c:pt>
              <c:pt idx="6">
                <c:v>23.95615419822128</c:v>
              </c:pt>
              <c:pt idx="7">
                <c:v>24.747208721355193</c:v>
              </c:pt>
              <c:pt idx="8">
                <c:v>23.817292069957812</c:v>
              </c:pt>
              <c:pt idx="9">
                <c:v>24.630936564030097</c:v>
              </c:pt>
              <c:pt idx="10">
                <c:v>23.967148938305787</c:v>
              </c:pt>
              <c:pt idx="11">
                <c:v>24.24101667935285</c:v>
              </c:pt>
              <c:pt idx="12">
                <c:v>24.200652016110386</c:v>
              </c:pt>
              <c:pt idx="13">
                <c:v>24.88118454746474</c:v>
              </c:pt>
              <c:pt idx="14">
                <c:v>24.410492551180745</c:v>
              </c:pt>
              <c:pt idx="15">
                <c:v>22.795584505162356</c:v>
              </c:pt>
              <c:pt idx="16">
                <c:v>24.367345142277795</c:v>
              </c:pt>
              <c:pt idx="17">
                <c:v>23.885288530619924</c:v>
              </c:pt>
              <c:pt idx="18">
                <c:v>23.994370950354977</c:v>
              </c:pt>
              <c:pt idx="19">
                <c:v>24.176044411187206</c:v>
              </c:pt>
              <c:pt idx="20">
                <c:v>23.651215115025323</c:v>
              </c:pt>
            </c:numLit>
          </c:val>
        </c:ser>
        <c:ser>
          <c:idx val="3"/>
          <c:order val="3"/>
          <c:tx>
            <c:v>安全 BO</c:v>
          </c:tx>
          <c:spPr>
            <a:solidFill xmlns:a="http://schemas.openxmlformats.org/drawingml/2006/main">
              <a:srgbClr val="00A6A6"/>
            </a:solidFill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15</c:v>
              </c:pt>
              <c:pt idx="2">
                <c:v>30</c:v>
              </c:pt>
              <c:pt idx="3">
                <c:v>45</c:v>
              </c:pt>
              <c:pt idx="4">
                <c:v>60</c:v>
              </c:pt>
              <c:pt idx="5">
                <c:v>75</c:v>
              </c:pt>
              <c:pt idx="6">
                <c:v>90</c:v>
              </c:pt>
              <c:pt idx="7">
                <c:v>105</c:v>
              </c:pt>
              <c:pt idx="8">
                <c:v>120</c:v>
              </c:pt>
              <c:pt idx="9">
                <c:v>135</c:v>
              </c:pt>
              <c:pt idx="10">
                <c:v>150</c:v>
              </c:pt>
              <c:pt idx="11">
                <c:v>165</c:v>
              </c:pt>
              <c:pt idx="12">
                <c:v>180</c:v>
              </c:pt>
              <c:pt idx="13">
                <c:v>195</c:v>
              </c:pt>
              <c:pt idx="14">
                <c:v>210</c:v>
              </c:pt>
              <c:pt idx="15">
                <c:v>225</c:v>
              </c:pt>
              <c:pt idx="16">
                <c:v>240</c:v>
              </c:pt>
              <c:pt idx="17">
                <c:v>255</c:v>
              </c:pt>
              <c:pt idx="18">
                <c:v>270</c:v>
              </c:pt>
              <c:pt idx="19">
                <c:v>285</c:v>
              </c:pt>
              <c:pt idx="20">
                <c:v>300</c:v>
              </c:pt>
            </c:numLit>
          </c:cat>
          <c:val>
            <c:numLit>
              <c:formatCode>General</c:formatCode>
              <c:ptCount val="21"/>
              <c:pt idx="0">
                <c:v>30.04807303777551</c:v>
              </c:pt>
              <c:pt idx="1">
                <c:v>28.953933927588526</c:v>
              </c:pt>
              <c:pt idx="2">
                <c:v>25.235701417188686</c:v>
              </c:pt>
              <c:pt idx="3">
                <c:v>23.33498642370048</c:v>
              </c:pt>
              <c:pt idx="4">
                <c:v>24.8573767942899</c:v>
              </c:pt>
              <c:pt idx="5">
                <c:v>24.68243999070913</c:v>
              </c:pt>
              <c:pt idx="6">
                <c:v>24.186897348614604</c:v>
              </c:pt>
              <c:pt idx="7">
                <c:v>24.422639233239856</c:v>
              </c:pt>
              <c:pt idx="8">
                <c:v>24.290700507057796</c:v>
              </c:pt>
              <c:pt idx="9">
                <c:v>24.192722212576747</c:v>
              </c:pt>
              <c:pt idx="10">
                <c:v>24.264264446562223</c:v>
              </c:pt>
              <c:pt idx="11">
                <c:v>24.14856645415654</c:v>
              </c:pt>
              <c:pt idx="12">
                <c:v>24.128715179151804</c:v>
              </c:pt>
              <c:pt idx="13">
                <c:v>25.020968808541568</c:v>
              </c:pt>
              <c:pt idx="14">
                <c:v>24.33208335369837</c:v>
              </c:pt>
              <c:pt idx="15">
                <c:v>23.168039127356543</c:v>
              </c:pt>
              <c:pt idx="16">
                <c:v>24.375863996706617</c:v>
              </c:pt>
              <c:pt idx="17">
                <c:v>23.8708109341658</c:v>
              </c:pt>
              <c:pt idx="18">
                <c:v>23.854098669092373</c:v>
              </c:pt>
              <c:pt idx="19">
                <c:v>24.051650602311433</c:v>
              </c:pt>
              <c:pt idx="20">
                <c:v>23.943203114338953</c:v>
              </c:pt>
            </c:numLit>
          </c:val>
        </c:ser>
        <c:ser>
          <c:idx val="4"/>
          <c:order val="4"/>
          <c:tx>
            <c:v>FNN</c:v>
          </c:tx>
          <c:spPr>
            <a:solidFill xmlns:a="http://schemas.openxmlformats.org/drawingml/2006/main">
              <a:srgbClr val="E37A12"/>
            </a:solidFill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15</c:v>
              </c:pt>
              <c:pt idx="2">
                <c:v>30</c:v>
              </c:pt>
              <c:pt idx="3">
                <c:v>45</c:v>
              </c:pt>
              <c:pt idx="4">
                <c:v>60</c:v>
              </c:pt>
              <c:pt idx="5">
                <c:v>75</c:v>
              </c:pt>
              <c:pt idx="6">
                <c:v>90</c:v>
              </c:pt>
              <c:pt idx="7">
                <c:v>105</c:v>
              </c:pt>
              <c:pt idx="8">
                <c:v>120</c:v>
              </c:pt>
              <c:pt idx="9">
                <c:v>135</c:v>
              </c:pt>
              <c:pt idx="10">
                <c:v>150</c:v>
              </c:pt>
              <c:pt idx="11">
                <c:v>165</c:v>
              </c:pt>
              <c:pt idx="12">
                <c:v>180</c:v>
              </c:pt>
              <c:pt idx="13">
                <c:v>195</c:v>
              </c:pt>
              <c:pt idx="14">
                <c:v>210</c:v>
              </c:pt>
              <c:pt idx="15">
                <c:v>225</c:v>
              </c:pt>
              <c:pt idx="16">
                <c:v>240</c:v>
              </c:pt>
              <c:pt idx="17">
                <c:v>255</c:v>
              </c:pt>
              <c:pt idx="18">
                <c:v>270</c:v>
              </c:pt>
              <c:pt idx="19">
                <c:v>285</c:v>
              </c:pt>
              <c:pt idx="20">
                <c:v>300</c:v>
              </c:pt>
            </c:numLit>
          </c:cat>
          <c:val>
            <c:numLit>
              <c:formatCode>General</c:formatCode>
              <c:ptCount val="21"/>
              <c:pt idx="0">
                <c:v>30.04807303777551</c:v>
              </c:pt>
              <c:pt idx="1">
                <c:v>28.953933927588526</c:v>
              </c:pt>
              <c:pt idx="2">
                <c:v>25.235701417188686</c:v>
              </c:pt>
              <c:pt idx="3">
                <c:v>23.199304737147088</c:v>
              </c:pt>
              <c:pt idx="4">
                <c:v>24.757771821596208</c:v>
              </c:pt>
              <c:pt idx="5">
                <c:v>24.704697338301465</c:v>
              </c:pt>
              <c:pt idx="6">
                <c:v>24.23085260593836</c:v>
              </c:pt>
              <c:pt idx="7">
                <c:v>24.498199354386998</c:v>
              </c:pt>
              <c:pt idx="8">
                <c:v>24.403388604800195</c:v>
              </c:pt>
              <c:pt idx="9">
                <c:v>24.298514948691423</c:v>
              </c:pt>
              <c:pt idx="10">
                <c:v>24.40849200757383</c:v>
              </c:pt>
              <c:pt idx="11">
                <c:v>24.24119105315035</c:v>
              </c:pt>
              <c:pt idx="12">
                <c:v>24.279187839314023</c:v>
              </c:pt>
              <c:pt idx="13">
                <c:v>25.135114564621606</c:v>
              </c:pt>
              <c:pt idx="14">
                <c:v>24.286590061981233</c:v>
              </c:pt>
              <c:pt idx="15">
                <c:v>23.27321446768275</c:v>
              </c:pt>
              <c:pt idx="16">
                <c:v>24.587376996193736</c:v>
              </c:pt>
              <c:pt idx="17">
                <c:v>23.871837946282966</c:v>
              </c:pt>
              <c:pt idx="18">
                <c:v>23.894507205167724</c:v>
              </c:pt>
              <c:pt idx="19">
                <c:v>24.15076081784099</c:v>
              </c:pt>
              <c:pt idx="20">
                <c:v>24.02822863157463</c:v>
              </c:pt>
            </c:numLit>
          </c:val>
        </c:ser>
        <c:ser>
          <c:idx val="5"/>
          <c:order val="5"/>
          <c:tx>
            <c:v>RL</c:v>
          </c:tx>
          <c:spPr>
            <a:solidFill xmlns:a="http://schemas.openxmlformats.org/drawingml/2006/main">
              <a:srgbClr val="7446B8"/>
            </a:solidFill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15</c:v>
              </c:pt>
              <c:pt idx="2">
                <c:v>30</c:v>
              </c:pt>
              <c:pt idx="3">
                <c:v>45</c:v>
              </c:pt>
              <c:pt idx="4">
                <c:v>60</c:v>
              </c:pt>
              <c:pt idx="5">
                <c:v>75</c:v>
              </c:pt>
              <c:pt idx="6">
                <c:v>90</c:v>
              </c:pt>
              <c:pt idx="7">
                <c:v>105</c:v>
              </c:pt>
              <c:pt idx="8">
                <c:v>120</c:v>
              </c:pt>
              <c:pt idx="9">
                <c:v>135</c:v>
              </c:pt>
              <c:pt idx="10">
                <c:v>150</c:v>
              </c:pt>
              <c:pt idx="11">
                <c:v>165</c:v>
              </c:pt>
              <c:pt idx="12">
                <c:v>180</c:v>
              </c:pt>
              <c:pt idx="13">
                <c:v>195</c:v>
              </c:pt>
              <c:pt idx="14">
                <c:v>210</c:v>
              </c:pt>
              <c:pt idx="15">
                <c:v>225</c:v>
              </c:pt>
              <c:pt idx="16">
                <c:v>240</c:v>
              </c:pt>
              <c:pt idx="17">
                <c:v>255</c:v>
              </c:pt>
              <c:pt idx="18">
                <c:v>270</c:v>
              </c:pt>
              <c:pt idx="19">
                <c:v>285</c:v>
              </c:pt>
              <c:pt idx="20">
                <c:v>300</c:v>
              </c:pt>
            </c:numLit>
          </c:cat>
          <c:val>
            <c:numLit>
              <c:formatCode>General</c:formatCode>
              <c:ptCount val="21"/>
              <c:pt idx="0">
                <c:v>30.04807303777551</c:v>
              </c:pt>
              <c:pt idx="1">
                <c:v>28.953933927588526</c:v>
              </c:pt>
              <c:pt idx="2">
                <c:v>25.235701417188686</c:v>
              </c:pt>
              <c:pt idx="3">
                <c:v>23.54825287905756</c:v>
              </c:pt>
              <c:pt idx="4">
                <c:v>24.975629678095864</c:v>
              </c:pt>
              <c:pt idx="5">
                <c:v>24.517327665036724</c:v>
              </c:pt>
              <c:pt idx="6">
                <c:v>24.293067230908186</c:v>
              </c:pt>
              <c:pt idx="7">
                <c:v>24.4444248095157</c:v>
              </c:pt>
              <c:pt idx="8">
                <c:v>24.23464542310207</c:v>
              </c:pt>
              <c:pt idx="9">
                <c:v>24.362101696924736</c:v>
              </c:pt>
              <c:pt idx="10">
                <c:v>24.308809755808024</c:v>
              </c:pt>
              <c:pt idx="11">
                <c:v>24.244122279511995</c:v>
              </c:pt>
              <c:pt idx="12">
                <c:v>24.302096080210625</c:v>
              </c:pt>
              <c:pt idx="13">
                <c:v>25.094034765998316</c:v>
              </c:pt>
              <c:pt idx="14">
                <c:v>24.51374490555927</c:v>
              </c:pt>
              <c:pt idx="15">
                <c:v>23.215618797889476</c:v>
              </c:pt>
              <c:pt idx="16">
                <c:v>24.449841340404383</c:v>
              </c:pt>
              <c:pt idx="17">
                <c:v>23.983726410824325</c:v>
              </c:pt>
              <c:pt idx="18">
                <c:v>24.01453959353558</c:v>
              </c:pt>
              <c:pt idx="19">
                <c:v>24.241343933509032</c:v>
              </c:pt>
              <c:pt idx="20">
                <c:v>24.045720702707737</c:v>
              </c:pt>
            </c:numLit>
          </c:val>
        </c:ser>
        <c:ser>
          <c:idx val="6"/>
          <c:order val="6"/>
          <c:tx>
            <c:v>LLM Agent</c:v>
          </c:tx>
          <c:spPr>
            <a:solidFill xmlns:a="http://schemas.openxmlformats.org/drawingml/2006/main">
              <a:srgbClr val="0F172A"/>
            </a:solidFill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15</c:v>
              </c:pt>
              <c:pt idx="2">
                <c:v>30</c:v>
              </c:pt>
              <c:pt idx="3">
                <c:v>45</c:v>
              </c:pt>
              <c:pt idx="4">
                <c:v>60</c:v>
              </c:pt>
              <c:pt idx="5">
                <c:v>75</c:v>
              </c:pt>
              <c:pt idx="6">
                <c:v>90</c:v>
              </c:pt>
              <c:pt idx="7">
                <c:v>105</c:v>
              </c:pt>
              <c:pt idx="8">
                <c:v>120</c:v>
              </c:pt>
              <c:pt idx="9">
                <c:v>135</c:v>
              </c:pt>
              <c:pt idx="10">
                <c:v>150</c:v>
              </c:pt>
              <c:pt idx="11">
                <c:v>165</c:v>
              </c:pt>
              <c:pt idx="12">
                <c:v>180</c:v>
              </c:pt>
              <c:pt idx="13">
                <c:v>195</c:v>
              </c:pt>
              <c:pt idx="14">
                <c:v>210</c:v>
              </c:pt>
              <c:pt idx="15">
                <c:v>225</c:v>
              </c:pt>
              <c:pt idx="16">
                <c:v>240</c:v>
              </c:pt>
              <c:pt idx="17">
                <c:v>255</c:v>
              </c:pt>
              <c:pt idx="18">
                <c:v>270</c:v>
              </c:pt>
              <c:pt idx="19">
                <c:v>285</c:v>
              </c:pt>
              <c:pt idx="20">
                <c:v>300</c:v>
              </c:pt>
            </c:numLit>
          </c:cat>
          <c:val>
            <c:numLit>
              <c:formatCode>General</c:formatCode>
              <c:ptCount val="21"/>
              <c:pt idx="0">
                <c:v>30.04807303777551</c:v>
              </c:pt>
              <c:pt idx="1">
                <c:v>28.953933927588526</c:v>
              </c:pt>
              <c:pt idx="2">
                <c:v>25.235701417188686</c:v>
              </c:pt>
              <c:pt idx="3">
                <c:v>23.336146988938996</c:v>
              </c:pt>
              <c:pt idx="4">
                <c:v>24.880822449722537</c:v>
              </c:pt>
              <c:pt idx="5">
                <c:v>24.69218948962015</c:v>
              </c:pt>
              <c:pt idx="6">
                <c:v>24.294226820003924</c:v>
              </c:pt>
              <c:pt idx="7">
                <c:v>24.53926283122419</c:v>
              </c:pt>
              <c:pt idx="8">
                <c:v>24.40852147993695</c:v>
              </c:pt>
              <c:pt idx="9">
                <c:v>24.33059530316685</c:v>
              </c:pt>
              <c:pt idx="10">
                <c:v>24.414744869228755</c:v>
              </c:pt>
              <c:pt idx="11">
                <c:v>24.275680693701844</c:v>
              </c:pt>
              <c:pt idx="12">
                <c:v>24.281718383036214</c:v>
              </c:pt>
              <c:pt idx="13">
                <c:v>25.152991200652977</c:v>
              </c:pt>
              <c:pt idx="14">
                <c:v>24.381107492862338</c:v>
              </c:pt>
              <c:pt idx="15">
                <c:v>23.372912454868928</c:v>
              </c:pt>
              <c:pt idx="16">
                <c:v>24.585832240691246</c:v>
              </c:pt>
              <c:pt idx="17">
                <c:v>23.922145759361413</c:v>
              </c:pt>
              <c:pt idx="18">
                <c:v>23.96131617998845</c:v>
              </c:pt>
              <c:pt idx="19">
                <c:v>24.172074152352984</c:v>
              </c:pt>
              <c:pt idx="20">
                <c:v>24.030377296109535</c:v>
              </c:pt>
            </c:numLit>
          </c:val>
        </c:ser>
        <c:ser>
          <c:idx val="7"/>
          <c:order val="7"/>
          <c:tx>
            <c:v>目标 24°C</c:v>
          </c:tx>
          <c:spPr>
            <a:solidFill xmlns:a="http://schemas.openxmlformats.org/drawingml/2006/main">
              <a:srgbClr val="0F172A"/>
            </a:solidFill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15</c:v>
              </c:pt>
              <c:pt idx="2">
                <c:v>30</c:v>
              </c:pt>
              <c:pt idx="3">
                <c:v>45</c:v>
              </c:pt>
              <c:pt idx="4">
                <c:v>60</c:v>
              </c:pt>
              <c:pt idx="5">
                <c:v>75</c:v>
              </c:pt>
              <c:pt idx="6">
                <c:v>90</c:v>
              </c:pt>
              <c:pt idx="7">
                <c:v>105</c:v>
              </c:pt>
              <c:pt idx="8">
                <c:v>120</c:v>
              </c:pt>
              <c:pt idx="9">
                <c:v>135</c:v>
              </c:pt>
              <c:pt idx="10">
                <c:v>150</c:v>
              </c:pt>
              <c:pt idx="11">
                <c:v>165</c:v>
              </c:pt>
              <c:pt idx="12">
                <c:v>180</c:v>
              </c:pt>
              <c:pt idx="13">
                <c:v>195</c:v>
              </c:pt>
              <c:pt idx="14">
                <c:v>210</c:v>
              </c:pt>
              <c:pt idx="15">
                <c:v>225</c:v>
              </c:pt>
              <c:pt idx="16">
                <c:v>240</c:v>
              </c:pt>
              <c:pt idx="17">
                <c:v>255</c:v>
              </c:pt>
              <c:pt idx="18">
                <c:v>270</c:v>
              </c:pt>
              <c:pt idx="19">
                <c:v>285</c:v>
              </c:pt>
              <c:pt idx="20">
                <c:v>300</c:v>
              </c:pt>
            </c:numLit>
          </c:cat>
          <c:val>
            <c:numLit>
              <c:formatCode>General</c:formatCode>
              <c:ptCount val="21"/>
              <c:pt idx="0">
                <c:v>24</c:v>
              </c:pt>
              <c:pt idx="1">
                <c:v>24</c:v>
              </c:pt>
              <c:pt idx="2">
                <c:v>24</c:v>
              </c:pt>
              <c:pt idx="3">
                <c:v>24</c:v>
              </c:pt>
              <c:pt idx="4">
                <c:v>24</c:v>
              </c:pt>
              <c:pt idx="5">
                <c:v>24</c:v>
              </c:pt>
              <c:pt idx="6">
                <c:v>24</c:v>
              </c:pt>
              <c:pt idx="7">
                <c:v>24</c:v>
              </c:pt>
              <c:pt idx="8">
                <c:v>24</c:v>
              </c:pt>
              <c:pt idx="9">
                <c:v>24</c:v>
              </c:pt>
              <c:pt idx="10">
                <c:v>24</c:v>
              </c:pt>
              <c:pt idx="11">
                <c:v>24</c:v>
              </c:pt>
              <c:pt idx="12">
                <c:v>24</c:v>
              </c:pt>
              <c:pt idx="13">
                <c:v>24</c:v>
              </c:pt>
              <c:pt idx="14">
                <c:v>24</c:v>
              </c:pt>
              <c:pt idx="15">
                <c:v>24</c:v>
              </c:pt>
              <c:pt idx="16">
                <c:v>24</c:v>
              </c:pt>
              <c:pt idx="17">
                <c:v>24</c:v>
              </c:pt>
              <c:pt idx="18">
                <c:v>24</c:v>
              </c:pt>
              <c:pt idx="19">
                <c:v>24</c:v>
              </c:pt>
              <c:pt idx="20">
                <c:v>24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模拟物理时间 / min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1"/>
          <c:min val="2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室内温度 / °C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1"/>
      </c:valAx>
    </c:plotArea>
    <c:legend>
      <c:legendPos val="b"/>
      <c:overlay val="0"/>
    </c:legend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RL实际温度</c:v>
          </c:tx>
          <c:spPr>
            <a:solidFill xmlns:a="http://schemas.openxmlformats.org/drawingml/2006/main">
              <a:srgbClr val="7446B8"/>
            </a:solidFill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15</c:v>
              </c:pt>
              <c:pt idx="2">
                <c:v>30</c:v>
              </c:pt>
              <c:pt idx="3">
                <c:v>45</c:v>
              </c:pt>
              <c:pt idx="4">
                <c:v>60</c:v>
              </c:pt>
              <c:pt idx="5">
                <c:v>75</c:v>
              </c:pt>
              <c:pt idx="6">
                <c:v>90</c:v>
              </c:pt>
              <c:pt idx="7">
                <c:v>105</c:v>
              </c:pt>
              <c:pt idx="8">
                <c:v>120</c:v>
              </c:pt>
              <c:pt idx="9">
                <c:v>135</c:v>
              </c:pt>
              <c:pt idx="10">
                <c:v>150</c:v>
              </c:pt>
              <c:pt idx="11">
                <c:v>165</c:v>
              </c:pt>
              <c:pt idx="12">
                <c:v>180</c:v>
              </c:pt>
              <c:pt idx="13">
                <c:v>195</c:v>
              </c:pt>
              <c:pt idx="14">
                <c:v>210</c:v>
              </c:pt>
              <c:pt idx="15">
                <c:v>225</c:v>
              </c:pt>
              <c:pt idx="16">
                <c:v>240</c:v>
              </c:pt>
              <c:pt idx="17">
                <c:v>255</c:v>
              </c:pt>
              <c:pt idx="18">
                <c:v>270</c:v>
              </c:pt>
              <c:pt idx="19">
                <c:v>285</c:v>
              </c:pt>
              <c:pt idx="20">
                <c:v>300</c:v>
              </c:pt>
            </c:numLit>
          </c:cat>
          <c:val>
            <c:numLit>
              <c:formatCode>General</c:formatCode>
              <c:ptCount val="21"/>
              <c:pt idx="0">
                <c:v>30.04807303777551</c:v>
              </c:pt>
              <c:pt idx="1">
                <c:v>28.953933927588526</c:v>
              </c:pt>
              <c:pt idx="2">
                <c:v>25.235701417188686</c:v>
              </c:pt>
              <c:pt idx="3">
                <c:v>23.54825287905756</c:v>
              </c:pt>
              <c:pt idx="4">
                <c:v>24.975629678095864</c:v>
              </c:pt>
              <c:pt idx="5">
                <c:v>24.517327665036724</c:v>
              </c:pt>
              <c:pt idx="6">
                <c:v>24.293067230908186</c:v>
              </c:pt>
              <c:pt idx="7">
                <c:v>24.4444248095157</c:v>
              </c:pt>
              <c:pt idx="8">
                <c:v>24.23464542310207</c:v>
              </c:pt>
              <c:pt idx="9">
                <c:v>24.362101696924736</c:v>
              </c:pt>
              <c:pt idx="10">
                <c:v>24.308809755808024</c:v>
              </c:pt>
              <c:pt idx="11">
                <c:v>24.244122279511995</c:v>
              </c:pt>
              <c:pt idx="12">
                <c:v>24.302096080210625</c:v>
              </c:pt>
              <c:pt idx="13">
                <c:v>25.094034765998316</c:v>
              </c:pt>
              <c:pt idx="14">
                <c:v>24.51374490555927</c:v>
              </c:pt>
              <c:pt idx="15">
                <c:v>23.215618797889476</c:v>
              </c:pt>
              <c:pt idx="16">
                <c:v>24.449841340404383</c:v>
              </c:pt>
              <c:pt idx="17">
                <c:v>23.983726410824325</c:v>
              </c:pt>
              <c:pt idx="18">
                <c:v>24.01453959353558</c:v>
              </c:pt>
              <c:pt idx="19">
                <c:v>24.241343933509032</c:v>
              </c:pt>
              <c:pt idx="20">
                <c:v>24.045720702707737</c:v>
              </c:pt>
            </c:numLit>
          </c:val>
        </c:ser>
        <c:ser>
          <c:idx val="1"/>
          <c:order val="1"/>
          <c:tx>
            <c:v>目标 24°C</c:v>
          </c:tx>
          <c:spPr>
            <a:solidFill xmlns:a="http://schemas.openxmlformats.org/drawingml/2006/main">
              <a:srgbClr val="0F172A"/>
            </a:solidFill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15</c:v>
              </c:pt>
              <c:pt idx="2">
                <c:v>30</c:v>
              </c:pt>
              <c:pt idx="3">
                <c:v>45</c:v>
              </c:pt>
              <c:pt idx="4">
                <c:v>60</c:v>
              </c:pt>
              <c:pt idx="5">
                <c:v>75</c:v>
              </c:pt>
              <c:pt idx="6">
                <c:v>90</c:v>
              </c:pt>
              <c:pt idx="7">
                <c:v>105</c:v>
              </c:pt>
              <c:pt idx="8">
                <c:v>120</c:v>
              </c:pt>
              <c:pt idx="9">
                <c:v>135</c:v>
              </c:pt>
              <c:pt idx="10">
                <c:v>150</c:v>
              </c:pt>
              <c:pt idx="11">
                <c:v>165</c:v>
              </c:pt>
              <c:pt idx="12">
                <c:v>180</c:v>
              </c:pt>
              <c:pt idx="13">
                <c:v>195</c:v>
              </c:pt>
              <c:pt idx="14">
                <c:v>210</c:v>
              </c:pt>
              <c:pt idx="15">
                <c:v>225</c:v>
              </c:pt>
              <c:pt idx="16">
                <c:v>240</c:v>
              </c:pt>
              <c:pt idx="17">
                <c:v>255</c:v>
              </c:pt>
              <c:pt idx="18">
                <c:v>270</c:v>
              </c:pt>
              <c:pt idx="19">
                <c:v>285</c:v>
              </c:pt>
              <c:pt idx="20">
                <c:v>300</c:v>
              </c:pt>
            </c:numLit>
          </c:cat>
          <c:val>
            <c:numLit>
              <c:formatCode>General</c:formatCode>
              <c:ptCount val="21"/>
              <c:pt idx="0">
                <c:v>24</c:v>
              </c:pt>
              <c:pt idx="1">
                <c:v>24</c:v>
              </c:pt>
              <c:pt idx="2">
                <c:v>24</c:v>
              </c:pt>
              <c:pt idx="3">
                <c:v>24</c:v>
              </c:pt>
              <c:pt idx="4">
                <c:v>24</c:v>
              </c:pt>
              <c:pt idx="5">
                <c:v>24</c:v>
              </c:pt>
              <c:pt idx="6">
                <c:v>24</c:v>
              </c:pt>
              <c:pt idx="7">
                <c:v>24</c:v>
              </c:pt>
              <c:pt idx="8">
                <c:v>24</c:v>
              </c:pt>
              <c:pt idx="9">
                <c:v>24</c:v>
              </c:pt>
              <c:pt idx="10">
                <c:v>24</c:v>
              </c:pt>
              <c:pt idx="11">
                <c:v>24</c:v>
              </c:pt>
              <c:pt idx="12">
                <c:v>24</c:v>
              </c:pt>
              <c:pt idx="13">
                <c:v>24</c:v>
              </c:pt>
              <c:pt idx="14">
                <c:v>24</c:v>
              </c:pt>
              <c:pt idx="15">
                <c:v>24</c:v>
              </c:pt>
              <c:pt idx="16">
                <c:v>24</c:v>
              </c:pt>
              <c:pt idx="17">
                <c:v>24</c:v>
              </c:pt>
              <c:pt idx="18">
                <c:v>24</c:v>
              </c:pt>
              <c:pt idx="19">
                <c:v>24</c:v>
              </c:pt>
              <c:pt idx="20">
                <c:v>24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模拟物理时间 / min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1"/>
          <c:min val="2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室内温度 / °C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1"/>
      </c:valAx>
    </c:plotArea>
    <c:legend>
      <c:legendPos val="b"/>
      <c:overlay val="0"/>
    </c:legend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实际部署：IMC回退</c:v>
          </c:tx>
          <c:spPr>
            <a:solidFill xmlns:a="http://schemas.openxmlformats.org/drawingml/2006/main">
              <a:srgbClr val="17864B"/>
            </a:solidFill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15</c:v>
              </c:pt>
              <c:pt idx="2">
                <c:v>30</c:v>
              </c:pt>
              <c:pt idx="3">
                <c:v>45</c:v>
              </c:pt>
              <c:pt idx="4">
                <c:v>60</c:v>
              </c:pt>
              <c:pt idx="5">
                <c:v>75</c:v>
              </c:pt>
              <c:pt idx="6">
                <c:v>90</c:v>
              </c:pt>
              <c:pt idx="7">
                <c:v>105</c:v>
              </c:pt>
              <c:pt idx="8">
                <c:v>120</c:v>
              </c:pt>
              <c:pt idx="9">
                <c:v>135</c:v>
              </c:pt>
              <c:pt idx="10">
                <c:v>150</c:v>
              </c:pt>
              <c:pt idx="11">
                <c:v>165</c:v>
              </c:pt>
              <c:pt idx="12">
                <c:v>180</c:v>
              </c:pt>
              <c:pt idx="13">
                <c:v>195</c:v>
              </c:pt>
              <c:pt idx="14">
                <c:v>210</c:v>
              </c:pt>
              <c:pt idx="15">
                <c:v>225</c:v>
              </c:pt>
              <c:pt idx="16">
                <c:v>240</c:v>
              </c:pt>
              <c:pt idx="17">
                <c:v>255</c:v>
              </c:pt>
              <c:pt idx="18">
                <c:v>270</c:v>
              </c:pt>
              <c:pt idx="19">
                <c:v>285</c:v>
              </c:pt>
              <c:pt idx="20">
                <c:v>300</c:v>
              </c:pt>
            </c:numLit>
          </c:cat>
          <c:val>
            <c:numLit>
              <c:formatCode>General</c:formatCode>
              <c:ptCount val="21"/>
              <c:pt idx="0">
                <c:v>30.04807303777551</c:v>
              </c:pt>
              <c:pt idx="1">
                <c:v>28.953933927588526</c:v>
              </c:pt>
              <c:pt idx="2">
                <c:v>25.235701417188686</c:v>
              </c:pt>
              <c:pt idx="3">
                <c:v>23.199304737147088</c:v>
              </c:pt>
              <c:pt idx="4">
                <c:v>24.757771821596208</c:v>
              </c:pt>
              <c:pt idx="5">
                <c:v>24.704697338301465</c:v>
              </c:pt>
              <c:pt idx="6">
                <c:v>24.23085260593836</c:v>
              </c:pt>
              <c:pt idx="7">
                <c:v>24.498199354386998</c:v>
              </c:pt>
              <c:pt idx="8">
                <c:v>24.403388604800195</c:v>
              </c:pt>
              <c:pt idx="9">
                <c:v>24.298514948691423</c:v>
              </c:pt>
              <c:pt idx="10">
                <c:v>24.40849200757383</c:v>
              </c:pt>
              <c:pt idx="11">
                <c:v>24.24119105315035</c:v>
              </c:pt>
              <c:pt idx="12">
                <c:v>24.279187839314023</c:v>
              </c:pt>
              <c:pt idx="13">
                <c:v>25.135114564621606</c:v>
              </c:pt>
              <c:pt idx="14">
                <c:v>24.286590061981233</c:v>
              </c:pt>
              <c:pt idx="15">
                <c:v>23.27321446768275</c:v>
              </c:pt>
              <c:pt idx="16">
                <c:v>24.587376996193736</c:v>
              </c:pt>
              <c:pt idx="17">
                <c:v>23.871837946282966</c:v>
              </c:pt>
              <c:pt idx="18">
                <c:v>23.894507205167724</c:v>
              </c:pt>
              <c:pt idx="19">
                <c:v>24.15076081784099</c:v>
              </c:pt>
              <c:pt idx="20">
                <c:v>24.02822863157463</c:v>
              </c:pt>
            </c:numLit>
          </c:val>
        </c:ser>
        <c:ser>
          <c:idx val="1"/>
          <c:order val="1"/>
          <c:tx>
            <c:v>影子候选：FNN</c:v>
          </c:tx>
          <c:spPr>
            <a:solidFill xmlns:a="http://schemas.openxmlformats.org/drawingml/2006/main">
              <a:srgbClr val="E37A12"/>
            </a:solidFill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15</c:v>
              </c:pt>
              <c:pt idx="2">
                <c:v>30</c:v>
              </c:pt>
              <c:pt idx="3">
                <c:v>45</c:v>
              </c:pt>
              <c:pt idx="4">
                <c:v>60</c:v>
              </c:pt>
              <c:pt idx="5">
                <c:v>75</c:v>
              </c:pt>
              <c:pt idx="6">
                <c:v>90</c:v>
              </c:pt>
              <c:pt idx="7">
                <c:v>105</c:v>
              </c:pt>
              <c:pt idx="8">
                <c:v>120</c:v>
              </c:pt>
              <c:pt idx="9">
                <c:v>135</c:v>
              </c:pt>
              <c:pt idx="10">
                <c:v>150</c:v>
              </c:pt>
              <c:pt idx="11">
                <c:v>165</c:v>
              </c:pt>
              <c:pt idx="12">
                <c:v>180</c:v>
              </c:pt>
              <c:pt idx="13">
                <c:v>195</c:v>
              </c:pt>
              <c:pt idx="14">
                <c:v>210</c:v>
              </c:pt>
              <c:pt idx="15">
                <c:v>225</c:v>
              </c:pt>
              <c:pt idx="16">
                <c:v>240</c:v>
              </c:pt>
              <c:pt idx="17">
                <c:v>255</c:v>
              </c:pt>
              <c:pt idx="18">
                <c:v>270</c:v>
              </c:pt>
              <c:pt idx="19">
                <c:v>285</c:v>
              </c:pt>
              <c:pt idx="20">
                <c:v>300</c:v>
              </c:pt>
            </c:numLit>
          </c:cat>
          <c:val>
            <c:numLit>
              <c:formatCode>General</c:formatCode>
              <c:ptCount val="21"/>
              <c:pt idx="0">
                <c:v>30.04807303777551</c:v>
              </c:pt>
              <c:pt idx="1">
                <c:v>28.953933927588526</c:v>
              </c:pt>
              <c:pt idx="2">
                <c:v>25.235701417188686</c:v>
              </c:pt>
              <c:pt idx="3">
                <c:v>23.199304737147088</c:v>
              </c:pt>
              <c:pt idx="4">
                <c:v>24.757771821596208</c:v>
              </c:pt>
              <c:pt idx="5">
                <c:v>24.60278664492518</c:v>
              </c:pt>
              <c:pt idx="6">
                <c:v>24.20497133093187</c:v>
              </c:pt>
              <c:pt idx="7">
                <c:v>24.486330159694372</c:v>
              </c:pt>
              <c:pt idx="8">
                <c:v>24.407397247117665</c:v>
              </c:pt>
              <c:pt idx="9">
                <c:v>24.32992401182443</c:v>
              </c:pt>
              <c:pt idx="10">
                <c:v>24.42838676748989</c:v>
              </c:pt>
              <c:pt idx="11">
                <c:v>24.27556110858931</c:v>
              </c:pt>
              <c:pt idx="12">
                <c:v>24.31544018754169</c:v>
              </c:pt>
              <c:pt idx="13">
                <c:v>25.168696141286283</c:v>
              </c:pt>
              <c:pt idx="14">
                <c:v>24.452798941098106</c:v>
              </c:pt>
              <c:pt idx="15">
                <c:v>23.590106720146814</c:v>
              </c:pt>
              <c:pt idx="16">
                <c:v>24.756572321127486</c:v>
              </c:pt>
              <c:pt idx="17">
                <c:v>23.85735389127426</c:v>
              </c:pt>
              <c:pt idx="18">
                <c:v>23.96819429974878</c:v>
              </c:pt>
              <c:pt idx="19">
                <c:v>24.20628880730163</c:v>
              </c:pt>
              <c:pt idx="20">
                <c:v>24.050101097244283</c:v>
              </c:pt>
            </c:numLit>
          </c:val>
        </c:ser>
        <c:ser>
          <c:idx val="2"/>
          <c:order val="2"/>
          <c:tx>
            <c:v>目标 24°C</c:v>
          </c:tx>
          <c:spPr>
            <a:solidFill xmlns:a="http://schemas.openxmlformats.org/drawingml/2006/main">
              <a:srgbClr val="0F172A"/>
            </a:solidFill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15</c:v>
              </c:pt>
              <c:pt idx="2">
                <c:v>30</c:v>
              </c:pt>
              <c:pt idx="3">
                <c:v>45</c:v>
              </c:pt>
              <c:pt idx="4">
                <c:v>60</c:v>
              </c:pt>
              <c:pt idx="5">
                <c:v>75</c:v>
              </c:pt>
              <c:pt idx="6">
                <c:v>90</c:v>
              </c:pt>
              <c:pt idx="7">
                <c:v>105</c:v>
              </c:pt>
              <c:pt idx="8">
                <c:v>120</c:v>
              </c:pt>
              <c:pt idx="9">
                <c:v>135</c:v>
              </c:pt>
              <c:pt idx="10">
                <c:v>150</c:v>
              </c:pt>
              <c:pt idx="11">
                <c:v>165</c:v>
              </c:pt>
              <c:pt idx="12">
                <c:v>180</c:v>
              </c:pt>
              <c:pt idx="13">
                <c:v>195</c:v>
              </c:pt>
              <c:pt idx="14">
                <c:v>210</c:v>
              </c:pt>
              <c:pt idx="15">
                <c:v>225</c:v>
              </c:pt>
              <c:pt idx="16">
                <c:v>240</c:v>
              </c:pt>
              <c:pt idx="17">
                <c:v>255</c:v>
              </c:pt>
              <c:pt idx="18">
                <c:v>270</c:v>
              </c:pt>
              <c:pt idx="19">
                <c:v>285</c:v>
              </c:pt>
              <c:pt idx="20">
                <c:v>300</c:v>
              </c:pt>
            </c:numLit>
          </c:cat>
          <c:val>
            <c:numLit>
              <c:formatCode>General</c:formatCode>
              <c:ptCount val="21"/>
              <c:pt idx="0">
                <c:v>24</c:v>
              </c:pt>
              <c:pt idx="1">
                <c:v>24</c:v>
              </c:pt>
              <c:pt idx="2">
                <c:v>24</c:v>
              </c:pt>
              <c:pt idx="3">
                <c:v>24</c:v>
              </c:pt>
              <c:pt idx="4">
                <c:v>24</c:v>
              </c:pt>
              <c:pt idx="5">
                <c:v>24</c:v>
              </c:pt>
              <c:pt idx="6">
                <c:v>24</c:v>
              </c:pt>
              <c:pt idx="7">
                <c:v>24</c:v>
              </c:pt>
              <c:pt idx="8">
                <c:v>24</c:v>
              </c:pt>
              <c:pt idx="9">
                <c:v>24</c:v>
              </c:pt>
              <c:pt idx="10">
                <c:v>24</c:v>
              </c:pt>
              <c:pt idx="11">
                <c:v>24</c:v>
              </c:pt>
              <c:pt idx="12">
                <c:v>24</c:v>
              </c:pt>
              <c:pt idx="13">
                <c:v>24</c:v>
              </c:pt>
              <c:pt idx="14">
                <c:v>24</c:v>
              </c:pt>
              <c:pt idx="15">
                <c:v>24</c:v>
              </c:pt>
              <c:pt idx="16">
                <c:v>24</c:v>
              </c:pt>
              <c:pt idx="17">
                <c:v>24</c:v>
              </c:pt>
              <c:pt idx="18">
                <c:v>24</c:v>
              </c:pt>
              <c:pt idx="19">
                <c:v>24</c:v>
              </c:pt>
              <c:pt idx="20">
                <c:v>24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模拟物理时间 / min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1"/>
          <c:min val="2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室内温度 / °C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1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8D555-B585-4B92-AEC7-3F669360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嵌入式温度控制 · 零基础教学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E118B-BC3B-46C3-A542-EEA1398B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8096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看见温度稳定，</a:t>
            </a:r>
          </a:p>
          <a:p xmlns:a="http://schemas.openxmlformats.org/drawingml/2006/main">
            <a:pPr algn="l">
              <a:defRPr sz="4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再谈七种调参算法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17AC6-ED93-4153-9621-82F6E499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· 安全 PI · Z-N / IMC / BO / Safe BO / FNN / RL / LLM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02FB66-5F4C-4D98-9DCF-3C17E240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381125"/>
            <a:ext cx="2190750" cy="3429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7EB3E-DCD7-4C41-A434-52074F34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85737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C43D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C43D4B"/>
                </a:solidFill>
                <a:latin typeface="Microsoft YaHei"/>
                <a:ea typeface="Microsoft YaHei"/>
                <a:cs typeface="Microsoft YaHei"/>
              </a:rPr>
              <a:t>30.0°C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C5716-C0E7-4CD9-9CAF-A2579B2E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71750"/>
            <a:ext cx="4000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BC4A0-8949-46E2-AB3B-266A1BEB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14700"/>
            <a:ext cx="4000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A6430-CF47-4AF2-A239-3F12EE39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0005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03EC0-B716-46EC-A418-D112DE93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0958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目标 24°C</a:t>
            </a:r>
          </a:p>
        </p:txBody>
      </p:sp>
    </p:spTree>
    <p:extLst>
      <p:ext uri="{BB962C8B-B14F-4D97-AF65-F5344CB8AC3E}">
        <p14:creationId xmlns:p14="http://schemas.microsoft.com/office/powerpoint/2010/main" val="7412487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9E79A-1A85-4AEB-8BF6-C7D7506F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七算法温度闭环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5303A-E9CD-464B-919A-D0413F7A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被控制量是室内温度，不是算法分数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FE427-6589-4223-9A14-7B0E8BD7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D991D-8BDA-4269-B370-C700170C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C43D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C43D4B"/>
                </a:solidFill>
                <a:latin typeface="Microsoft YaHei"/>
                <a:ea typeface="Microsoft YaHei"/>
                <a:cs typeface="Microsoft YaHei"/>
              </a:rPr>
              <a:t>30°C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68E80-F50F-4DAD-83EC-61F97964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38375"/>
            <a:ext cx="18097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D891C-2257-4BF1-91F2-DFA3C5E7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47875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rPr>
              <a:t>24±0.5°C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29135-5281-409E-8E42-1B37B1A1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38375"/>
            <a:ext cx="18097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7A12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5FC42-D31B-4C8E-939F-3ECAD692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47875"/>
            <a:ext cx="200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3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E37A12"/>
                </a:solidFill>
                <a:latin typeface="Microsoft YaHei"/>
                <a:ea typeface="Microsoft YaHei"/>
                <a:cs typeface="Microsoft YaHei"/>
              </a:rPr>
              <a:t>开门后恢复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B3F2F-AE9F-40C7-8181-7CE1D251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肉眼验收顺序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F5D6F-8CAF-4BD1-AAAC-1093201F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① 温度下降  →  ② 进入稳定带并保持  →  ③ 扰动使温度上升  →  ④ 控制器提高容量并恢复</a:t>
            </a:r>
          </a:p>
        </p:txBody>
      </p:sp>
    </p:spTree>
    <p:extLst>
      <p:ext uri="{BB962C8B-B14F-4D97-AF65-F5344CB8AC3E}">
        <p14:creationId xmlns:p14="http://schemas.microsoft.com/office/powerpoint/2010/main" val="29490285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8F4FF7-3350-4B45-8471-734B0FD9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七算法温度闭环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C4A8B-3B85-496D-B2B6-42FED161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一条反馈回路把目标温度变成容量请求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52085-DF8F-4183-8A30-2C1F8840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3A757-9114-47F3-9807-0522B0EB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205" y="1381125"/>
            <a:ext cx="4566285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49349-F620-42AC-915C-854E90AD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505" y="1495425"/>
            <a:ext cx="43376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离线调参 / 训练 / Agent上位机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61F8F-7FDA-4F6E-A169-5561C749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505" y="1828800"/>
            <a:ext cx="433768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Z-N · IMC · BO · Safe BO · FNN/RL训练 · LLM Agent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Agent只编排仿真；仅导出已验收参数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79ACC-2C3F-4E5A-81E2-D759110C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178493"/>
            <a:ext cx="1263015" cy="738378"/>
          </a:xfrm>
          <a:prstGeom xmlns:a="http://schemas.openxmlformats.org/drawingml/2006/main" prst="roundRect">
            <a:avLst>
              <a:gd name="adj" fmla="val 1548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64756-7C98-4843-ABD2-3234D6B4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292793"/>
            <a:ext cx="103441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目标温度 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32EE1-82D5-4BFF-A462-0BE50FFC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626168"/>
            <a:ext cx="1034415" cy="204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例如 24°C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BCE51-E80B-4440-A02B-10CA4468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364" y="3401949"/>
            <a:ext cx="680085" cy="27203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C0B15F-5865-4B1E-A14C-CCDA3C3A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458" y="3091053"/>
            <a:ext cx="1165860" cy="893826"/>
          </a:xfrm>
          <a:prstGeom xmlns:a="http://schemas.openxmlformats.org/drawingml/2006/main" prst="roundRect">
            <a:avLst>
              <a:gd name="adj" fmla="val 127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460F95-4817-410B-80BB-C4B82D3B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1758" y="3205353"/>
            <a:ext cx="93726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误差 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3BE46C-C85F-4E02-9B58-4A0D26E4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1758" y="3538728"/>
            <a:ext cx="937260" cy="360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 = T - 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A53717-9DF7-4EBA-8015-87144E9F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473" y="3401949"/>
            <a:ext cx="680085" cy="27203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7BDC0E-9773-404A-BC83-BA84D326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713" y="3091053"/>
            <a:ext cx="1311593" cy="893826"/>
          </a:xfrm>
          <a:prstGeom xmlns:a="http://schemas.openxmlformats.org/drawingml/2006/main" prst="roundRect">
            <a:avLst>
              <a:gd name="adj" fmla="val 12788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DE2F63-B05D-4ED1-B94A-D3C48784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013" y="3205353"/>
            <a:ext cx="108299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安全 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56A61C-46C6-4EF7-851B-869A3824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013" y="3538728"/>
            <a:ext cx="1082993" cy="360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100 ms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输出容量请求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CE87CC-DE8E-4FE3-ADA5-15BFE7F8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460" y="3401949"/>
            <a:ext cx="680085" cy="27203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4560EA-F07E-43AA-B54F-9BDE9E73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93898"/>
            <a:ext cx="1700213" cy="1088136"/>
          </a:xfrm>
          <a:prstGeom xmlns:a="http://schemas.openxmlformats.org/drawingml/2006/main" prst="roundRect">
            <a:avLst>
              <a:gd name="adj" fmla="val 10504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A73724-030C-4F7D-9353-ABE4A3FD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8198"/>
            <a:ext cx="147161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压缩机限制器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829507-B385-479E-8D5A-FCE53647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41573"/>
            <a:ext cx="1471613" cy="554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最低频率 · 斜率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量化 · 最小启停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F0323A-7704-4204-9BC3-57869F1E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068" y="3401949"/>
            <a:ext cx="680085" cy="27203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03EBAD-E115-4291-89BE-9CDBC6EC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308" y="3091053"/>
            <a:ext cx="1845945" cy="893826"/>
          </a:xfrm>
          <a:prstGeom xmlns:a="http://schemas.openxmlformats.org/drawingml/2006/main" prst="roundRect">
            <a:avLst>
              <a:gd name="adj" fmla="val 12788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F2F2AE-7029-45CC-BF41-29C6DD3C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2608" y="3205353"/>
            <a:ext cx="161734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空调 / 虚拟对象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C10CB5-715A-4CC6-9372-1DC663F5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2608" y="3538728"/>
            <a:ext cx="1617345" cy="360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容量指令 u → 室温 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2C6A62-88E1-4D98-B293-15229535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9135" y="4548378"/>
            <a:ext cx="2234565" cy="680085"/>
          </a:xfrm>
          <a:prstGeom xmlns:a="http://schemas.openxmlformats.org/drawingml/2006/main" prst="roundRect">
            <a:avLst>
              <a:gd name="adj" fmla="val 16807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7446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8B47DA-8CFF-4A28-9601-99A81538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3435" y="4662678"/>
            <a:ext cx="200596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FNN / RL低频调度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05F328-B9C1-47D8-81D7-9D69AD80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3435" y="4996053"/>
            <a:ext cx="2005965" cy="146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每 2 s 只建议 Kp/Ki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51D593-51C8-4B21-B805-ABE2545F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432108" y="4159758"/>
            <a:ext cx="291465" cy="340043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446B8"/>
          </a:solidFill>
          <a:ln xmlns:a="http://schemas.openxmlformats.org/drawingml/2006/main" w="9525">
            <a:solidFill>
              <a:srgbClr val="7446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A403B3-D15B-41F9-912E-2A9936A2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1810" y="4344353"/>
            <a:ext cx="7286625" cy="291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306FFF-D89D-47D4-B920-2BB7433B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379" y="3858578"/>
            <a:ext cx="29147" cy="5149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D56E84-7164-42FD-9CC9-A7E9C39C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9004" y="3858578"/>
            <a:ext cx="29147" cy="5149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0FDC64-0588-4C3A-8F0C-79C72E47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857500" y="4227767"/>
            <a:ext cx="340043" cy="262319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72C790-8506-49E9-8D65-A5757EE7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120896"/>
            <a:ext cx="6703695" cy="233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温度传感器反馈：测温 → 算误差 → PI → 限幅 → 温度变化 → 再测温</a:t>
            </a:r>
          </a:p>
        </p:txBody>
      </p:sp>
    </p:spTree>
    <p:extLst>
      <p:ext uri="{BB962C8B-B14F-4D97-AF65-F5344CB8AC3E}">
        <p14:creationId xmlns:p14="http://schemas.microsoft.com/office/powerpoint/2010/main" val="21315257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4EFE28-9523-4E0E-A7EB-959C4511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七算法温度闭环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5BBDD-27FF-45F8-848C-368E0C0B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30°C 降到 24°C：90 秒演示代表 5 小时虚拟物理时间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97366-BF7B-49E3-A37D-24A894D7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23875" y="1476375"/>
          <a:ext xmlns:a="http://schemas.openxmlformats.org/drawingml/2006/main" cx="7620000" cy="4429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39c2f6941b4c7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1A7C5-B701-453B-939F-21ECB907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66875"/>
            <a:ext cx="2762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ED4AE-42DD-43AD-8578-1BC4C007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573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约 34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53A564-3D9E-4AD6-BE6D-962347A0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首次进入 ±0.5°C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7D35D-482F-4DC9-8745-13C4F786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762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ED91B-8375-4DDF-A187-20D68503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rPr>
              <a:t>约 115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BB46B-0049-4D91-8FEC-C132DF5C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29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连续保持 30 min 后确认稳定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93523-998C-4920-88D9-385A88C3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053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43D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43D4B"/>
                </a:solidFill>
                <a:latin typeface="Microsoft YaHei"/>
                <a:ea typeface="Microsoft YaHei"/>
                <a:cs typeface="Microsoft YaHei"/>
              </a:rPr>
              <a:t>注意：真实响应必须由 BMS 或台架测量。</a:t>
            </a:r>
          </a:p>
        </p:txBody>
      </p:sp>
    </p:spTree>
    <p:extLst>
      <p:ext uri="{BB962C8B-B14F-4D97-AF65-F5344CB8AC3E}">
        <p14:creationId xmlns:p14="http://schemas.microsoft.com/office/powerpoint/2010/main" val="168576488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AFAC1-8A63-4DCB-BDA0-E21928CF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七算法温度闭环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CC546-3BD3-4F7B-BD4C-F05A289F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Kp 决定“现在多用力”，Ki 负责“长期消除残差”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31252-CD88-4831-A0F5-1188BF1F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1427D-6D6C-4ACC-A3C7-167F6332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4857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D4340-37A8-4318-9010-104C531A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2405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比例 P：Kp × 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8786C-9C6A-4C22-B91B-BF30A0F1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57425"/>
            <a:ext cx="46291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误差大时立即增强容量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太大：抖动、过冷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太小：反应迟钝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D8EBC-1B75-4C49-9D02-546A6AF1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09750"/>
            <a:ext cx="4857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31476-A96C-4C61-860D-9B684F1C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92405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积分 I：Ki × ∫e dt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685EE-21B9-41D8-939B-E92D7564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257425"/>
            <a:ext cx="46291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累积长期偏差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太大：积累过头、过冲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太小：长期偏离目标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58790-7415-40B7-9FF4-70406AA6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u请求 = Kp·e + Ki·∫e dt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A28CE2-6A00-4E8A-9C07-93789DCB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24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安全 PI 还必须有抗积分饱和；容量请求之后仍要经过执行器限制器。</a:t>
            </a:r>
          </a:p>
        </p:txBody>
      </p:sp>
    </p:spTree>
    <p:extLst>
      <p:ext uri="{BB962C8B-B14F-4D97-AF65-F5344CB8AC3E}">
        <p14:creationId xmlns:p14="http://schemas.microsoft.com/office/powerpoint/2010/main" val="139217755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2D23F6-DFE3-4C78-B015-B07A3D27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算法 1/7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EEC13-01D3-42A8-AA4D-A32ED4AE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Z-N 用阶跃辨识和经验公式给出第一组增益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49924-6735-4852-91BB-F783F274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EC05F-02CA-4257-9C27-93620C8C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9699F-051B-4D8C-A93A-F99542B1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虚拟/真实阶跃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74D66-59D5-41B7-8DFD-35740FF8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温度、时间、容量变化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95B9D-E6FA-4EBF-BA5D-3A01734D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F21DF-52E7-436F-9F0F-87FB3609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DB9BD-B4A5-4B57-A174-86B67638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辨识 FOPDT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6C2B6-7B33-45A2-A875-C088D387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K、τ、L → 经验公式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BEC74-2A1C-4232-BDA3-054755F8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7A12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FF7B8-2343-4084-BA30-DEEC5E2D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F66E0B-C70B-485B-BD19-D00CB335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统一场景验收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9B4946-8FE1-45DE-A015-C729B11C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稳定带、过冷、扰动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22A03-7F52-4080-AB52-FA85CB5C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261175-061A-43A8-939F-B6DBDB1D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6FA390-EC72-4B5D-A9CF-CA49BF28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固定 Kp/Ki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D6B45F-251F-4503-9094-92336FED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安全 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DACC31-572E-4EC8-84CE-F07F3827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48125"/>
            <a:ext cx="10906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21DA38-3392-4FE3-92CC-6E878390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3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37A12"/>
                </a:solidFill>
                <a:latin typeface="Microsoft YaHei"/>
                <a:ea typeface="Microsoft YaHei"/>
                <a:cs typeface="Microsoft YaHei"/>
              </a:rPr>
              <a:t>回退结论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5028A8-E233-47D6-BE36-CB7CBC0B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29100"/>
            <a:ext cx="8429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本场景候选未通过可见稳定门，因此实际部署使用 IMC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DEE691-ACE7-449A-B191-A8EDD974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53000"/>
            <a:ext cx="842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候选仍画成影子曲线；不会把 IMC 稳定曲线冒充 Z-N 成功。</a:t>
            </a:r>
          </a:p>
        </p:txBody>
      </p:sp>
    </p:spTree>
    <p:extLst>
      <p:ext uri="{BB962C8B-B14F-4D97-AF65-F5344CB8AC3E}">
        <p14:creationId xmlns:p14="http://schemas.microsoft.com/office/powerpoint/2010/main" val="4625644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91E244-3349-4F71-870D-29E5DE3E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算法 2/7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DFA4F-BA7E-48FC-8839-641E2271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IMC 用 λ 选择快慢与鲁棒性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6125F-6BB4-4E8D-87E9-6016CA9C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03056-05DE-4EC0-8468-0B75B63C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EEE2F-B63C-4C0E-83DC-C625CE37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FOPDT 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1EDD7-8410-4E0D-920E-59A65D2A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K、τ、L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9A45F-4C3A-4EB7-9652-0299EE74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5CBE2-D6CD-45DD-88F9-238F92CC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0764E-62DC-4419-86F5-B204E275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选择鲁棒 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FCFED-2B6B-4315-9228-EA5AD9D1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λ 大更稳，λ 小更快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87A17-1E38-46B4-8304-CDEA74E0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7A12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5DCEF-7E2C-4B3B-9FBD-4DB73EF8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96A88-ED95-4F99-A18F-EA290A6C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多场景验收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F42B42-26C5-45FF-802E-9DBDCD99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噪声与执行器约束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4A1E21-C1D5-44A9-9081-61B805AA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323012-181B-4B40-BF78-4C48EA66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E37B6A-4BF5-47A0-A565-A78512CE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安全回退 Kp/Ki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A527EE-8359-42BA-AA8B-C088237C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固定部署基线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537FD5-C5F3-4A75-BDAD-B30020AB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48125"/>
            <a:ext cx="10906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22E990-45FA-47AC-89FD-DCB53CBA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rPr>
              <a:t>部署结论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AE1369-32C9-4B17-8DDB-BB958DD9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29100"/>
            <a:ext cx="8429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IMC 是本项目的安全基线，不追求每项指标都最快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6BBAC6-389E-4CD2-9A5E-1798C810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53000"/>
            <a:ext cx="842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它的价值是可解释、可复现，并能在智能候选失败时接管。</a:t>
            </a:r>
          </a:p>
        </p:txBody>
      </p:sp>
    </p:spTree>
    <p:extLst>
      <p:ext uri="{BB962C8B-B14F-4D97-AF65-F5344CB8AC3E}">
        <p14:creationId xmlns:p14="http://schemas.microsoft.com/office/powerpoint/2010/main" val="13648589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36C73A-584D-48DA-A80A-52A119C4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算法 3/7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416C5-AB8A-46BD-9159-3659602B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普通 BO 在上位机搜索固定 Kp/Ki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4D38A-565E-43D7-92F9-FD14CBA9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32D19-B745-465F-8C5D-30895C15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36B80-0D74-4353-A5AD-5F444C07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参数边界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83A46-4F21-4A0F-965E-B3AB0A75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训练场景与目标函数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D9187-0F07-4919-9A2B-6C944587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DFB93-8701-4135-A7A7-08A1C597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14AC2-CAE5-4147-A448-1FF5FF7A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贝叶斯优化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DC7E3-300C-44E7-B47B-5652AE78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选择下一组最有希望的增益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A507A-728E-42F7-BEDA-D22FAAFA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7A12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BABDE-3E31-49E5-BE5A-AA243DA7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1ADE7A-7DC6-43E9-BBC5-19C2CE31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独立留出场景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EF8C8C-DA08-446C-BAEA-56C80202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部署前冻结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32C859-DA46-4D39-8923-BA2C9DD6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331235-7493-429A-BA2B-DAFCCB3C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80951E-7E8E-4B57-A546-7B0133DA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固定 Kp/Ki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A49A1A-FF63-4A92-B8A7-70F8837F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不再探索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D96F17-FD2D-4107-9643-6A2A4392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48125"/>
            <a:ext cx="10906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5D60A5-B2BC-49B2-833A-5C10CBA5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rPr>
              <a:t>部署结论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69FBBD-2520-4CDE-AD7D-BF31EF3F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29100"/>
            <a:ext cx="8429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BO 解决昂贵黑箱调参，但不能在真实空调上无约束试错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9394E1-F5AD-41F9-B5C4-62813737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53000"/>
            <a:ext cx="842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本 Demo 使用已保存的离线搜索产物。</a:t>
            </a:r>
          </a:p>
        </p:txBody>
      </p:sp>
    </p:spTree>
    <p:extLst>
      <p:ext uri="{BB962C8B-B14F-4D97-AF65-F5344CB8AC3E}">
        <p14:creationId xmlns:p14="http://schemas.microsoft.com/office/powerpoint/2010/main" val="172749832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0FB7BD-08D6-47DE-B2C3-2771C860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算法 4/7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AAA1D-95D7-4079-932C-EC685C5D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安全 BO：同时约束风险与安全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58959-E2C9-4D3D-8DBE-17E7A9FF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E921D-FE7E-498A-AA59-677FF7FD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2DDFB-E5A8-46E7-A1A2-D147D2BD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候选 Kp/Ki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CD703-C578-43DC-BD26-5930EBCF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重复噪声仿真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1D4D7-9F00-41BF-AB5C-E270CBA4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B44FE-9DAA-47E0-B736-39F4C500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71639-99FD-474C-AABB-5EA98B16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风险目标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54C11-70E4-4B65-818F-38B0505D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均值 + 方差惩罚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F5129-03B7-47CD-9D00-95A90440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7A12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4B3A35-A5FA-49EC-8DFA-5D4C0F98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9550FF-0857-4095-A820-83767E18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安全代理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910916-9034-47EF-B12A-B37D4087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不安全候选不执行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C09349-3872-4510-B887-73CA0EC2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8DF34B-151D-474B-8F52-1F0FFF22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FA1D21-EC6F-48A1-BFF4-CABE09FF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验收固定增益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41C0E0-943D-4431-9758-7F825B54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可审计安全裕量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55B025-E533-453C-A559-E84928C6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48125"/>
            <a:ext cx="10906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1D655D-6F71-46CB-AF14-DA89B2B0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rPr>
              <a:t>部署结论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432D9D-5351-49C0-8E90-30CBCB97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29100"/>
            <a:ext cx="8429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安全 BO 在本场景稳定更快，但结论只适用于当前模型与验收集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34D670-34BE-4A71-AEDD-74648D34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53000"/>
            <a:ext cx="842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它仍是离线方法；真实设备上线前还需要台架验证。</a:t>
            </a:r>
          </a:p>
        </p:txBody>
      </p:sp>
    </p:spTree>
    <p:extLst>
      <p:ext uri="{BB962C8B-B14F-4D97-AF65-F5344CB8AC3E}">
        <p14:creationId xmlns:p14="http://schemas.microsoft.com/office/powerpoint/2010/main" val="1522676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8A596B-AEAD-4F81-842F-FE1C288C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算法 5/7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47162-AB27-45EB-BAAA-292372FD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FNN 每 2 秒插值规则，但当前候选没有部署权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8E23B-17DB-4AF3-AA1F-50F42C63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DC061-9F8B-46B4-9545-02AB399E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F7976-1C47-4BAA-9D40-C8B1320B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误差 e、误差变化率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8D6E1-6021-41FA-88A3-66E11A88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25 个规则节点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C3F4F-7AD5-48AE-98AB-08EE38E2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845A8-E0A6-47F7-B2E0-5E7E71CC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E7D0D-494E-45B1-8C98-A04A91E2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四邻域插值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63B0D-1A71-4D72-A4D9-7A5D97E7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候选 Kp/Ki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18D82-EDD6-4A4F-847F-C7AA263F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7A12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AF0879-5B2E-42F8-A968-FAC75A05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EFB0F-9B3B-47C9-BD98-D637D5AE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覆盖率与性能门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D74901-2B7E-4DC1-AFC3-6FB239AF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失败即拒绝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F2607-6620-4923-A4AF-B813832F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19E25C-3B5E-4742-9877-58C93DA9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12100D-140D-480E-93A0-A893EA27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影子建议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940799-0E61-4775-9A54-BEE88CEF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实际 IMC 回退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E843D8-9082-4D7F-97F7-8793F349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48125"/>
            <a:ext cx="10906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E64963-7B95-45BF-843F-61C09CD7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3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37A12"/>
                </a:solidFill>
                <a:latin typeface="Microsoft YaHei"/>
                <a:ea typeface="Microsoft YaHei"/>
                <a:cs typeface="Microsoft YaHei"/>
              </a:rPr>
              <a:t>回退结论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D4A798-3083-4F89-A889-D5A399F3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29100"/>
            <a:ext cx="8429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FNN 训练候选未通过性能验收，页面明确显示回退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EA3250-895B-44D0-A427-766E18EB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53000"/>
            <a:ext cx="842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红线是 IMC 实际温度；紫色虚线才是 FNN 候选温度。</a:t>
            </a:r>
          </a:p>
        </p:txBody>
      </p:sp>
    </p:spTree>
    <p:extLst>
      <p:ext uri="{BB962C8B-B14F-4D97-AF65-F5344CB8AC3E}">
        <p14:creationId xmlns:p14="http://schemas.microsoft.com/office/powerpoint/2010/main" val="152796093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533C1A-3ADA-4368-B71F-5A8F80A5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算法 6/7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55BC4-9C17-4A77-B79E-DFCA93D8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RL 训练时探索，部署后只查冻结策略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A3AF2-7E68-4CCC-9462-50B348F3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5BF0A-45DD-4BB5-B5B8-8BC2A42D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10062-2C0D-4A99-AEFB-69D6582D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e、ė、实际容量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8969D-7EB5-4C39-A652-B527E753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5×5×3 离散状态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21F88-ED71-4F9A-9B66-12ACDADF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20278-9790-4C14-A84A-CF660813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9C8B1-C612-4E72-99D6-3EFC7702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离线 Q 学习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3E26CB-8808-45D4-89FE-DEC0DD8C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冻结动作表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BB4667-32C9-457B-BA6C-E2E5BB25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7A12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F8CF4-27ED-44D1-9429-87D4BB1E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27FF0D-22E9-42F5-BFBF-222E9F16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覆盖掩码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5458C-5C2D-40EE-A516-29D20BF8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未覆盖状态回退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0C2FFE-211B-4ADC-88ED-24F627D6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7DF73E-4BA2-497C-A961-7851EFA4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F385F2-EA8F-4080-99EF-F3C028AF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每 2 秒候选增益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787A98-B155-4B93-BA37-69668723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无在线随机探索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CEFC87-9630-4408-BAF3-6127EDC3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48125"/>
            <a:ext cx="10906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D7236E-58AC-401E-96F0-A6C2D18B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rPr>
              <a:t>部署结论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4FEF78-7F33-4142-9156-EE22BBE0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29100"/>
            <a:ext cx="8429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RL 已通过当前离线门，但提升不等于对真实设备已证明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20AB7F-855D-4E46-BE78-E76B29BA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53000"/>
            <a:ext cx="842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目标板只执行查表；任何未覆盖状态立即使用 IMC。</a:t>
            </a:r>
          </a:p>
        </p:txBody>
      </p:sp>
    </p:spTree>
    <p:extLst>
      <p:ext uri="{BB962C8B-B14F-4D97-AF65-F5344CB8AC3E}">
        <p14:creationId xmlns:p14="http://schemas.microsoft.com/office/powerpoint/2010/main" val="170087537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AEC8A4-6857-43A3-A12E-AF7CF56B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算法 7/7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798E0-970D-477F-86B3-B2015F19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 自主试验，宿主安全门最终裁决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CCB57-EE6A-4210-BBB3-B5C6CF27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EA59A-BA77-40CB-8B66-C5E666E3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B2D46-C083-4147-838A-4B5ACCB0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当前安全点与历史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2BBDD-65F6-4C63-87BB-58435F92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指标、限制、剩余预算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35D30-EE21-47C1-867A-450B6534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05B0C-532C-4259-A2F2-55816BF5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D7B6A-2C8E-4B09-A27A-3FAAF29E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自主三选一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59F0A0-2844-4838-8576-A42420A7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查看 / 仿真 / 结束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0C5FDC-11C7-419B-8A2D-E8D18772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7A12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9089E2-8B29-4257-8747-D98BD795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7CD19B-D5C6-44BE-A05D-37CA0518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宿主限幅 ±10%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AEF1FA-1B10-42CB-A10A-609618F6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重复仿真→安全门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007658-4722-42E7-978A-B7F717BE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5671FD-19C5-4CB4-8333-AEDBCAC6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AC05C2-2B7A-4558-929E-50CAC69E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已验收固定参数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86E884-A5E4-488C-8B06-F45F2B76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无合格候选则 IMC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5767A5-D043-41B9-889E-B24F3EFB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48125"/>
            <a:ext cx="10906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992986-58AB-4632-B300-A014BDF5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rPr>
              <a:t>部署结论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32FCDF-2D54-4187-9A7E-7F28580B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29100"/>
            <a:ext cx="8429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 有试验编排权，但没有安全裁决权或压缩机写入权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A08EFC-6918-441C-9385-CFBBF587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53000"/>
            <a:ext cx="842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replay 是录制工具轨迹；OpenAI/Ollama 模式才会在本次运行中自主调用白名单工具。</a:t>
            </a:r>
          </a:p>
        </p:txBody>
      </p:sp>
    </p:spTree>
    <p:extLst>
      <p:ext uri="{BB962C8B-B14F-4D97-AF65-F5344CB8AC3E}">
        <p14:creationId xmlns:p14="http://schemas.microsoft.com/office/powerpoint/2010/main" val="197694991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9D8E0D-CBDA-4B85-9CE5-849FFF13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七算法温度闭环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100CD-654C-46DB-AF85-7EE1A7CA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 不进实时环：它只编排上位机试验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40021-B762-43D9-88B4-76CEE903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CB986-6BF3-4AD5-8DF8-78E375A4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4762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0CF43F-6623-4472-B74F-E15B5A2F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240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100 ms 硬实时层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BAFE7-8AA1-4E6D-8753-BE77412F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57425"/>
            <a:ext cx="453390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测温 → PI → 限制器 → 容量请求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必须确定、可界定最坏耗时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99768-519C-4F27-BAAD-409D747D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809750"/>
            <a:ext cx="4762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D863A-C598-4F89-85CB-A421FE93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9240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秒到分钟 Agent 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E3B17A-24BF-4CFA-B5FF-BA64455B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257425"/>
            <a:ext cx="453390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查看历史 → 请求候选仿真 → 读取门控结果 → 继续或停止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只调用白名单工具；宿主执行并裁决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02E1D-1891-4853-B5FE-EB644005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19375"/>
            <a:ext cx="1190625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7A12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1CC41-489F-47B3-BE7F-C7F56579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90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3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37A12"/>
                </a:solidFill>
                <a:latin typeface="Microsoft YaHei"/>
                <a:ea typeface="Microsoft YaHei"/>
                <a:cs typeface="Microsoft YaHei"/>
              </a:rPr>
              <a:t>只下发已验收配置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209A7-2179-4173-B9BC-5F7A531F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7429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DEBED"/>
          </a:solidFill>
          <a:ln xmlns:a="http://schemas.openxmlformats.org/drawingml/2006/main" w="9525">
            <a:solidFill>
              <a:srgbClr val="C43D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A3B8DB-0850-41B6-9EFC-A0189533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000625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837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43D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43D4B"/>
                </a:solidFill>
                <a:latin typeface="Microsoft YaHei"/>
                <a:ea typeface="Microsoft YaHei"/>
                <a:cs typeface="Microsoft YaHei"/>
              </a:rPr>
              <a:t>超时 / 无密钥 / 非法工具 / NaN / 预算耗尽 / 仿真不稳定  ⇒  保持 IMC</a:t>
            </a:r>
          </a:p>
        </p:txBody>
      </p:sp>
    </p:spTree>
    <p:extLst>
      <p:ext uri="{BB962C8B-B14F-4D97-AF65-F5344CB8AC3E}">
        <p14:creationId xmlns:p14="http://schemas.microsoft.com/office/powerpoint/2010/main" val="104527804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BB1AE4-4D87-40B2-B740-CACEBBED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七算法温度闭环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BA077-6F84-4AC8-9417-A3F3D519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ESP32 三个节拍分开实时 PI 与 AI 调度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C81C4-6842-4425-A49A-1A19DBF1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C29C1-2647-41FD-A081-EC71A190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rPr>
              <a:t>100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CAB32-9E6A-4D6E-B51E-54142F3D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24075"/>
            <a:ext cx="742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3C7D3-A5A9-4616-8495-3DB4D140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9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64B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316BE-B748-4AF6-A834-88079DDE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09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64B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46AB0-97A8-4526-9C0A-6C994474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09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64B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07E682-FC8C-4422-BD97-3CD66AA8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09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64B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0631D-E29E-40B5-BFBE-ABF749FE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9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64B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751A5-B31A-4CFF-A3DE-A22F846C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9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64B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7DBC84-69FD-44CF-A96A-78BC4244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9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64B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A2B1CB-3CBD-4F40-971D-66D61031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09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64B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172FD4-22CD-4BD9-974B-74557B14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9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64B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F32E50-24CC-4D75-A828-3F38DBA9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7621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PI 闭环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B9B95-3FDA-459B-8B41-068A4008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095500"/>
            <a:ext cx="1714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读温度、算误差、更新 PI、执行限幅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82599B-D45B-4439-9AC2-ABFC586E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86125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500 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E5337D-6FE5-4316-9434-F9020292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05200"/>
            <a:ext cx="742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B5DC22-145A-4B61-A5E2-AE0F1BBE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90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3DDE38-4737-4697-A03E-DA5826B1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90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324DBE-B7F5-4033-A0E9-6A2E56C5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90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61E336-5BDF-4FDE-9C97-7E6858EB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90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005333-CA8B-400B-8CD6-83311D83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90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ABB2FC-14AE-4732-A04A-C38A4127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143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串口遥测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E00DD5-9AD0-4B2B-BA6F-C470335C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476625"/>
            <a:ext cx="1714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温度、目标、容量、增益、状态、最坏耗时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9AECFC-363F-403F-BC3D-C6578835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672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44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446B8"/>
                </a:solidFill>
                <a:latin typeface="Microsoft YaHei"/>
                <a:ea typeface="Microsoft YaHei"/>
                <a:cs typeface="Microsoft YaHei"/>
              </a:rPr>
              <a:t>2 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1E6B19-7108-43BC-B937-7657B7CB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86325"/>
            <a:ext cx="742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6AC66D-2CAA-4640-B0A6-6DFFB9E3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72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6B8"/>
          </a:solidFill>
          <a:ln xmlns:a="http://schemas.openxmlformats.org/drawingml/2006/main" w="9525">
            <a:solidFill>
              <a:srgbClr val="7446B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BB1DDB-703B-4492-9AE9-FC85E1BB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72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6B8"/>
          </a:solidFill>
          <a:ln xmlns:a="http://schemas.openxmlformats.org/drawingml/2006/main" w="9525">
            <a:solidFill>
              <a:srgbClr val="7446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171717-14A3-4E09-918B-8731C32C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72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6B8"/>
          </a:solidFill>
          <a:ln xmlns:a="http://schemas.openxmlformats.org/drawingml/2006/main" w="9525">
            <a:solidFill>
              <a:srgbClr val="7446B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8D6EAB-9761-4EBC-8167-36C2E311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524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FNN / RL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BB43C3-DAB5-4948-B889-94019DFC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857750"/>
            <a:ext cx="1714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只生成候选 Kp/Ki；固定 PI 算法不做任何 AI 工作</a:t>
            </a:r>
          </a:p>
        </p:txBody>
      </p:sp>
    </p:spTree>
    <p:extLst>
      <p:ext uri="{BB962C8B-B14F-4D97-AF65-F5344CB8AC3E}">
        <p14:creationId xmlns:p14="http://schemas.microsoft.com/office/powerpoint/2010/main" val="33426961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37B7D8-894E-4519-95EF-414E8FA5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七算法温度闭环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1C389-1922-4410-BDA2-14CE3687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现场 Demo：先看温度，再看容量，最后看增益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4DA2D-7DE8-41C1-8FCA-66D969CC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739E8-E871-4407-ACB1-7D24B559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52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05681-0EAF-458C-B97C-87C9A748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955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8EF4D-60D7-4494-BF32-B3D26254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43125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1FA9A-0B78-432D-98D7-31E5D34A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52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启动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A96ED-CF6F-44CD-BC5F-5E021895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30°C → 24°C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36E59A-3E0D-437C-B4A0-52E909F3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952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44074-CEB2-45A6-9734-EFE41AA9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955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626911-96EC-4909-869A-22EAA62E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43125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141F9-B298-4FAE-9110-39E73656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952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14E50-DFD4-4723-89C5-33DAD9B2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4290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曲线进入绿色稳定带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6771FB-440F-4A9D-93EC-87BE3042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1952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7A12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FA175-25EA-4948-BD11-B50E4378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0955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58E0C7-EF05-4BF9-8007-3A4AC93A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43125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71F0FB-2D03-4BDC-B6F7-F05ADDFB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952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扰动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B27D81-861A-4592-9B1C-8E4AC588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4290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按按钮模拟开门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D90D4D-D777-4E2B-A0A1-00CD9115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952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76BCDE-4A3C-4AC0-84A7-2B70C978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0955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7DEF2F-3101-4123-B64D-1F3ECBCB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43125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36FF55-7FA5-4F3B-AB76-166D9719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952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16B131-53D6-45C5-B821-06AC0743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4290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容量升高，温度回带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A7F771-A446-4C46-9738-4F3B0FA5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1952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01C416-3873-43BC-91B4-F8F6E371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0955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6618B8-05B8-4940-BF20-E821DE89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952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核对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1FB354-1E8C-40A2-B229-5E12CC50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4290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状态/回退/最坏耗时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265788-3094-4B67-81F4-D18FECB1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99060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FF6272-EE16-431D-BD14-37524AEB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2920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页面必须同时看到温度曲线、目标线、±0.5°C 稳定带和开门标记；文字“已稳定”不是唯一证据。</a:t>
            </a:r>
          </a:p>
        </p:txBody>
      </p:sp>
    </p:spTree>
    <p:extLst>
      <p:ext uri="{BB962C8B-B14F-4D97-AF65-F5344CB8AC3E}">
        <p14:creationId xmlns:p14="http://schemas.microsoft.com/office/powerpoint/2010/main" val="201605265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2B7424-BB15-44E0-B0F0-FD008F13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七算法温度闭环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2AA55-4C99-4BD5-932D-19395DA5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七条部署曲线都稳定；失败候选不获控制权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B50F6-3C64-4F89-BC37-533A30FD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28625" y="1381125"/>
          <a:ext xmlns:a="http://schemas.openxmlformats.org/drawingml/2006/main" cx="8096250" cy="4619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49e70aa22a4a9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B3BB7-009A-4453-A46F-247C036A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71625"/>
            <a:ext cx="2857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7446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D95DA-A2C3-4412-8231-7F3FDB7B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430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最快稳定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09E03B-0FCC-4601-9D73-73395812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955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44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446B8"/>
                </a:solidFill>
                <a:latin typeface="Microsoft YaHei"/>
                <a:ea typeface="Microsoft YaHei"/>
                <a:cs typeface="Microsoft YaHei"/>
              </a:rPr>
              <a:t>RL · 76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EE0F1A-94FF-4DAC-AACD-23CC0525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52750"/>
            <a:ext cx="2857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7446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263CE-F9C1-4968-B5E5-EB4F1EBE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24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最快扰动恢复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BFEB6-EE38-401C-A571-3CD72D32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4766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44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446B8"/>
                </a:solidFill>
                <a:latin typeface="Microsoft YaHei"/>
                <a:ea typeface="Microsoft YaHei"/>
                <a:cs typeface="Microsoft YaHei"/>
              </a:rPr>
              <a:t>RL · 24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FD986D-3273-4E70-A4D5-0CA220F3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33875"/>
            <a:ext cx="2857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427D7-735D-4863-9323-810E1FB7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053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明确回退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3EF6F2-0782-4C02-96F4-BB6582A5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857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3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37A12"/>
                </a:solidFill>
                <a:latin typeface="Microsoft YaHei"/>
                <a:ea typeface="Microsoft YaHei"/>
                <a:cs typeface="Microsoft YaHei"/>
              </a:rPr>
              <a:t>Z-N、FNN</a:t>
            </a:r>
          </a:p>
        </p:txBody>
      </p:sp>
    </p:spTree>
    <p:extLst>
      <p:ext uri="{BB962C8B-B14F-4D97-AF65-F5344CB8AC3E}">
        <p14:creationId xmlns:p14="http://schemas.microsoft.com/office/powerpoint/2010/main" val="7288817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7F073-8DCE-4907-A336-ACE7E404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七算法温度闭环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7CCF0-016F-420A-832A-9D390FBE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开门先把温度推高，控制器随后增加容量并恢复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506B7-00F4-45DE-9B7A-0BCBF671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23875" y="1476375"/>
          <a:ext xmlns:a="http://schemas.openxmlformats.org/drawingml/2006/main" cx="7572375" cy="4429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e557f7a0154ca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C9B2C-26FA-45E9-AD59-FF80AA6C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762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D855D1-FD1B-4911-8D2C-7A773411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240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E3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37A12"/>
                </a:solidFill>
                <a:latin typeface="Microsoft YaHei"/>
                <a:ea typeface="Microsoft YaHei"/>
                <a:cs typeface="Microsoft YaHei"/>
              </a:rPr>
              <a:t>189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5962B-DC23-44E7-A309-3FB8FE1A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开门热负荷注入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D6CF5-948C-48EF-AEED-794C62D0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86125"/>
            <a:ext cx="2762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60F7A-94FC-4A74-8D7E-9439E8D3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956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rPr>
              <a:t>24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CB00E-F91E-47EA-800D-D98B9B53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528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当前场景扰动恢复时间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1A429-7AFF-4526-A4C2-CA8DD9F7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恢复定义：扰动结束后再次连续保持在 ±0.5°C。</a:t>
            </a:r>
          </a:p>
        </p:txBody>
      </p:sp>
    </p:spTree>
    <p:extLst>
      <p:ext uri="{BB962C8B-B14F-4D97-AF65-F5344CB8AC3E}">
        <p14:creationId xmlns:p14="http://schemas.microsoft.com/office/powerpoint/2010/main" val="175156223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EF1FA-C4CE-4AB7-A0FA-EB3EADF7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七算法温度闭环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EF1CD-9369-4DD3-91E4-0F710684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FNN 被拒绝时，实际与候选曲线必须分开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4424F-4309-4674-A7AA-01B29FDE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23875" y="1476375"/>
          <a:ext xmlns:a="http://schemas.openxmlformats.org/drawingml/2006/main" cx="7524750" cy="4429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5dbb3935c88441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2BFD1-0F32-4E02-8DCF-9A6CA0B4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66875"/>
            <a:ext cx="2762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DE3D8-AA13-4EB5-A7D6-531CDF28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81175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候选层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E99E6-EDC1-4973-BEAE-588509E4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14550"/>
            <a:ext cx="2533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FNN 仍每 2 s 计算候选增益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用于记录和后续改进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9EC3F-5769-41C1-B7F4-C08ABFDC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76625"/>
            <a:ext cx="2762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CB12E-A1F7-4415-A041-75F812EE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90925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执行层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A6BAC-72D4-4C78-B534-6B10F43D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24300"/>
            <a:ext cx="2533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实际温度由 IMC 参数控制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回退 LED 与状态同时点亮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D0607D-82E9-4380-AFED-8E2A9190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8637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43D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43D4B"/>
                </a:solidFill>
                <a:latin typeface="Microsoft YaHei"/>
                <a:ea typeface="Microsoft YaHei"/>
                <a:cs typeface="Microsoft YaHei"/>
              </a:rPr>
              <a:t>不能把绿色稳定结果写成“FNN 已通过”。</a:t>
            </a:r>
          </a:p>
        </p:txBody>
      </p:sp>
    </p:spTree>
    <p:extLst>
      <p:ext uri="{BB962C8B-B14F-4D97-AF65-F5344CB8AC3E}">
        <p14:creationId xmlns:p14="http://schemas.microsoft.com/office/powerpoint/2010/main" val="139789683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9191BA-E4C4-4769-A85F-3CC06186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七算法温度闭环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CF803-86CE-4B0D-8D83-17761F7F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52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接真实空调时，ESP32 通过 Modbus 控制器/BMS，不碰功率器件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1DDEE-D28C-4842-B4C6-A5734E9A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99AF2-F764-4730-913C-21538835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52625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25FE1-AD89-4B5C-9A55-0817B84B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6692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温度传感器 / BMS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FF2BD-73DE-4047-902B-FF413F44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400300"/>
            <a:ext cx="2152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读：实际温度、实际频率、告警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83E13-DC6D-4E0F-A0AF-E972BBFF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76500"/>
            <a:ext cx="619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12EF9-3214-4EC4-A44F-6E146D88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2190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A4EA3-60CF-4F4F-B4BF-D6DB8919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66925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ESP32 安全 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11631-7065-4E6D-B029-D1A70A08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00300"/>
            <a:ext cx="1962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100 ms 控制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通信超时立即撤权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B6B30-1AD3-41C3-8F6F-56A2E72A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76500"/>
            <a:ext cx="619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7A12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4F76E-D188-4524-AF79-88A752E9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952625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628AC-0687-42B2-BC62-0A3446E3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6692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70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RS-485 / Modbus RTU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7D7E72-403C-4A34-9D15-206DE447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400300"/>
            <a:ext cx="2152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容量或频率设定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地址、缩放、字节序可配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C6FEBA-5927-416C-81DB-1700987F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76500"/>
            <a:ext cx="619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7A12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2D2750-BC67-4223-A6EC-DD13FB8E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52625"/>
            <a:ext cx="195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3ACB0E-310D-4627-A8B7-86C3E729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66925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51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空调控制器 / 变频器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10291D-8B9A-472B-919B-F68FF45F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40030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厂商内部完成压缩机功率驱动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25020A-54CE-4010-901B-89216B42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33875"/>
            <a:ext cx="100012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DEBED"/>
          </a:solidFill>
          <a:ln xmlns:a="http://schemas.openxmlformats.org/drawingml/2006/main" w="9525">
            <a:solidFill>
              <a:srgbClr val="C43D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A6AC11-C08D-4C40-8ED9-A2D694E1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72000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12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43D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43D4B"/>
                </a:solidFill>
                <a:latin typeface="Microsoft YaHei"/>
                <a:ea typeface="Microsoft YaHei"/>
                <a:cs typeface="Microsoft YaHei"/>
              </a:rPr>
              <a:t>默认只读：没有真实寄存器表时 kWritesEnabled=false；传感器异常、超时、告警或配置 CRC 错误均输出 0 并安全回退。</a:t>
            </a:r>
          </a:p>
        </p:txBody>
      </p:sp>
    </p:spTree>
    <p:extLst>
      <p:ext uri="{BB962C8B-B14F-4D97-AF65-F5344CB8AC3E}">
        <p14:creationId xmlns:p14="http://schemas.microsoft.com/office/powerpoint/2010/main" val="29361186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D7CEB1-0E56-42DD-8BFA-D1E0E8FB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七算法温度闭环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9B2F0-2A25-44D3-9C7B-43F9443E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当前结论：演示链路完整，真机结论仍需目标板与空调台架证据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7E5E6-CDA5-4E06-9899-63E43062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9661D-51C5-40E0-BB9E-88D4BBB6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342900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E978B-378E-49E4-A58A-9BE41259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76425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F341A-07E5-4FE3-9124-A0FAA4B4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09800"/>
            <a:ext cx="3200400" cy="275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七算法独立入口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温度/目标/稳定带/扰动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HTML + Streamlit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Demo/Modbus 双模式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PC软件在环与自动测试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F47B5-0270-4F32-8347-8C2EE103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62125"/>
            <a:ext cx="342900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FB10C-A5EF-4234-A7AF-4290D22C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76425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明确不冒充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53DFD-7460-4677-A60C-2D3DD4C1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09800"/>
            <a:ext cx="3200400" cy="275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Z-N/FNN候选失败会回退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replay 不是实时 LLM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PC时序不是目标板时序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虚拟 5 h 不是实房 5 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5626DF-46AA-4F24-8FAE-030323E3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62125"/>
            <a:ext cx="342900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C4F58-41A4-41A8-9082-1FCA88E0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876425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下一阶段证据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4F071-7E51-4DAE-9AA1-F5524E44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09800"/>
            <a:ext cx="3200400" cy="275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PlatformIO 编译与 Wokwi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连续 10 min 串口验收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真实寄存器表核对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台架阶跃与扰动测试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2A08C1-D856-4767-8B40-4EF25176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7212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落地原则：算法可以失败，但闭环必须可观察、可回退、可审计。</a:t>
            </a:r>
          </a:p>
        </p:txBody>
      </p:sp>
    </p:spTree>
    <p:extLst>
      <p:ext uri="{BB962C8B-B14F-4D97-AF65-F5344CB8AC3E}">
        <p14:creationId xmlns:p14="http://schemas.microsoft.com/office/powerpoint/2010/main" val="20097124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2026-08-30T02:18:05.5750000Z</dcterms:created>
  <dcterms:modified xsi:type="dcterms:W3CDTF">2026-08-30T02:18:05.5750000Z</dcterms:modified>
</coreProperties>
</file>