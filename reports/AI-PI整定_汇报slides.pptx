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92000" cy="4572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变频精密/机柜空调 AI-PI 自动整定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七种整定算法的工程落地方法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项目：hvac-ai-pid-demo ｜ 数据来源：v3 封存验收（80 场景）· 整定耗时基准 · 七算法统一演示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汇报重点：每个算法怎么落地——拿什么数据、怎么整定/训练、产什么参数、怎么部署与兜底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诚信声明：全部结论限于仿真与 SIL 层；真机验收（串口曲线 / WCET / HIL）未开始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重点在第三部分：七个算法逐一讲清落地路径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1615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被控对象与控制架构（简述）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3R2C 热对象 + 执行器约束；100 ms PI 内环 + 2 s AI 增益调度层 + 四层安全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1226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验收协议：怎么算“调好了”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48/16/16 划分、80 封存场景、统一目标 J、部署验收门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08376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七种算法逐一拆解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Z-N / IMC-λ / 贝叶斯 BO / 安全 BO / LLM Agent / FNN / RL——每页：落地步骤 + 整定过程图 + 关键事实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227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0448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落地成本与控制性能对比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PC 秒级 vs 等效对象数千小时；80 场景性能排名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006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从 PC 到 ESP32 的部署链路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策略冻结 → C++ 导出 → 一致性校验 → SIL 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69671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选型建议 · 安全设计 · 局限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什么约束选什么算法；三重安全机制；如实声明边界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被控对象（简述）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所有算法共用同一对象与约束——对比才公平；建模细节见实验报告附录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控制任务（一句话）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单区机柜空调送风温度闭环：被控量 T_zone（区域空气温度），控制量 u∈[0,1]（压缩机归一化容量指令）；e = T_zone − T_sp &gt; 0 表示偏热、需增制冷。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对象模型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3R2C 集中参数热模型（两热容 + 三热阻）＋ 纯延迟 L（名义 5 min，场景随机 2–12 min）＋ 一阶执行器滞后 τu≈4 min；名义最大制冷量 7000 W（场景随机 4500–10500 W）；仿真步长 1 min。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六条执行器/传感器约束（全部算法完全相同）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最小制冷容量 25%（低于即停机）｜指令量化 1%｜变频斜率 5 个百分点/min（刻意保守）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最短运行 5 min / 最短停机 3 min（防短循环）｜纯延迟 + 一阶惯性｜测量噪声 σ=0.04 °C + 滤波 τ=2 min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为什么这些约束重要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它们使真机试凑既昂贵又不安全（斜率/驻留限制下试验周期长、过冲风险高）——这是后文“AI 层必须限幅 + 回退”与“试错全部搬进离线仿真”的直接原因。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模型可信度（已做，不展开）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数值层（DOP853 交叉验证）· 降阶层（FOPDT vs 全模型 ≈12%）· 物理层（OpenModelica vs Python，RMSE 7.16×10⁻⁶ °C）三层交叉验证。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分层控制架构：所有算法共同的落地底座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快内环 + 慢调度——AI 只调增益，不碰压缩机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532120" cy="5440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内环（100 ms 周期）· PI 基础控制器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e = T_z − T_sp；I ← I + e·Δt；u = clamp(Kp·e + Ki·I, 0, 1)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条件积分抗饱和：输出已饱和且误差继续同向时冻结积分——防长时间 100% 制冷后积分累积、严重过冷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外环（2 s 周期）· AI 增益调度层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FNN/RL 只调整 Kp/Ki，不直接控制压缩机；AI 推理微秒~毫秒级时延不影响内环执行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四层安全保护（在线算法共用）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AI 每 2 s 才更新一次，把 PI 留给 100 ms 执行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增益界：Kp ∈ [0.002, 1.5]，Ki ∈ [1e-5, 0.08]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单次增益变化 ≤ 当前值的 25%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输入/模型异常 → 立即恢复 IMC 的 fallback_gains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为什么要这样分层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执行器约束决定控制量必须缓慢、受限地变化；任何 AI 失效情形下，系统退化为已验证的 IMC 闭环——这是后续所有算法能够安全落地的前提。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4300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系统结构框图</a:t>
            </a:r>
          </a:p>
        </p:txBody>
      </p:sp>
      <p:pic>
        <p:nvPicPr>
          <p:cNvPr id="9" name="Picture 8" descr="fig1_系统结构框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872"/>
            <a:ext cx="5623560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6327648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图1｜信号流：Tsp 与 Tz 求误差 → PI 内环（AI 调增益）→ 执行器约束环节 → 3R2C 对象 → 传感反馈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验收协议：怎么算“调好了”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防背题、防挑指标、防“上线才翻车”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532120" cy="5440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数据集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48 训练 / 16 验证 / 16 测试；制冷量 4500–10500 W、延迟 2–12 min 随机化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7 类工况族：热/冷启动、设定值升/降阶跃、开门热脉冲、持续负荷、低温降阶跃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逐场景 SHA-256 写入 dataset_manifest.csv，执行数据泄漏/重复拒绝检查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封存验收（防“背题”）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5 个验收种子 × 16 场景 = 80 个全新场景；算法冻结后才“开封”，只考一次取平均，压掉运气成分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统一目标 J（越小越好）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J = 2·IAE + 1.5·ITAE + 10·舒适区违规 + 3·最大过冷 + 0.35·调节时间 + 0.08·控制变化量 + 0.7·指令方差 + 能耗项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不稳定或越界轨迹罚 1e6；全部算法同一指标集（hvac_pid/metrics.py）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部署验收门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密封测试均值比（算法 / IMC）的 95% 置信上界 ≤ 阈值才允许部署——FNN/RL 均按此门判定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4300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实验流程</a:t>
            </a:r>
          </a:p>
        </p:txBody>
      </p:sp>
      <p:pic>
        <p:nvPicPr>
          <p:cNvPr id="9" name="Picture 8" descr="fig2_实验流程框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61400"/>
            <a:ext cx="5623560" cy="4058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6327648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图2｜场景划分 → 各算法整定/训练 → 统一闭环仿真 → 指标计算 → 部署验收门 → 封存对比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七种整定方法总览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按“参数从哪来”分三类：人工公式 / 离线自动搜索 / 在线自整定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77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9083"/>
                <a:gridCol w="1969432"/>
                <a:gridCol w="912663"/>
                <a:gridCol w="1777292"/>
                <a:gridCol w="1681222"/>
                <a:gridCol w="2065502"/>
                <a:gridCol w="1489083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整定方式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在线?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 整定/训练耗时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场景 holdout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Z-N 反应曲线法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人工经验公式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FOPDT 的 K/L/τ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Kp/Ti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0.163 s / 等效 168 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IMC-λ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离线自动整定（λ 扫描）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FOPDT + λ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Kp/Ti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3.03 s / 等效 1008 h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39.53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贝叶斯 BO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离线自动整定（GP+EI）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 + 目标函数 J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Kp/Ki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1.42 s / 等效 528 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39.72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 BO（RaGoOSE 式）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离线自动整定（风险感知）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 + 风险项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Kp/Ki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1.41 s（7 次评估）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33.58*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Agent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离线自动整定（工具调用）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工况信息 + 指标工具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Kp/Ki 修正决策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真实调用 30.4 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见注†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FNN 自整定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在线自整定（查规则表）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是（每 2 s）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e, ė（模糊化）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Kp/Ki 增益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7.65 s / 等效 4181 h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39.26 PASSED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RL 自整定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在线自整定（查 Q 表）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是（每 2 s）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热状态 + 容量模式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IMC 的增益目标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16.22 s / 等效 4018 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37.61 最优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57784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* 安全 BO 的 33.58 是高级整定基准（独立留出集）上的风险目标，与 80 场景口径不同，不可直接混比；该基准内排序：安全 BO 33.58 &lt; 启发式 34.18 &lt; IMC 36.29 &lt; 普通 BO 37.96。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† LLM Agent 为真实 API 调用（阿里云百炼 qwen-max）：七算法统一演示综合目标 45.04（第三）、开门恢复 38 min（次快）、过冷 0.81 °C 最小；候选经安全门接受后部署。30.4 s 为监督式基准口径。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耗时来自 outputs_tuning_benchmark（基准问题：31.5→24 °C、7600 W、延迟 6 min、8 个离线工况）；holdout 来自 v3 封存验收。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算法①｜Z-N 反应曲线法：怎么落地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人工经验公式 · 非自整定 · 激进经典基线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做阶跃试验：稳定工况给压缩机一个小阶跃，记录温度响应直到稳态（真机需等效 168 对象小时；PC 仿真约 200× 加速）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辨识 FOPDT：有界最小二乘同时拟合温降幅度 A、时间常数 τ、延迟 L，增益 K = A/Δu；不要用“末点当 t63”的老办法（旧版 12 h 截尾问题，已修正）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代入 Z-N 公式：Kp = 0.9τ/(K·L)，Ti = 3.33L，Ki = Kp/Ti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工程限幅（np.clip，不属 Z-N 原公式）→ 冻结写入控制器，投运后不再变化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落地要点：公式本身免费，贵的是安全辨识采数——真机上 168 h 的阶跃试验才是主要成本。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3_zn_fopdt辨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668" y="1426464"/>
            <a:ext cx="5495183" cy="279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图3｜168 h 阶跃响应（灰实线）与 FOPDT 拟合（橙虚线）：围护热容长尾是单时间常数近似的固有误差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输入/输出：FOPDT (K, τ, L) → 固定 Kp/Ti（v3 原值 2.97/0.178 被限幅为 1.5/0.08）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耗时：公式 0.163 s；辨识采数等效 168 对象小时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表现：80 场景 holdout 58.19（全场最差）；宽工况偏振荡，过冷 1.46–2.21 °C、指令方差最大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定位：激进基线；无自适应；ESP32 演示中该候选被验收门拒绝、回退 IMC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算法②｜IMC-λ（内模控制）：怎么落地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离线自动整定 · 稳健基线 · 全项目安全回退基准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复用同一次 FOPDT 辨识结果（与 Z-N 共享数据基础，不重做试验）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扫描 λ：只在训练工况上评估 21 个候选 λ（0.88 s），选训练集平均目标最小者 λ* = 26.9 min，随后冻结；验证/测试集不再回调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代入 IMC 公式：Kp = τ/[K(λ+L)]，Ti = min[τ, 4(λ+L)]，Ki = Kp/Ti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另保留保守公式值 λ = max(τ/3, 3L, 12 min) 作为故障回退增益——它是全项目所有 AI 方法的兜底基准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落地要点：这样整定能公平回答“IMC 是结构不合适，还是 λ 没选对”——答案是后者。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4_imc_lambda扫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39934"/>
            <a:ext cx="5623560" cy="2771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图4｜λ 扫描曲线：21 候选中 λ*=26.9 min（蓝圈）最优；保守回退值 303.7 min（橙叉）差近 6 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输入/输出：FOPDT + λ → 固定 Kp/Ti（Kp/Ti 仍受 IMC 公式约束）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耗时：PC 3.03 s（含 λ 扫描）/ 等效 1008 对象小时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表现：holdout 39.53；全部工况稳定；单组固定增益无法随工况自适应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关键发现：保守回退 λ=303.7 min 的目标值比 λ*=26.9 min 高近 6 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算法③｜贝叶斯 BO（固定增益）：怎么落地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离线自动整定 · GP + 期望改进 · 运行时零学习负担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定义搜索空间：log(Kp)、log(Ki) 两维——对数域处理 Ki 跨多个数量级的问题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定义目标 J：多指标加权综合（跟踪/舒适区/过冷/平稳性/能耗），不稳定或越界轨迹罚 1e6；每个候选都跑完整闭环仿真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迭代搜索：Matérn-5/2 高斯过程近似“增益 → J”，EI（期望改进）选下一个试验点；IMC/Z-N/随机点初始化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收敛：以多个训练工况的平均 J 为目标 → 输出一套全局固定 Kp/Ki → 写入控制器，运行时零学习负担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落地要点：全部搜索离线完成，部署后不再探索——最适合“只允许固定参数”的低成本 MCU。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5_bo搜索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41560"/>
            <a:ext cx="5623560" cy="27678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图5｜GP+EI 搜索轨迹：7 个初始化点（灰）后，EI 迭代（橙圈）把目标从 ~242 压到 33 附近并收敛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输入/输出：工况 + 目标函数 → 全局固定 Kp/Ki（v3 部署 Kp=0.5355、Ki=0.0063）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耗时：PC 1.42 s（10 次评估）/ 等效 528 对象小时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表现：holdout 39.72 ≈ IMC 39.53——单组固定增益已接近其上限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安全：纯离线搜索，部署后不探索，无运行时风险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算法④｜风险感知安全 BO（RaGoOSE 式）：怎么落地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离线自动整定 · 优化“均值 + 0.75σ” · 跨工况最稳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在 BO 框架上加重复噪声仿真：每个候选在每个场景重复 2 次，得到跨工况的均值与方差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风险目标：J_risk = 均值 J̄ + 0.75 × 标准差 σ_J——主动避开“平均好但波动大”的候选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安全机制内建于搜索：β=2 安全 GP 抑制危险试验点；安全条件：稳定、斜率无违规、无最低运行频率违规、最大冷偏差 ≤4 °C、调参风险分 ≤ IMC 基线 1.25 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输出固定 Kp/Ki（0.3838 / 0.004441）→ 部署方式同普通 BO；安全裕量逐候选记录（预测/实测）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落地要点：对“最差工况也不能失控”的精密空调，风险感知口径比均值口径更合适。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6_安全bo风险搜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41560"/>
            <a:ext cx="5623560" cy="27678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图6｜7 次候选评估：误差棒为跨工况标准差，风险目标（均值+0.75σ）引导搜索避开高方差候选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耗时：PC 1.41 s（7 次评估）；7 训练 + 4 留出场景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表现：风险目标 33.58 为该基准最优（IMC 36.29、普通 BO 37.96）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更稳：objective_std 20.93 vs 普通 BO 29.18；七算法演示综合目标 43.23 亦最优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注意：33.58 是高级整定基准口径，与 80 场景 holdout 不可混比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算法⑤｜LLM Agent（工具调用整定）：怎么落地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离线自动整定 · 只提建议 · 安全门与仿真器拥有最终决定权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定位：低频离线诊断与候选生成——LLM 不进控制回路，只提 Kp/Ki 建议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工具调用闭环：Agent 自主选择工具——查看历史 → 提交候选 Kp/Ki → 运行候选仿真 → 读取指标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确定性安全门：每条建议先限幅，再做“风险调整改进”判定；改进不足即拒绝（本次真实会话：首候选被拒，第二个被接受）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接受的最优安全候选冻结部署（真实调用：0.4057 / 0.002769）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落地要点：真实调用（百炼 qwen-max）已完成单批次验证；启发式 dry-run 只验证安全流水线，不能作为 LLM 效果证据。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7_llm工具调用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41560"/>
            <a:ext cx="5623560" cy="27678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图7｜真实调用轨迹：查看历史（基线 32.0）→ 候选①被拒 → 候选②（小幅减小 Kp/Ki）30.68 被安全门接受 → 主动终止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真实调用（qwen-max）：6 步、2 次候选试验，第二个候选风险目标 32.01→30.68（改善 4.1%）被接受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七算法演示：综合目标 45.04（第三）；开门恢复 38 min（次快）；过冷 0.81 °C 最小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实测耗时：监督式 3 轮 30.4 s（比经典方法高 1–2 个数量级）；另一次独立会话候选全被拒、回退 IMC——输出非确定但零失控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定位：低频离线诊断工具，不追求单点指标最优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算法⑥｜FNN 在线自整定（5×5 TSK 规则面）：怎么落地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在线自整定 · 每 2 s 查规则表 · 面向 MCU 的零阶模糊神经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造标签：对 48 个训练场景各做一轮完整 BO → 每工况最优 Kp/Ki（4464 样本；等效 4181 对象小时）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定输入：e = Tz−Tsp（中心点 [−3,−0.75,0,1.5,5] °C）× ė = Δe/Δt（中心点 [−0.30,−0.05,0,0.05,0.30] °C/min）——用变化率而非增量，PC 5 min 训练节拍与 MCU 秒级节拍物理含义一致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学规则面：按 (e, ė) 模糊格学 5×5 = 25 条零阶 TSK 规则后件 → fnn_rule_table.npy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过验收门：规则覆盖率 ≥80% 且平均目标不劣于 IMC 才部署；不过则自动写 IMC 回退表（候选另存 *_candidate.npy 供审计）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⑤ 在线：每 2 s 找相邻 2×2 = 4 条规则加权平均 → 公共限幅 + 变化率限制（推理 78 µs/次）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落地要点：把“什么状态下哪组旋钮更好”记进 25 格规则表，运行时只查表——不是大规模深度网络。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8_fnn训练收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75288"/>
            <a:ext cx="5623560" cy="2300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图8｜(a) log-RMSE 随训练工况数先降后升（标签冲突）；(b) 规则覆盖率 100%，远高于 80% 验收门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训练：PC 7.65 s；log-RMSE 1.41→1.059（多工况标签冲突致回升）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表现：holdout 39.26；相对 IMC 比值 0.9979（95% 上界 1.0067）PASSED；规则覆盖 100%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注意：ESP32 演示中该批次 FNN 候选被验收门拦截，影子模式 + IMC 回退（与 v3 封存验收不同批次）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算法⑦｜RL 在线自整定（表格式 Q 学习）：怎么落地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在线自整定 · 离线训练 + 在线查表 · holdout 全场最优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落地步骤（数据 → 整定/训练 → 部署）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5440680" cy="513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定义 MDP：状态 = bin(e,5) × bin(ė,5) × bin(上次实际容量,3) 共 75 个；动作 = 相对 IMC 的 Kp/Ki 绝对目标比例共 9 个；Q 表 5×5×3×9 = 675 项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定奖励：r = −|e| − 1.5·舒适带超限 − 0.08|Δu| − 0.02u − 0.08|增益变化| − 0.015|目标偏离 1|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离线训练：同一 3R2C 虚拟环境 750 回合（每回合 ≤240 min、5 min 决策、36,000 转移）；ε 0.25→0.03；验证集早停选表（31.95 &lt; IMC 基线 32.91）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过部署门：平均目标差于 IMC 2% 以上或 25 热状态覆盖 &lt;80% → 整表拒绝、回退 IMC；不安全动作在线屏蔽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⑤ 在线：分箱 → 屏蔽不安全动作 → argmax(Q) → ±10% 安全变化层；真机只查冻结表、零随机探索（88 µs/次）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落地要点：动作是“相对 IMC 的绝对目标比例”，修复旧版增益递归相乘的非马尔可夫问题——这是能安全上板的关键设计。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623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整定/训练过程（数据来自封存产物）</a:t>
            </a:r>
          </a:p>
        </p:txBody>
      </p:sp>
      <p:pic>
        <p:nvPicPr>
          <p:cNvPr id="10" name="Picture 9" descr="fig09_rl训练收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74695"/>
            <a:ext cx="5623560" cy="23016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24281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图9｜(a) 回合奖励波动但 ε 按计划 0.25→0.03 衰减；(b) 检查点验证目标下降，早停选中 31.95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90288"/>
            <a:ext cx="5870448" cy="2048256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700016"/>
            <a:ext cx="55321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关键事实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训练：PC 16.22 s / 等效 4018 对象小时；产物 rl_q_table.npy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表现：holdout 37.61 全场最优；比值 0.9595（上界 0.9743）PASSED；三标准工况全面领先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残留缺陷 C4：积分、限制器与负荷仍是安全上下文记录（部分闭环）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落地成本：PC 秒级 vs 真机数千对象小时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等效对象时间 = 若在真实压缩机上串行完成同样整定试验，设备需实际运行的时长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72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整定耗时双口径对比</a:t>
            </a:r>
          </a:p>
        </p:txBody>
      </p:sp>
      <p:pic>
        <p:nvPicPr>
          <p:cNvPr id="8" name="Picture 7" descr="fig10_整定耗时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78651"/>
            <a:ext cx="6720840" cy="2624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27648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图10｜(a) PC 墙钟时间（秒级）；(b) 等效虚拟对象时间（百到数千小时）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234440"/>
            <a:ext cx="44348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PC 口径（纯 CPU，无 GPU / 无深度学习框架）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Z-N 0.163 s｜IMC 3.03 s｜BO 1.42 s｜安全 BO 1.41 s｜FNN 7.65 s｜RL 16.22 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等效对象口径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Z-N 168 h｜IMC 1008 h｜BO 528 h｜FNN 4181 h｜RL 4018 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成本三构成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FOPDT 安全辨识采数 168 h/工况；每组候选评估约 5 h；FNN/RL 标签需每工况完整搜索 → 4000+ 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工程结论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这些试验在真机上受执行器安全约束根本不可行；PC 加速仿真（~200×）把全部试错压到秒级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真机只部署结果、不做试验——这是 FNN/RL 路线的核心工程价值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控制性能：80 场景封存验收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算法冻结后才开封的全新场景，只考一次取平均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72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80 场景 holdout 性能对比</a:t>
            </a:r>
          </a:p>
        </p:txBody>
      </p:sp>
      <p:pic>
        <p:nvPicPr>
          <p:cNvPr id="8" name="Picture 7" descr="fig11_控制性能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00430"/>
            <a:ext cx="6720840" cy="25806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27648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图11｜RL 37.61 &lt; FNN 39.26 ≈ IMC 39.53 ≈ BO 39.72 &lt; Z-N 58.19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234440"/>
            <a:ext cx="44348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80 场景封存验收（v3，最权威口径）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RL 37.61 &lt; FNN 39.26 ≈ IMC 39.53 ≈ BO 39.72 &lt; Z-N 58.19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部署验收门判定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RL：比值 0.9595，95% 上界 0.9743 → PASSED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FNN：比值 0.9979，95% 上界 1.0067 → PASSED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留出工况平均（五算法）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ITAE：RL 5.850 最优；最大过冷：RL 1.666 °C 最优；稳定率全部 100%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读数提醒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不能只按单一目标排名；精密空调应同时看稳定率、ITAE、扰动恢复、指令方差与启停次数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高级整定基准（不同口径）：安全 BO 33.58 同时取得最优均值与最小方差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三标准工况：算法差异都在进入舒适带之后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前 1 h 各算法均满容量降温；拉开差距的是带内稳定与扰动恢复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84275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6415"/>
                <a:gridCol w="1336415"/>
                <a:gridCol w="1435409"/>
                <a:gridCol w="1534402"/>
                <a:gridCol w="1336415"/>
                <a:gridCol w="1534402"/>
                <a:gridCol w="1336415"/>
                <a:gridCol w="153440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工况一 ITAE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工况一 调节(h)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工况一 过冷(°C)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工况二 ITAE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工况二 过冷(°C)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工况三 ITAE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工况三 过冷(°C)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Z-N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7.054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1.456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1.765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18.75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2.209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IMC-λ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3.887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2.517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0.684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6.846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1.177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15.63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1.202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贝叶斯 BO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3.666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1.297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FNN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3.626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2.517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0.759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6.936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1.214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15.29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1.335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RL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3.484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6.603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1.251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526280"/>
            <a:ext cx="11338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工况一＝初次快速降温 31.5→24 °C；工况二＝1 h 时设定值 25→23 °C；工况三＝外温 37±4.5 °C + 3 h 开门 12 min（+2600 W 热脉冲）。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RL 三工况全面领先或并列领先：工况一调节时间 1.733 h（其余 2.5–4 h）、过冷 0.229 °C（次优 0.68–1.46）；工况二过冷 0.849 °C 最小；工况三指令方差 0.132 最平稳。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Z-N 在全部工况振幅最大且不衰减（指令方差 0.18–0.20）——固定激进增益 + 大延迟对象的典型表现。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七算法统一演示（ESP32 温度闭环）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30→24 °C、min 189 开门扰动——安全门 + 回退机制生效的实例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903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七算法闭环曲线</a:t>
            </a:r>
          </a:p>
        </p:txBody>
      </p:sp>
      <p:pic>
        <p:nvPicPr>
          <p:cNvPr id="8" name="Picture 7" descr="fig27_七算法统一演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5033"/>
            <a:ext cx="6903720" cy="47914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2764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图27｜min 189 开门扰动（橙区）后 RL 与安全 BO 恢复最快；Z-N/FNN 曲线与 IMC 重合（实际部署 IMC 回退）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234440"/>
            <a:ext cx="425196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关键数字（seven_algorithm_summary.csv）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开门恢复：RL 24 min 最快、安全 BO 25 min 次之、LLM Agent 38 min 第三（真实调用）；Z-N/IMC/FNN 42 min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综合目标：安全 BO 43.23 最优；RL 44.41 次之；LLM Agent 45.04 第三（过冷 0.81 °C 全算法最小）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全部七算法首次进带均 34 min——满容量降温阶段无差异，差异都在进入舒适带之后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验收门拦截实例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该批次 Z-N 候选被可见验收门拒绝、FNN 候选进入影子模式，二者实际部署 IMC 回退——曲线完全重合即为证据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提示：与 v3 封存验收为不同批次运行，判定不一致问题见局限性页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PC 到 ESP32：策略怎么上板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冻结 → 导出 → 校验 → SIL，真机验收如实标注“未开始”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Chevron 6"/>
          <p:cNvSpPr/>
          <p:nvPr/>
        </p:nvSpPr>
        <p:spPr>
          <a:xfrm>
            <a:off x="411480" y="1325880"/>
            <a:ext cx="2212848" cy="96012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离线训练产物</a:t>
            </a:r>
          </a:p>
        </p:txBody>
      </p:sp>
      <p:sp>
        <p:nvSpPr>
          <p:cNvPr id="8" name="Chevron 7"/>
          <p:cNvSpPr/>
          <p:nvPr/>
        </p:nvSpPr>
        <p:spPr>
          <a:xfrm>
            <a:off x="2715768" y="1325880"/>
            <a:ext cx="2212848" cy="96012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策略冻结导出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 头文件</a:t>
            </a:r>
          </a:p>
        </p:txBody>
      </p:sp>
      <p:sp>
        <p:nvSpPr>
          <p:cNvPr id="9" name="Chevron 8"/>
          <p:cNvSpPr/>
          <p:nvPr/>
        </p:nvSpPr>
        <p:spPr>
          <a:xfrm>
            <a:off x="5020056" y="1325880"/>
            <a:ext cx="2212848" cy="96012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Py/C++ 校验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75 条向量</a:t>
            </a:r>
          </a:p>
        </p:txBody>
      </p:sp>
      <p:sp>
        <p:nvSpPr>
          <p:cNvPr id="10" name="Chevron 9"/>
          <p:cNvSpPr/>
          <p:nvPr/>
        </p:nvSpPr>
        <p:spPr>
          <a:xfrm>
            <a:off x="7324344" y="1325880"/>
            <a:ext cx="2212848" cy="960120"/>
          </a:xfrm>
          <a:prstGeom prst="chevron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ESP32 SIL 演示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七算法闭环</a:t>
            </a:r>
          </a:p>
        </p:txBody>
      </p:sp>
      <p:sp>
        <p:nvSpPr>
          <p:cNvPr id="11" name="Chevron 10"/>
          <p:cNvSpPr/>
          <p:nvPr/>
        </p:nvSpPr>
        <p:spPr>
          <a:xfrm>
            <a:off x="9628632" y="1325880"/>
            <a:ext cx="2212848" cy="960120"/>
          </a:xfrm>
          <a:prstGeom prst="chevron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真机验收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（未开始）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11338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训练产物冻结：规则表 / Q 表（.npy）或固定增益 → 导出 C++ 头文件 generated_policy.hpp，附 CRC v3 校验——板上策略与训练时逐位一致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一致性校验：75 条 Py/C++ 奇偶校验向量，最大误差 2.98×10⁻⁸（policy_parity_vectors.csv）——Python 策略与板级代码逐点一致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板级资源：ESP32 静态 RAM 22,036 B（6.7%）、Flash 296,169 B（22.6%），PlatformIO 编译通过；PC-SIL 回退 0/190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在线节拍：PI 100 ms / AI 2 s；PC 推理 78–88 µs/次仅为本机测量——不是板级 WCET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⑤ 待办（如实声明）：真机 10 min 串口验收、DWT/GPIO 脉冲实测 WCET、HIL 均未开始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怎么选算法：落地决策表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按“允许什么运行形态 + 追求什么”选路线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84280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828800"/>
                <a:gridCol w="6720840"/>
              </a:tblGrid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落地约束 / 目标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理由与注意</a:t>
                      </a:r>
                    </a:p>
                  </a:txBody>
                  <a:tcPr marL="45720" marR="45720" marT="13716" marB="13716" anchor="ctr">
                    <a:solidFill>
                      <a:srgbClr val="1F4E79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只允许固定参数、MCU 零负担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IMC-λ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一组增益写死，实现最简单、全工况稳定；同时兼任回退基准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固定参数但要搜索最优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贝叶斯 BO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 1.42 s 出全局增益；需闭环仿真与目标函数基建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最差工况也不能失控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风险感知安全 BO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风险目标 = 均值 + 0.75σ；均值与方差同时最优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允许在线计算、追求最优性能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RL Q 表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holdout 最优；在线仅查表 88 µs、零探索，带部署门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在线可算、要可解释/可审计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FNN 规则面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 条规则可人工检查；4 邻格加权查表，78 µs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快速起基线 / 无数据基建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Z-N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一次阶跃 + 公式即可；宽工况易振荡，仅作基线</a:t>
                      </a:r>
                    </a:p>
                  </a:txBody>
                  <a:tcPr marL="45720" marR="45720" marT="13716" marB="13716" anchor="ctr">
                    <a:solidFill>
                      <a:srgbClr val="F4F7F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有工具调用基建、低频诊断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Agent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真实调用已完成单批次验证（qwen-max）：候选经安全门接受、过冷最小；耗时比经典方法高 1–2 个数量级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897880"/>
            <a:ext cx="11338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通用兜底：无论选哪条路线，都保留 IMC 回退增益 + 增益限幅 + 部署验收门——AI 失效时系统退化为已验证闭环。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安全设计：三重机制兜底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限幅 → 回退 → 验收门，缺一不可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06240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① 限幅：把 AI 关进笼子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325526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增益界 Kp∈[0.002,1.5]、Ki∈[1e-5,0.08]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单次增益变化 ≤ 当前值 25%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执行器斜率/量化/驻留在物理层再挡一道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AI 2 s 节拍与 PI 100 ms 解耦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280160"/>
            <a:ext cx="3657600" cy="4206240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463040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回退：坏了怎么办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1965960"/>
            <a:ext cx="325526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输入/模型异常 → 立即恢复 IMC 增益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验收不过 → 候选自动写 IMC 回退表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真机上永远有可用闭环，不会“无控制器”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RL 回退率 0.19%，FNN 0%（v3 批次）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280160"/>
            <a:ext cx="3657600" cy="4206240"/>
          </a:xfrm>
          <a:prstGeom prst="roundRect">
            <a:avLst/>
          </a:prstGeom>
          <a:solidFill>
            <a:srgbClr val="EEF3F9"/>
          </a:solidFill>
          <a:ln w="9525">
            <a:solidFill>
              <a:srgbClr val="C5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463040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③ 验收门：上线前把关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65960"/>
            <a:ext cx="325526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80 个封存场景冻结后才开封、只考一次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均值比（算法/IMC）95% 上界 ≤ 阈值才部署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FNN/RL 均按此门判定 PASSED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不过门 = 不上线，无例外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760720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实证：七算法演示中 Z-N/FNN 候选被验收门拦截、回退 IMC；80 场景验收全部算法稳定率 100%、零失控。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局限性与后续工作（如实声明）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全部结论限于仿真与 SIL 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证据边界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真机验收未开始：10 min 串口曲线、实测 WCET、HIL——全部耗时为 PC/仿真口径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LLM Agent 真实调用仅单批次（2 次会话）：输出非确定性未做统计表征；耗时/费用为单次实测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批次差异：耗时基准中 RL 验收列 False、ESP32 演示中 FNN 被拒、v3 封存中均 PASSED——正式发布前需重新封存复跑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等效对象时间为估算口径：衡量“搬到真机需多久”的工程换算，非实测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方法学残留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RL 马尔可夫性残留缺陷 C4：积分、限制器与负荷仍是安全上下文记录（部分闭环）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FNN 标签冲突：多场景同状态异标签，log-RMSE 1.059–1.85 限制规则面拟合精度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能耗与指令方差为代理量：∫Qc·dt 未含 COP 与风机/泵功耗；湿度与结霜未建模（仅显热）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后续工作：SIL → HIL → 只读影子模式 → 有限增益试运行 → 单机试点 → 多季节回归；LLM 多批次真实调用统计；C4 补齐；封存产物批次一致性复跑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结论：三问三答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40080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AEC"/>
                </a:solidFill>
                <a:latin typeface="微软雅黑"/>
                <a:ea typeface="微软雅黑"/>
                <a:cs typeface="微软雅黑"/>
              </a:rPr>
              <a:t>对应实验目的的三个工程问题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问题① 参数从哪来？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161288"/>
            <a:ext cx="8275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Z-N：人工公式代入 FOPDT 辨识结果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IMC / BO / 安全 BO / LLM：投运前离线自动搜索（λ 扫描 / GP+EI / 风险 GP / 工具调用）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FNN / RL：离线训练策略 + 在线每 2 s 查表自整定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860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问题② 要多久？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51176"/>
            <a:ext cx="8275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PC 口径 0.16–16.22 s，全程纯 CPU、无 GPU / 深度学习框架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等效对象口径 168–4181 h——真机上不可行，AI 路线用离线仿真承担全部试错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6849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问题③ 效果如何？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941063"/>
            <a:ext cx="8275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RL 37.61 全场最优（PASSED）；FNN 39.26 通过验收门；IMC/BO 相当（39.53/39.72）；Z-N 58.19 最差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· 全部算法稳定率 100%、零失控；安全 BO 在其基准上均值与方差双优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11201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7B2C"/>
                </a:solidFill>
                <a:latin typeface="微软雅黑"/>
                <a:ea typeface="微软雅黑"/>
                <a:cs typeface="微软雅黑"/>
              </a:rPr>
              <a:t>AI 收益的本质：不在单点目标值的大幅领先（约 5%），而在免人工、免真机试错、跨工况自适应且带安全回退——以及把 4000+ 对象小时的整定成本压缩到 PC 秒级。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诚信声明：以上结论限于仿真与 SIL 层；真机验收未开始。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