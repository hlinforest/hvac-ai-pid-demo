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53d7d3dc5440bf" /><Relationship Type="http://schemas.openxmlformats.org/officeDocument/2006/relationships/extended-properties" Target="/docProps/app.xml" Id="R136195c2ccb144eb" /><Relationship Type="http://schemas.openxmlformats.org/officeDocument/2006/relationships/officeDocument" Target="/ppt/presentation.xml" Id="Rabe8f5bea02045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2174caf55a4833"/>
  </p:sldMasterIdLst>
  <p:notesMasterIdLst>
    <p:notesMasterId xmlns:r="http://schemas.openxmlformats.org/officeDocument/2006/relationships" r:id="Ref8fc6f2703a43f4"/>
  </p:notesMasterIdLst>
  <p:sldIdLst>
    <p:sldId xmlns:r="http://schemas.openxmlformats.org/officeDocument/2006/relationships" id="256" r:id="Rab50b24288594ef4"/>
    <p:sldId xmlns:r="http://schemas.openxmlformats.org/officeDocument/2006/relationships" id="257" r:id="R341b18fbd7674cbf"/>
    <p:sldId xmlns:r="http://schemas.openxmlformats.org/officeDocument/2006/relationships" id="258" r:id="R668683ceeda14be1"/>
    <p:sldId xmlns:r="http://schemas.openxmlformats.org/officeDocument/2006/relationships" id="259" r:id="Re4b12f39bdeb49db"/>
    <p:sldId xmlns:r="http://schemas.openxmlformats.org/officeDocument/2006/relationships" id="260" r:id="Rf3522f53d3664bc7"/>
    <p:sldId xmlns:r="http://schemas.openxmlformats.org/officeDocument/2006/relationships" id="261" r:id="Ra65c8acfc3764446"/>
    <p:sldId xmlns:r="http://schemas.openxmlformats.org/officeDocument/2006/relationships" id="262" r:id="R5324293de4b0467d"/>
    <p:sldId xmlns:r="http://schemas.openxmlformats.org/officeDocument/2006/relationships" id="263" r:id="R2fa0d56c412849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f3e010c3c7420f" /><Relationship Type="http://schemas.openxmlformats.org/officeDocument/2006/relationships/slideMaster" Target="/ppt/slideMasters/slideMaster1.xml" Id="Rfe2174caf55a4833" /><Relationship Type="http://schemas.openxmlformats.org/officeDocument/2006/relationships/notesMaster" Target="/ppt/notesMasters/notesMaster1.xml" Id="Ref8fc6f2703a43f4" /><Relationship Type="http://schemas.openxmlformats.org/officeDocument/2006/relationships/presProps" Target="/ppt/presProps.xml" Id="Raa8a1e057c6c490b" /><Relationship Type="http://schemas.openxmlformats.org/officeDocument/2006/relationships/tableStyles" Target="/ppt/tableStyles.xml" Id="R7493bd5c5c5e4a0b" /><Relationship Type="http://schemas.openxmlformats.org/officeDocument/2006/relationships/slide" Target="/ppt/slides/slide1.xml" Id="Rab50b24288594ef4" /><Relationship Type="http://schemas.openxmlformats.org/officeDocument/2006/relationships/slide" Target="/ppt/slides/slide2.xml" Id="R341b18fbd7674cbf" /><Relationship Type="http://schemas.openxmlformats.org/officeDocument/2006/relationships/slide" Target="/ppt/slides/slide3.xml" Id="R668683ceeda14be1" /><Relationship Type="http://schemas.openxmlformats.org/officeDocument/2006/relationships/slide" Target="/ppt/slides/slide4.xml" Id="Re4b12f39bdeb49db" /><Relationship Type="http://schemas.openxmlformats.org/officeDocument/2006/relationships/slide" Target="/ppt/slides/slide5.xml" Id="Rf3522f53d3664bc7" /><Relationship Type="http://schemas.openxmlformats.org/officeDocument/2006/relationships/slide" Target="/ppt/slides/slide6.xml" Id="Ra65c8acfc3764446" /><Relationship Type="http://schemas.openxmlformats.org/officeDocument/2006/relationships/slide" Target="/ppt/slides/slide7.xml" Id="R5324293de4b0467d" /><Relationship Type="http://schemas.openxmlformats.org/officeDocument/2006/relationships/slide" Target="/ppt/slides/slide8.xml" Id="R2fa0d56c412849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13600ab11140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52f10277764477" /><Relationship Type="http://schemas.openxmlformats.org/officeDocument/2006/relationships/notesMaster" Target="/ppt/notesMasters/notesMaster1.xml" Id="R6c567468d03a44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24a98349494de0" /><Relationship Type="http://schemas.openxmlformats.org/officeDocument/2006/relationships/notesMaster" Target="/ppt/notesMasters/notesMaster1.xml" Id="R1e95bc5e02854b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e660c341b94028" /><Relationship Type="http://schemas.openxmlformats.org/officeDocument/2006/relationships/notesMaster" Target="/ppt/notesMasters/notesMaster1.xml" Id="R67265eea05ba49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ee8a99d8d24079" /><Relationship Type="http://schemas.openxmlformats.org/officeDocument/2006/relationships/notesMaster" Target="/ppt/notesMasters/notesMaster1.xml" Id="Rf5e5dcb88e0e40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f7497692374d20" /><Relationship Type="http://schemas.openxmlformats.org/officeDocument/2006/relationships/notesMaster" Target="/ppt/notesMasters/notesMaster1.xml" Id="R0e33a05073aa45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0c43027f3846d3" /><Relationship Type="http://schemas.openxmlformats.org/officeDocument/2006/relationships/notesMaster" Target="/ppt/notesMasters/notesMaster1.xml" Id="Rd4b4450f9a2742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aafbd63863464d" /><Relationship Type="http://schemas.openxmlformats.org/officeDocument/2006/relationships/notesMaster" Target="/ppt/notesMasters/notesMaster1.xml" Id="R9e995bc7f6ef4c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b7ce128c4c43b6" /><Relationship Type="http://schemas.openxmlformats.org/officeDocument/2006/relationships/notesMaster" Target="/ppt/notesMasters/notesMaster1.xml" Id="Rdecbbee5f1b944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开场：这不是直接控制真实空调，而是先在可重复的虚拟机房里比较控制器。右图三条通道依次对应温度跟踪、压缩机容量、在线 PI 增益。数据源：outputs/dynamic_comparison.png。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不需要先记住 2R2C 或 FOPDT 名词。核心直觉是：房间与墙体储热、空调有迟滞，扰动一直存在；所以控制算法必须在速度、稳态误差和机械平稳性之间取平衡。数据源：本地 hvac_pid/plant.py、config.py。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Z-N 的 Kp、Ki 曲线平直不是漏画。它在每个工况开始前完成整定，运行中使用固定 PI。前两工况的公式结果被安全上限截住，因此参数相同；完整公式前后值见 01_zn_reaction_curve.html。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IMC 的固定增益也应画成水平线。它的参数明显小于 Z-N，因此输出平滑，但恢复速度可能更慢。完整三工况见 02_imc.html。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 Auto-tuning，不是 Self-tuning。训练结束后参数冻结。完整三工况与寻优代码见 03_bayesian_auto_tune.html。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FNN 不是免训练：先用离线优化标签构造规则表。运行阶段才根据 e、Δe 动态插值 Kp/Ki。完整三工况见 04_fnn_self_tuning.html。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RL 不是一下子得到结果：这是轻量表格 Q-learning，训练规模约 30,000 环境步，不是大型深度 RL。当前结果仅用于展示流程，不能据此宣称 RL 更优。完整三工况见 05_rl_self_tuning.html。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收束时不要只报排名。先说每种方法的设计目标和代价，再用三工况 ITAE、调节时间、过冷、PWM 方差等指标提供证据。五份 HTML 各含三组设置、图、指标和代码。下一步实机落地前仍需实测标定、Modelica 交叉验证与 HIL。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436cba356042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52a0aae64840fc" /><Relationship Type="http://schemas.openxmlformats.org/officeDocument/2006/relationships/slideLayout" Target="/ppt/slideLayouts/slideLayout1.xml" Id="R75a8c2906e1746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a8c2906e1746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9a9a322224047" /><Relationship Type="http://schemas.openxmlformats.org/officeDocument/2006/relationships/image" Target="/ppt/media/image.png" Id="R699fce041df04460" /><Relationship Type="http://schemas.openxmlformats.org/officeDocument/2006/relationships/notesSlide" Target="/ppt/notesSlides/notesSlide1.xml" Id="R857202074cd149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5406417014b59" /><Relationship Type="http://schemas.openxmlformats.org/officeDocument/2006/relationships/notesSlide" Target="/ppt/notesSlides/notesSlide2.xml" Id="Rf19311fcdd8447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281cc0ec1f4ab7" /><Relationship Type="http://schemas.openxmlformats.org/officeDocument/2006/relationships/image" Target="/ppt/media/image2.png" Id="Rd81ff6a6d0554408" /><Relationship Type="http://schemas.openxmlformats.org/officeDocument/2006/relationships/notesSlide" Target="/ppt/notesSlides/notesSlide3.xml" Id="Red594737af6c49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fcf56cf8d4fc8" /><Relationship Type="http://schemas.openxmlformats.org/officeDocument/2006/relationships/image" Target="/ppt/media/image3.png" Id="Rd62a4a965004460e" /><Relationship Type="http://schemas.openxmlformats.org/officeDocument/2006/relationships/notesSlide" Target="/ppt/notesSlides/notesSlide4.xml" Id="Raadf4a94852645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303c09daf4e5d" /><Relationship Type="http://schemas.openxmlformats.org/officeDocument/2006/relationships/image" Target="/ppt/media/image4.png" Id="R2f68469400c94a34" /><Relationship Type="http://schemas.openxmlformats.org/officeDocument/2006/relationships/notesSlide" Target="/ppt/notesSlides/notesSlide5.xml" Id="R9ca8233f76d043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c93c5b42f46eb" /><Relationship Type="http://schemas.openxmlformats.org/officeDocument/2006/relationships/image" Target="/ppt/media/image5.png" Id="Rd0070732379f46c3" /><Relationship Type="http://schemas.openxmlformats.org/officeDocument/2006/relationships/notesSlide" Target="/ppt/notesSlides/notesSlide6.xml" Id="Rdd356181959e4e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8639ae441489e" /><Relationship Type="http://schemas.openxmlformats.org/officeDocument/2006/relationships/image" Target="/ppt/media/image6.png" Id="R3ce25b735a244ccd" /><Relationship Type="http://schemas.openxmlformats.org/officeDocument/2006/relationships/notesSlide" Target="/ppt/notesSlides/notesSlide7.xml" Id="R419e9d34b2b847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a6ebddc954138" /><Relationship Type="http://schemas.openxmlformats.org/officeDocument/2006/relationships/notesSlide" Target="/ppt/notesSlides/notesSlide8.xml" Id="R78af98a560744a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99942-80C5-4A6E-B798-14838729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53340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变频精密/机柜空调</a:t>
            </a:r>
          </a:p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AI-PID 仿真与部署验证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5FD02-2336-4F53-A4FC-25A5CFA2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1219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5EC13-C731-4A7F-9909-89502128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51625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一个虚拟机房里，公平比较固定 PI、自动整定 PI 与在线自整定 PI 的温控表现。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53B56-393D-402E-9937-DD61B96E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43425"/>
            <a:ext cx="5000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当前提交：Python 2R2C/FOPDT 纯软件仿真</a:t>
            </a:r>
          </a:p>
          <a:p xmlns:a="http://schemas.openxmlformats.org/drawingml/2006/main">
            <a:pPr algn="l">
              <a:def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部署目标：PID 100 ms ｜AI 调参 2 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969EC-41F1-4C11-A4B0-666C8448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0050"/>
            <a:ext cx="5619750" cy="554355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9fce041df04460"/>
          <a:stretch xmlns:a="http://schemas.openxmlformats.org/drawingml/2006/main"/>
        </p:blipFill>
        <p:spPr>
          <a:xfrm xmlns:a="http://schemas.openxmlformats.org/drawingml/2006/main">
            <a:off x="6334125" y="789168"/>
            <a:ext cx="5295900" cy="4784364"/>
          </a:xfrm>
          <a:prstGeom xmlns:a="http://schemas.openxmlformats.org/drawingml/2006/main" prst="roundRect">
            <a:avLst>
              <a:gd name="adj" fmla="val 219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B90036-3003-4194-A8B6-3AD125C8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7E077A-67D1-4E2B-BB38-E32F403C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AI-PID 空调控温仿真｜提交展示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34937E-A2D4-41EE-B645-948F99DF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63050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E28FE4-AC13-4818-BFC7-87D3832E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先有直觉：这套仿真在解决什么？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C18E9-CC58-4CEF-B6B5-27E17C59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把机房想成一个反应迟缓的“冰箱”：热量不断进来，空调制冷又有延迟；控制器要快，但不能猛踩油门。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4B018-BCBB-4BD8-BE6F-30E17B01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429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321F8C-E8D9-47A7-B9DD-852E7261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56D02-736C-424A-8587-07128495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5010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256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01｜热量来源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9CA89-FB98-4B39-9A3C-F8EB9DD9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501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外面变热、设备持续发热、开门突然进热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E3BFD8-EE8B-4798-B659-733D66A6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501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2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这些因素都让室温上升；它们被统一写成可重复的温度/热负荷时间曲线。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0E9985-2E67-46B1-8DD3-72336C7C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85950"/>
            <a:ext cx="55435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D0849-6CA3-468E-A919-C5CF88E8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85C6BF-10EC-4F21-B8D1-74E05125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47900"/>
            <a:ext cx="51244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256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02｜空调不是瞬时响应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8E6ABB-1B10-401B-800E-E7D21352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14600"/>
            <a:ext cx="512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给出容量命令后，冷量会迟到并逐渐建立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1F61D0-33C7-4ED5-9C7C-DCB6458E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05150"/>
            <a:ext cx="512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压缩机容量用 0–100% 表示。模型故意保留滞后和惯性，避免把空调当成“按下就见效”。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D19BBC-BF67-471C-BF52-77941B2A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0025"/>
            <a:ext cx="5429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5054EC-5EE3-4C41-8BB1-71F26C57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99000-A7AE-467E-9314-5054430D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5010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256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03｜控制器做的事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3E3DC3-D406-44E9-9C0B-E43365C1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501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看当前误差 e 与误差变化 Δe，决定冷量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2FB973-5CA5-484F-A982-A21F2F40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501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4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PI 是共同的执行内环。Kp 决定反应有多“猛”，Ki 决定是否持续纠正长期偏差。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57FD5E-9186-4F38-BC17-593D5354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10025"/>
            <a:ext cx="55435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EA7CEF-6AC2-45C3-A783-2060B1D6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38625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E94FD2-7F7E-4006-8922-65ACA3D7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71975"/>
            <a:ext cx="51244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256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04｜最终目标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5481AB-0B0F-4BEA-A12D-584C6531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38675"/>
            <a:ext cx="512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温度尽快稳定，同时减少过冷与压缩机抖动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139A1E-7825-4B05-B4E7-8B83ECE8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29225"/>
            <a:ext cx="512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266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所以不仅比较误差，也比较调节时间、最大过冷、容量输出方差和相对能耗。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E5959B-4A9F-4C81-AC7D-7232D5CF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103491-D78D-42C1-8D1A-A18DFDC8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AI-PID 空调控温仿真｜提交展示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DA0DED-E952-47B6-8AEB-08C670CA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58893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8411D2-BF75-4406-A817-36668E3F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方法 1/5｜经典固定参数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B7829-57CD-426B-BC0B-32072CF4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Z-N 反应曲线法：快、简单，但偏激进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675CE-019E-44C6-97E2-20D91225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做一次虚拟阶跃试验，观察空调要等多久才见效、房间降温有多慢，再用经验公式计算 Kp、Ki。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DBEBBB-5B83-45BD-ABAE-256B2759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主要优势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549E37-370F-40FD-9995-A6CB4B19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C92BC7-A3EA-4920-90E7-4497DED4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不需要训练数据，公式和代码最简单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计算量小，适合作为经典基准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反应通常较快，容易看出控制上限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74D0D-2845-4535-97DE-4ED2D608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814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F8040-0D65-4000-9367-12BF9A08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759BA-51AE-45EF-8E98-DC506D87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57675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容易过冷、输出抖动或触发饱和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工况改变后需要重新辨识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经验公式不能保证综合指标最优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D21255-4B92-4800-913B-C872F5E2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4857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A05FA6-D4ED-4CE3-8E06-7192A52C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959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适合：设备特性稳定、实现简单和响应速度优先的基准方案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CC7946-D829-407A-B97C-C6170372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59817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1ff6a6d0554408"/>
          <a:stretch xmlns:a="http://schemas.openxmlformats.org/drawingml/2006/main"/>
        </p:blipFill>
        <p:spPr>
          <a:xfrm xmlns:a="http://schemas.openxmlformats.org/drawingml/2006/main">
            <a:off x="7038005" y="2133600"/>
            <a:ext cx="3526189" cy="3067050"/>
          </a:xfrm>
          <a:prstGeom xmlns:a="http://schemas.openxmlformats.org/drawingml/2006/main" prst="roundRect">
            <a:avLst>
              <a:gd name="adj" fmla="val 3727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1B17C5-D914-4648-B857-7C83A8AB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149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Kp、Ki 行为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C3037F-BB68-4D56-A75C-CD3EE8DC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67350"/>
            <a:ext cx="4600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运行内固定。前两工况原始值超过安全上限，实际均为 Kp=1.5、Ki=0.08；第三工况 Ki≈0.0569。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34FA9A-28A5-45E5-8C3C-3E070E6E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5EE92E-EC9A-4309-9617-2ED9D9FB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AI-PID 空调控温仿真｜提交展示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BA070F-3544-466C-B1DE-9E7FEC72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900460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E4C821-1DC5-4ECF-835C-B56760FE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方法 2/5｜经典固定参数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6D3C7-F472-4CE2-9FE2-50B53397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IMC PI：更稳、更平滑，但可能恢复较慢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13293-0783-4ABB-A241-E0DEE26C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根据房间反应速度和延迟，主动选择一个希望的闭环速度；宁愿慢一些，也要保留稳定余量。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DB901-2B54-4EAD-8B18-8E29DF2F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主要优势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4C60A8-BD15-4850-9727-A3A7A716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A01B13-9EE2-4DE9-9BD7-97C99989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参数含义清楚，可解释性强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输出通常平滑，对压缩机友好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对模型误差的容忍度通常优于激进整定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4CCC83-BE0B-4E65-B899-B8F051BA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814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EDE041-113F-4416-8F8E-98C28582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6ADA9-D6E5-476A-8747-1B602090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57675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过于保守时，降温与扰动恢复慢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仍需要辨识房间和空调的响应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闭环速度选取仍带有工程取舍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4367A8-561B-467E-96D7-9A0FB820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4857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A0FC81-E978-42DA-A9BB-FC07B731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959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适合：安全、平稳和设备寿命优先的基础控制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0E2171-D633-4FF4-8326-73FDD516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59817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2a4a965004460e"/>
          <a:stretch xmlns:a="http://schemas.openxmlformats.org/drawingml/2006/main"/>
        </p:blipFill>
        <p:spPr>
          <a:xfrm xmlns:a="http://schemas.openxmlformats.org/drawingml/2006/main">
            <a:off x="7025149" y="2133600"/>
            <a:ext cx="3551901" cy="3067050"/>
          </a:xfrm>
          <a:prstGeom xmlns:a="http://schemas.openxmlformats.org/drawingml/2006/main" prst="roundRect">
            <a:avLst>
              <a:gd name="adj" fmla="val 3727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3B7946-DD5C-4F9A-B1DF-65CADFC7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149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Kp、Ki 行为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7EF3E5-D4A3-487B-AEAA-FE80F1F3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67350"/>
            <a:ext cx="4600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每个工况重新计算一次、运行内固定；三工况 Kp≈0.043–0.047，Ki≈4.78×10⁻⁵–5.16×10⁻⁵。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CB2C5C-B258-459C-944E-298B84E4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561330-4F71-4D2B-80C3-3B7840A4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AI-PID 空调控温仿真｜提交展示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306AFF-052C-4E27-9001-BC5CE27B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93332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6E0611-3E04-4C9E-A7B8-5475D5A0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方法 3/5｜AI 自动整定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99FFE4-4DF2-4B93-96ED-9E463ABA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贝叶斯自动整定：离线找一套全局固定 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CE985-17DA-4765-972B-6C6E478A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在代表性虚拟工况中反复试 Kp、Ki，用较少试验找到误差、过冷、波动和能耗之间较平衡的一组参数。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0243B-CCC7-47F8-98FE-8234CC5D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主要优势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6E962-6113-4019-9E37-93DEAFB8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2EA21F-E0D6-41AE-8773-FF10B7E0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减少人工试参，可同时优化多个指标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上线后仍是普通固定 PI，部署简单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工况范围明确时，结果稳定且易复现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316D7-4D0F-4E57-8B60-13E932AC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814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11EA6-F08A-461D-9CAA-3D8C82E1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8D466D-FF4C-4739-8E80-9884989B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57675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好坏取决于训练工况是否有代表性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目标函数权重会改变最终取舍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运行中遇到新工况不会主动改参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D35673-A014-419C-BCCD-CC2716F2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4857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55B281-CC72-407A-A807-68E9ED24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959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适合：工况范围有限、希望自动寻优但上线保持简单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FFA869-C40D-4E79-B27D-9F7A8C78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59817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8469400c94a34"/>
          <a:stretch xmlns:a="http://schemas.openxmlformats.org/drawingml/2006/main"/>
        </p:blipFill>
        <p:spPr>
          <a:xfrm xmlns:a="http://schemas.openxmlformats.org/drawingml/2006/main">
            <a:off x="7025149" y="2133600"/>
            <a:ext cx="3551901" cy="3067050"/>
          </a:xfrm>
          <a:prstGeom xmlns:a="http://schemas.openxmlformats.org/drawingml/2006/main" prst="roundRect">
            <a:avLst>
              <a:gd name="adj" fmla="val 3727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F2D66F-7AC3-4DB6-9FBE-3AAE4404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149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Kp、Ki 行为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EB2701-8072-4031-A9C9-10F3D700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67350"/>
            <a:ext cx="4600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三工况共用同一套 Kp=0.60926、Ki=0.0017541；运行内均为水平线。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41FCF8-345E-4C74-AB2C-B8A2E9F2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319BF6-5382-4C4A-A04A-9B5396AB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AI-PID 空调控温仿真｜提交展示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5193FF-ECF5-4C90-9EC5-573466A6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049602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FCB862-D204-454A-8C4C-8D9028D3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方法 4/5｜AI 在线自整定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F1707-5CF6-4663-AF8F-33E821D0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FNN 在线自整定：轻量规则表动态修改 Kp、Ki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51BF1-F603-4095-B451-B127F2C0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先把离线优化得到的好参数压缩成 5×5 规则表；运行时根据误差与误差变化，只插值附近 4 条规则。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382C5-F34E-4D47-B4B7-FB2F410B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主要优势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AE4F9-79EC-4C60-A8A2-12818AB2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147BF8-D2B2-477E-9772-70E3D056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能随工况在线调整 Kp、Ki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每次只算 4 条规则，适合低成本 MCU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参数变化连续，比离散动作更平滑、可解释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CFFDA-AE35-41CD-882C-1A48062F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814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7DF11-CA8F-4940-A059-22E32CED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DFBF4-7EDF-4357-AF1C-40122698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57675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需要离线标签或专家规则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未覆盖区域依赖边界与回退设计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仍需检查频繁改参是否增加输出波动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787F9-6A16-4C00-90D2-AD46779C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4857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846A1C-D86E-40A0-A089-B8FDD44A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959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适合：需要在线适应、同时要求计算轻量的 MCU 方案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D8B1AB-F5DD-48F9-9E10-C1813EAB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59817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070732379f46c3"/>
          <a:stretch xmlns:a="http://schemas.openxmlformats.org/drawingml/2006/main"/>
        </p:blipFill>
        <p:spPr>
          <a:xfrm xmlns:a="http://schemas.openxmlformats.org/drawingml/2006/main">
            <a:off x="7019640" y="2133600"/>
            <a:ext cx="3562920" cy="3067050"/>
          </a:xfrm>
          <a:prstGeom xmlns:a="http://schemas.openxmlformats.org/drawingml/2006/main" prst="roundRect">
            <a:avLst>
              <a:gd name="adj" fmla="val 3727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6DF75F-A2B4-48C7-928A-2DD9DA1F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149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Kp、Ki 行为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9CFD6E-F718-43BA-A910-BD5F573C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67350"/>
            <a:ext cx="4600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运行时动态变化。三工况 Kp 约 0.054–0.636，Ki 约 5.98×10⁻⁵–0.00845，并受限幅与变化率保护。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A1124F-5453-456E-9E50-D6E46459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A6D669-76F6-4B3D-A43C-54729892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AI-PID 空调控温仿真｜提交展示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4132EF-FFA5-4525-8E6B-8EEBF868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081610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FEB7DE-3AF9-4556-90E0-2A3B5642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方法 5/5｜AI 在线自整定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17D81-DC41-4A28-A536-96E2D62B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RL 在线自整定：能学综合目标，但训练与验证成本最高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3477A-6166-4D70-89BB-87F75036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在虚拟空调中反复尝试小幅增减 Kp、Ki，学习每种误差状态下哪一种动作能降低长期综合代价。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D7DCE-4A61-4DA3-B7E4-B48C24FB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主要优势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237D4-FF05-49E5-81EC-402DF69E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17AE7-979A-488A-8EFD-BB0CE221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可直接围绕多指标综合目标学习动作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上线只查小型 Q 表，推理很轻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可加入动作屏蔽、限幅和 IMC 回退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A3E56-2656-4F03-8349-9985B2A9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814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F8BFC-A03C-4EDA-86B1-E2E4BFB9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E702A-284F-492E-9A05-555906F9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57675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训练步数与场景覆盖要求最高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当前小样本策略并不优于所有固定 PI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泛化和解释性弱，必须做更多极端工况验证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8A1649-C2A3-4EAB-BE43-FC59D45D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4857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E3079A-2818-4619-B34D-9F07CCEF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959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3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适合：已有可靠仿真器、可投入大量训练和安全验证的研究方案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8FFA0-1E0B-417D-8EFF-2B53A532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59817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e25b735a244ccd"/>
          <a:stretch xmlns:a="http://schemas.openxmlformats.org/drawingml/2006/main"/>
        </p:blipFill>
        <p:spPr>
          <a:xfrm xmlns:a="http://schemas.openxmlformats.org/drawingml/2006/main">
            <a:off x="7030659" y="2133600"/>
            <a:ext cx="3540882" cy="3067050"/>
          </a:xfrm>
          <a:prstGeom xmlns:a="http://schemas.openxmlformats.org/drawingml/2006/main" prst="roundRect">
            <a:avLst>
              <a:gd name="adj" fmla="val 3727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FD1B73-D2B4-400B-88AF-9452710A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149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Kp、Ki 行为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9F626E-4D95-40BB-9620-E56048F8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67350"/>
            <a:ext cx="4600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离线约 500 回合×60 步训练；上线不随机探索。运行时按 Q 表小幅改参，三工况都出现动态变化。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AC7927-BD4B-47BF-A97B-5501CB81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0AE0AB-4B3B-44E2-AB31-5B39D1A4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AI-PID 空调控温仿真｜提交展示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9E43F7-2D13-4642-80B8-9F0299C8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178380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349186-6911-422B-BB3E-D680D949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每种方法都要过三道独立试题，再讨论优劣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8C1B4-9BA8-4263-BD2D-A9B75D89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01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单算法 HTML 文档已分别展开三种工况；不能只拿一条混合曲线代表全部性能。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E6020-F164-4740-A64C-7C07575E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BBE81-CC6F-405D-8FB2-BE43DC4B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527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C217C-512D-4AD4-B5CF-109FD478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初次快速降温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060B8-5608-4001-A2C7-B8922425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高初温 → 正常设定值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2FB75-1621-4A23-A8DF-7FEC85D1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观察启动速度、过冷和压缩机猛冲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279955-6AA6-4638-A3D0-60CE849A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52625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667035-9E04-45ED-ABA4-50684990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527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2D92FC-F54F-421A-9A80-87D46883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24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设定温度突变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B46DD-E88F-41BC-BC0A-8335B52B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766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运行中改变目标温度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EB584-0D64-4902-8B4E-B1F752B9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052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观察跟随速度、稳定性和增益反应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EA66DB-4099-4DC8-9F1D-FA3A635D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52625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CB495E-1535-475A-8ADE-41B2DD6C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527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412C1B-36DE-4907-BB24-3FF96746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24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持续外界热扰动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EDFBB5-3F8B-4620-8DBC-30F0549F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766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高室外温度 + 持续设备发热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7358AD-41AF-4AEE-88E1-447833C1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052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观察长期抗扰、稳态误差和波动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CFC3D9-0D7A-4AB3-9F95-F1745072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13919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B6B2A5-C242-4BFD-B9CF-2C91CDE5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816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怎么选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D2DC00-25AA-4BBF-A2EE-4FB6EE32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43500"/>
            <a:ext cx="9791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简单快速基准 → Z-N  ｜  平稳安全优先 → IMC  ｜  离线自动寻优且部署简单 → 贝叶斯 PI  ｜  轻量在线适应 → FNN  ｜  研究型强化学习 → RL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7059CA-E731-4D48-BA97-6A0DF3E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3A8123-724E-4ADC-8B03-FF6E8DCC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AI-PID 空调控温仿真｜三工况与方法选择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DC4323-1840-4B87-B665-3FA017DA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341966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2026-08-23T04:08:38.7660000Z</dcterms:created>
  <dcterms:modified xsi:type="dcterms:W3CDTF">2026-08-23T04:08:38.7660000Z</dcterms:modified>
</coreProperties>
</file>